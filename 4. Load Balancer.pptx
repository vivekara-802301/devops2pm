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1" r:id="rId5"/>
    <p:sldId id="259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ACC8C-6A4C-4C2D-B65C-72C5F48FA3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55F2676-C507-439E-9B37-5A281D4BE3B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5649" y="228601"/>
            <a:ext cx="8915399" cy="539496"/>
          </a:xfrm>
        </p:spPr>
        <p:txBody>
          <a:bodyPr>
            <a:normAutofit fontScale="90000"/>
          </a:bodyPr>
          <a:lstStyle/>
          <a:p>
            <a:r>
              <a:rPr lang="en-IN" sz="3200" b="1" u="sng" dirty="0"/>
              <a:t>Load Balancer</a:t>
            </a:r>
            <a:endParaRPr lang="en-IN" sz="3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5649" y="1408177"/>
            <a:ext cx="9748964" cy="4980118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IN" b="1" dirty="0"/>
              <a:t>It basically distributes incoming traffic across multiple target in one or more AZ.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It increase High Availability &amp; Fault Tolerance of applications.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LB is in front end (internet facing) &amp; EC2 instances are in backend.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We can add or remove compute resources from LB as needs change.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By default, ELB distribute traffic evenly across defined AZ without considering number of instances available in each AZ.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Enable Cross Zone Load Balancing if you want to distribute traffic evenly across    registered EC2 instances within AZ.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ELB name must be unique within an account.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ELB is region specific, so all registered EC2 instances must be in same region but may be in different AZ within that region.</a:t>
            </a:r>
            <a:endParaRPr lang="en-IN" b="1" dirty="0"/>
          </a:p>
          <a:p>
            <a:pPr marL="285750" indent="-285750">
              <a:buFontTx/>
              <a:buChar char="-"/>
            </a:pP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9344" y="265176"/>
            <a:ext cx="9895268" cy="6318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Important terms need to understand :</a:t>
            </a:r>
            <a:endParaRPr lang="en-IN" sz="2000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	I) Listener – It is virtual that checks for connection request.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	   - It is configured with a protocol &amp; port number for connections from 				            clients to LB (Frontend) as well LB to targets (Backend).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	II) Target Group – It is group of EC2 instances where LB distribute traffic.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			- Need to register with LB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	III) Target – An individual EC2 instance within target group.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	- It is based one of the below three :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		&gt; IP			&gt; Lambda		&gt; Instance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When target is IP based, use only these following CIDR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- 10.0.0.0/8		- 100.64.0.0/10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- 172.16.0.0/12	- 192.168.0.0/16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* You can not specify Public IP Address as target IP.</a:t>
            </a:r>
            <a:endParaRPr lang="en-IN" b="1" dirty="0"/>
          </a:p>
          <a:p>
            <a:pPr marL="285750" indent="-285750">
              <a:buFontTx/>
              <a:buChar char="-"/>
            </a:pPr>
            <a:endParaRPr lang="en-IN" b="1" dirty="0"/>
          </a:p>
          <a:p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82880"/>
            <a:ext cx="9794684" cy="6313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</a:rPr>
              <a:t>There are three types of load balancer :-</a:t>
            </a:r>
            <a:endParaRPr lang="en-IN" sz="2000" b="1" dirty="0">
              <a:solidFill>
                <a:srgbClr val="00B050"/>
              </a:solidFill>
            </a:endParaRP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1. Application Load Balancer : 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Work on 7</a:t>
            </a:r>
            <a:r>
              <a:rPr lang="en-IN" b="1" baseline="30000" dirty="0"/>
              <a:t>th</a:t>
            </a:r>
            <a:r>
              <a:rPr lang="en-IN" b="1" dirty="0"/>
              <a:t> layer of OSI model.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Support HTTP &amp; HTTPS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2. Network Load Balancer :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Work on 4</a:t>
            </a:r>
            <a:r>
              <a:rPr lang="en-IN" b="1" baseline="30000" dirty="0"/>
              <a:t>th</a:t>
            </a:r>
            <a:r>
              <a:rPr lang="en-IN" b="1" dirty="0"/>
              <a:t> layer of OSI model.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Support TCP, UDP &amp; TLS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3. Classic Load Balancer :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Work on both 4</a:t>
            </a:r>
            <a:r>
              <a:rPr lang="en-IN" b="1" baseline="30000" dirty="0"/>
              <a:t>th</a:t>
            </a:r>
            <a:r>
              <a:rPr lang="en-IN" b="1" dirty="0"/>
              <a:t> &amp; 7</a:t>
            </a:r>
            <a:r>
              <a:rPr lang="en-IN" b="1" baseline="30000" dirty="0"/>
              <a:t>th</a:t>
            </a:r>
            <a:r>
              <a:rPr lang="en-IN" b="1" dirty="0"/>
              <a:t> layer of OSI model.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Support HTTP, HTTPS, TCP,UDP,TLS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Not in use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685" y="361315"/>
            <a:ext cx="5418455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653" y="173736"/>
            <a:ext cx="8911687" cy="1618488"/>
          </a:xfrm>
        </p:spPr>
        <p:txBody>
          <a:bodyPr>
            <a:normAutofit/>
          </a:bodyPr>
          <a:lstStyle/>
          <a:p>
            <a:r>
              <a:rPr lang="en-IN" sz="2000" b="1" dirty="0"/>
              <a:t>   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0784" y="365760"/>
            <a:ext cx="9803828" cy="631850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sz="1800" b="1" dirty="0"/>
              <a:t>We can configure health check to monitor the health of compute resources, so that LB send requests only to the healthy ones.</a:t>
            </a:r>
            <a:endParaRPr lang="en-IN" b="1" dirty="0"/>
          </a:p>
          <a:p>
            <a:pPr>
              <a:buFontTx/>
              <a:buChar char="-"/>
            </a:pPr>
            <a:r>
              <a:rPr lang="en-IN" sz="1800" b="1" dirty="0"/>
              <a:t>Health check ensure that request traffic is shifted away from a failed instance.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Default Interval Time = 30 sec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	Range    = 5 sec to 300 sec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Response Time-out =  5 sec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Unhealthy Threshold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An instance is declared unhealthy, if two consecutive health is failed.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 Default = 2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 Range  = 2 – 10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Healthy Threshold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Number of successful health check before declaring healthy.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 Default = 10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 Range  = 2 - 10</a:t>
            </a:r>
            <a:endParaRPr lang="en-IN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0370"/>
          </a:xfrm>
        </p:spPr>
        <p:txBody>
          <a:bodyPr>
            <a:normAutofit/>
          </a:bodyPr>
          <a:lstStyle/>
          <a:p>
            <a:r>
              <a:rPr lang="en-IN" sz="2800" b="1" dirty="0"/>
              <a:t>Lab1 : Application Load Balancer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655064"/>
            <a:ext cx="6848856" cy="5001768"/>
          </a:xfrm>
        </p:spPr>
        <p:txBody>
          <a:bodyPr>
            <a:normAutofit/>
          </a:bodyPr>
          <a:lstStyle/>
          <a:p>
            <a:r>
              <a:rPr lang="en-IN" b="1" dirty="0"/>
              <a:t>Create two EC2 instance in different zone but within same VPC.</a:t>
            </a:r>
            <a:endParaRPr lang="en-IN" b="1" dirty="0"/>
          </a:p>
          <a:p>
            <a:r>
              <a:rPr lang="en-IN" b="1" dirty="0"/>
              <a:t>Install Web Server on both EC2.</a:t>
            </a:r>
            <a:endParaRPr lang="en-IN" b="1" dirty="0"/>
          </a:p>
          <a:p>
            <a:r>
              <a:rPr lang="en-IN" b="1" dirty="0"/>
              <a:t>Create Application Load Balancer</a:t>
            </a:r>
            <a:endParaRPr lang="en-IN" b="1" dirty="0"/>
          </a:p>
          <a:p>
            <a:r>
              <a:rPr lang="en-IN" b="1" dirty="0"/>
              <a:t>Copy ALB DNS name &amp; open in browser.</a:t>
            </a:r>
            <a:endParaRPr lang="en-IN" b="1" dirty="0"/>
          </a:p>
          <a:p>
            <a:r>
              <a:rPr lang="en-IN" b="1" dirty="0"/>
              <a:t>Refresh, shuffle between server1 &amp; server2.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Delete LB.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	-  But TG &amp; EC2 is not deleted, so delete one by one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36" y="1971675"/>
            <a:ext cx="5160264" cy="35513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499" y="2275903"/>
            <a:ext cx="2129981" cy="2108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37762"/>
          </a:xfrm>
        </p:spPr>
        <p:txBody>
          <a:bodyPr>
            <a:normAutofit/>
          </a:bodyPr>
          <a:lstStyle/>
          <a:p>
            <a:r>
              <a:rPr lang="en-IN" sz="2800" b="1" dirty="0"/>
              <a:t>Lab2 : Network Load Balancer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672" y="2133600"/>
            <a:ext cx="10699940" cy="3777622"/>
          </a:xfrm>
        </p:spPr>
        <p:txBody>
          <a:bodyPr/>
          <a:lstStyle/>
          <a:p>
            <a:r>
              <a:rPr lang="en-IN" b="1" dirty="0"/>
              <a:t>Create two EC2 in two different AZ.</a:t>
            </a:r>
            <a:endParaRPr lang="en-IN" b="1" dirty="0"/>
          </a:p>
          <a:p>
            <a:r>
              <a:rPr lang="en-IN" b="1" dirty="0"/>
              <a:t>Install IIS on each EC2.</a:t>
            </a:r>
            <a:endParaRPr lang="en-IN" b="1" dirty="0"/>
          </a:p>
          <a:p>
            <a:r>
              <a:rPr lang="en-IN" b="1" dirty="0"/>
              <a:t>Create NLB.</a:t>
            </a:r>
            <a:endParaRPr lang="en-IN" b="1" dirty="0"/>
          </a:p>
          <a:p>
            <a:r>
              <a:rPr lang="en-IN" b="1" dirty="0"/>
              <a:t>Create target group </a:t>
            </a:r>
            <a:endParaRPr lang="en-IN" b="1" dirty="0"/>
          </a:p>
          <a:p>
            <a:r>
              <a:rPr lang="en-IN" b="1" dirty="0"/>
              <a:t>Copy DNS name of NLB from description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and open in browser. </a:t>
            </a:r>
            <a:endParaRPr lang="en-IN" b="1" dirty="0"/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0569" y="1261872"/>
            <a:ext cx="5276087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2705</Words>
  <Application>WPS Presentation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Wingdings 3</vt:lpstr>
      <vt:lpstr>Symbol</vt:lpstr>
      <vt:lpstr>Arial</vt:lpstr>
      <vt:lpstr>Century Gothic</vt:lpstr>
      <vt:lpstr>Microsoft YaHei</vt:lpstr>
      <vt:lpstr>Arial Unicode MS</vt:lpstr>
      <vt:lpstr>Calibri</vt:lpstr>
      <vt:lpstr>Wisp</vt:lpstr>
      <vt:lpstr>Load Balancer</vt:lpstr>
      <vt:lpstr>  </vt:lpstr>
      <vt:lpstr>  </vt:lpstr>
      <vt:lpstr>   </vt:lpstr>
      <vt:lpstr>Lab1 : Application Load Balancer</vt:lpstr>
      <vt:lpstr>Lab2 : Network Load Balancer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Pawan Kumar</dc:creator>
  <cp:lastModifiedBy>Nagesh Singh</cp:lastModifiedBy>
  <cp:revision>37</cp:revision>
  <dcterms:created xsi:type="dcterms:W3CDTF">2020-02-24T10:08:00Z</dcterms:created>
  <dcterms:modified xsi:type="dcterms:W3CDTF">2026-05-16T06:04:00Z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81092136F9CD4BF9813923E9CB551A55_12</vt:lpwstr>
  </property>
  <property fmtid="{D5CDD505-2E9C-101B-9397-08002B2CF9AE}" pid="3" name="KSOProductBuildVer">
    <vt:lpwstr>2057-12.2.0.23202</vt:lpwstr>
  </property>
</Properties>
</file>