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78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77" r:id="rId10"/>
    <p:sldId id="262" r:id="rId11"/>
    <p:sldId id="275" r:id="rId12"/>
    <p:sldId id="276" r:id="rId13"/>
    <p:sldId id="268" r:id="rId14"/>
    <p:sldId id="273" r:id="rId15"/>
    <p:sldId id="274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5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0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9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9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2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1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26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78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3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87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1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FBD5F-160C-47C9-8006-15AF3B7872D2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F47BE-71B7-49AE-83D5-4CCE4EF27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67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246888"/>
            <a:ext cx="11686032" cy="6355079"/>
          </a:xfrm>
          <a:ln w="28575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rgbClr val="FF0000"/>
                </a:solidFill>
              </a:rPr>
              <a:t>Introduction to </a:t>
            </a:r>
            <a:r>
              <a:rPr lang="en-GB" b="1" u="sng" dirty="0" smtClean="0">
                <a:solidFill>
                  <a:srgbClr val="FF0000"/>
                </a:solidFill>
              </a:rPr>
              <a:t>Network</a:t>
            </a:r>
          </a:p>
          <a:p>
            <a:pPr marL="0" indent="0">
              <a:buNone/>
            </a:pPr>
            <a:r>
              <a:rPr lang="en-GB" sz="3200" b="1" u="sng" dirty="0"/>
              <a:t/>
            </a:r>
            <a:br>
              <a:rPr lang="en-GB" sz="3200" b="1" u="sng" dirty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sz="2400" b="1" dirty="0">
                <a:solidFill>
                  <a:srgbClr val="C00000"/>
                </a:solidFill>
              </a:rPr>
              <a:t>What is a Network ? </a:t>
            </a:r>
            <a:r>
              <a:rPr lang="en-GB" b="1" dirty="0"/>
              <a:t/>
            </a:r>
            <a:br>
              <a:rPr lang="en-GB" b="1" dirty="0"/>
            </a:br>
            <a:r>
              <a:rPr lang="en-GB" sz="2200" b="1" dirty="0">
                <a:solidFill>
                  <a:srgbClr val="002060"/>
                </a:solidFill>
              </a:rPr>
              <a:t/>
            </a:r>
            <a:br>
              <a:rPr lang="en-GB" sz="2200" b="1" dirty="0">
                <a:solidFill>
                  <a:srgbClr val="002060"/>
                </a:solidFill>
              </a:rPr>
            </a:br>
            <a:r>
              <a:rPr lang="en-GB" sz="2200" b="1" dirty="0">
                <a:solidFill>
                  <a:srgbClr val="002060"/>
                </a:solidFill>
              </a:rPr>
              <a:t>Network is a collection of devices connected to each other via media for the purpose of sharing resources. Example: Documents, Internet etc.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sz="2000" b="1" dirty="0" smtClean="0">
                <a:solidFill>
                  <a:srgbClr val="C00000"/>
                </a:solidFill>
              </a:rPr>
              <a:t>Advantages </a:t>
            </a:r>
            <a:r>
              <a:rPr lang="en-GB" sz="2000" b="1" dirty="0">
                <a:solidFill>
                  <a:srgbClr val="C00000"/>
                </a:solidFill>
              </a:rPr>
              <a:t>of network</a:t>
            </a:r>
            <a:r>
              <a:rPr lang="en-GB" sz="2000" b="1" dirty="0"/>
              <a:t/>
            </a:r>
            <a:br>
              <a:rPr lang="en-GB" sz="2000" b="1" dirty="0"/>
            </a:br>
            <a:r>
              <a:rPr lang="en-GB" sz="2000" b="1" dirty="0">
                <a:solidFill>
                  <a:srgbClr val="0070C0"/>
                </a:solidFill>
              </a:rPr>
              <a:t>- Communication is faster and easier.</a:t>
            </a:r>
            <a:br>
              <a:rPr lang="en-GB" sz="2000" b="1" dirty="0">
                <a:solidFill>
                  <a:srgbClr val="0070C0"/>
                </a:solidFill>
              </a:rPr>
            </a:br>
            <a:r>
              <a:rPr lang="en-GB" sz="2000" b="1" dirty="0">
                <a:solidFill>
                  <a:srgbClr val="0070C0"/>
                </a:solidFill>
              </a:rPr>
              <a:t>- Cost effective</a:t>
            </a:r>
            <a:r>
              <a:rPr lang="en-GB" sz="2000" b="1" dirty="0" smtClean="0">
                <a:solidFill>
                  <a:srgbClr val="0070C0"/>
                </a:solidFill>
              </a:rPr>
              <a:t>.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>
                <a:solidFill>
                  <a:srgbClr val="C00000"/>
                </a:solidFill>
              </a:rPr>
              <a:t/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sz="2400" b="1" dirty="0" smtClean="0">
                <a:solidFill>
                  <a:srgbClr val="C00000"/>
                </a:solidFill>
              </a:rPr>
              <a:t>What is networking</a:t>
            </a:r>
          </a:p>
          <a:p>
            <a:pPr marL="0" indent="0">
              <a:buNone/>
            </a:pPr>
            <a:r>
              <a:rPr lang="en-GB" sz="2000" b="1" dirty="0" smtClean="0">
                <a:solidFill>
                  <a:srgbClr val="002060"/>
                </a:solidFill>
              </a:rPr>
              <a:t>It is process of establishing a successful communication over an existing network.</a:t>
            </a:r>
          </a:p>
          <a:p>
            <a:pPr marL="0" indent="0">
              <a:buNone/>
            </a:pPr>
            <a:endParaRPr lang="en-GB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GB" sz="2400" b="1" dirty="0" smtClean="0">
                <a:solidFill>
                  <a:srgbClr val="C00000"/>
                </a:solidFill>
              </a:rPr>
              <a:t>What is protocol</a:t>
            </a:r>
          </a:p>
          <a:p>
            <a:pPr marL="0" indent="0">
              <a:buNone/>
            </a:pPr>
            <a:r>
              <a:rPr lang="en-GB" sz="2000" b="1" dirty="0" smtClean="0">
                <a:solidFill>
                  <a:srgbClr val="002060"/>
                </a:solidFill>
              </a:rPr>
              <a:t>It is rules and regulations which enable communication between devices in a network.</a:t>
            </a:r>
            <a:r>
              <a:rPr lang="en-GB" b="1" dirty="0"/>
              <a:t/>
            </a:r>
            <a:br>
              <a:rPr lang="en-GB" b="1" dirty="0"/>
            </a:br>
            <a:r>
              <a:rPr lang="en-IN" b="1" dirty="0"/>
              <a:t/>
            </a:r>
            <a:br>
              <a:rPr lang="en-IN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36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896" y="274320"/>
            <a:ext cx="11539728" cy="6327648"/>
          </a:xfrm>
          <a:ln w="38100"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algn="l"/>
            <a:r>
              <a:rPr lang="en-GB" sz="2600" b="1" u="sng" dirty="0">
                <a:solidFill>
                  <a:srgbClr val="FF0000"/>
                </a:solidFill>
              </a:rPr>
              <a:t>Types of </a:t>
            </a:r>
            <a:r>
              <a:rPr lang="en-GB" sz="2600" b="1" u="sng" dirty="0" smtClean="0">
                <a:solidFill>
                  <a:srgbClr val="FF0000"/>
                </a:solidFill>
              </a:rPr>
              <a:t>Network</a:t>
            </a:r>
          </a:p>
          <a:p>
            <a:pPr algn="l"/>
            <a:endParaRPr lang="en-GB" sz="2600" u="sng" dirty="0">
              <a:solidFill>
                <a:srgbClr val="FF0000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GB" dirty="0" smtClean="0">
                <a:solidFill>
                  <a:srgbClr val="00B0F0"/>
                </a:solidFill>
              </a:rPr>
              <a:t>In </a:t>
            </a:r>
            <a:r>
              <a:rPr lang="en-GB" dirty="0">
                <a:solidFill>
                  <a:srgbClr val="00B0F0"/>
                </a:solidFill>
              </a:rPr>
              <a:t>order to build a network we have different types. </a:t>
            </a:r>
            <a:endParaRPr lang="en-GB" dirty="0" smtClean="0">
              <a:solidFill>
                <a:srgbClr val="00B0F0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GB" dirty="0" smtClean="0">
                <a:solidFill>
                  <a:srgbClr val="00B0F0"/>
                </a:solidFill>
              </a:rPr>
              <a:t>They </a:t>
            </a:r>
            <a:r>
              <a:rPr lang="en-GB" dirty="0">
                <a:solidFill>
                  <a:srgbClr val="00B0F0"/>
                </a:solidFill>
              </a:rPr>
              <a:t>are categorized as,</a:t>
            </a:r>
          </a:p>
          <a:p>
            <a:pPr algn="l"/>
            <a:r>
              <a:rPr lang="en-GB" b="1" dirty="0">
                <a:solidFill>
                  <a:srgbClr val="C00000"/>
                </a:solidFill>
              </a:rPr>
              <a:t>Based on </a:t>
            </a:r>
            <a:r>
              <a:rPr lang="en-GB" b="1" dirty="0" smtClean="0">
                <a:solidFill>
                  <a:srgbClr val="C00000"/>
                </a:solidFill>
              </a:rPr>
              <a:t>trends</a:t>
            </a:r>
          </a:p>
          <a:p>
            <a:pPr algn="l"/>
            <a:endParaRPr lang="en-GB" dirty="0">
              <a:solidFill>
                <a:srgbClr val="C00000"/>
              </a:solidFill>
            </a:endParaRPr>
          </a:p>
          <a:p>
            <a:pPr algn="l"/>
            <a:r>
              <a:rPr lang="en-GB" b="1" u="sng" dirty="0" smtClean="0">
                <a:solidFill>
                  <a:srgbClr val="7030A0"/>
                </a:solidFill>
              </a:rPr>
              <a:t>Wired</a:t>
            </a:r>
          </a:p>
          <a:p>
            <a:pPr algn="l"/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solidFill>
                  <a:srgbClr val="0070C0"/>
                </a:solidFill>
              </a:rPr>
              <a:t>-   It </a:t>
            </a:r>
            <a:r>
              <a:rPr lang="en-GB" dirty="0">
                <a:solidFill>
                  <a:srgbClr val="0070C0"/>
                </a:solidFill>
              </a:rPr>
              <a:t>is the term refers to any physical </a:t>
            </a:r>
            <a:r>
              <a:rPr lang="en-GB" dirty="0" smtClean="0">
                <a:solidFill>
                  <a:srgbClr val="0070C0"/>
                </a:solidFill>
              </a:rPr>
              <a:t>medium</a:t>
            </a:r>
          </a:p>
          <a:p>
            <a:pPr algn="l"/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smtClean="0">
                <a:solidFill>
                  <a:srgbClr val="0070C0"/>
                </a:solidFill>
              </a:rPr>
              <a:t>    consisting </a:t>
            </a:r>
            <a:r>
              <a:rPr lang="en-GB" dirty="0">
                <a:solidFill>
                  <a:srgbClr val="0070C0"/>
                </a:solidFill>
              </a:rPr>
              <a:t>of cables</a:t>
            </a:r>
            <a:r>
              <a:rPr lang="en-GB" dirty="0" smtClean="0">
                <a:solidFill>
                  <a:srgbClr val="0070C0"/>
                </a:solidFill>
              </a:rPr>
              <a:t>. </a:t>
            </a:r>
          </a:p>
          <a:p>
            <a:pPr marL="342900" indent="-342900" algn="l">
              <a:buFontTx/>
              <a:buChar char="-"/>
            </a:pPr>
            <a:r>
              <a:rPr lang="en-GB" dirty="0" smtClean="0">
                <a:solidFill>
                  <a:srgbClr val="0070C0"/>
                </a:solidFill>
              </a:rPr>
              <a:t>The </a:t>
            </a:r>
            <a:r>
              <a:rPr lang="en-GB" dirty="0">
                <a:solidFill>
                  <a:srgbClr val="0070C0"/>
                </a:solidFill>
              </a:rPr>
              <a:t>cables can be copper wire, </a:t>
            </a:r>
            <a:r>
              <a:rPr lang="en-GB" dirty="0" smtClean="0">
                <a:solidFill>
                  <a:srgbClr val="0070C0"/>
                </a:solidFill>
              </a:rPr>
              <a:t>twisted</a:t>
            </a:r>
          </a:p>
          <a:p>
            <a:pPr algn="l"/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smtClean="0">
                <a:solidFill>
                  <a:srgbClr val="0070C0"/>
                </a:solidFill>
              </a:rPr>
              <a:t>    pair </a:t>
            </a:r>
            <a:r>
              <a:rPr lang="en-GB" dirty="0">
                <a:solidFill>
                  <a:srgbClr val="0070C0"/>
                </a:solidFill>
              </a:rPr>
              <a:t>or </a:t>
            </a:r>
            <a:r>
              <a:rPr lang="en-GB" dirty="0" smtClean="0">
                <a:solidFill>
                  <a:srgbClr val="0070C0"/>
                </a:solidFill>
              </a:rPr>
              <a:t>fibre </a:t>
            </a:r>
            <a:r>
              <a:rPr lang="en-GB" dirty="0">
                <a:solidFill>
                  <a:srgbClr val="0070C0"/>
                </a:solidFill>
              </a:rPr>
              <a:t>optic. </a:t>
            </a:r>
            <a:endParaRPr lang="en-GB" dirty="0" smtClean="0">
              <a:solidFill>
                <a:srgbClr val="0070C0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GB" dirty="0" smtClean="0">
                <a:solidFill>
                  <a:srgbClr val="0070C0"/>
                </a:solidFill>
              </a:rPr>
              <a:t>This </a:t>
            </a:r>
            <a:r>
              <a:rPr lang="en-GB" dirty="0">
                <a:solidFill>
                  <a:srgbClr val="0070C0"/>
                </a:solidFill>
              </a:rPr>
              <a:t>connection is shared among multiple </a:t>
            </a:r>
            <a:endParaRPr lang="en-GB" dirty="0" smtClean="0">
              <a:solidFill>
                <a:srgbClr val="0070C0"/>
              </a:solidFill>
            </a:endParaRPr>
          </a:p>
          <a:p>
            <a:pPr algn="l"/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 smtClean="0">
                <a:solidFill>
                  <a:srgbClr val="0070C0"/>
                </a:solidFill>
              </a:rPr>
              <a:t>    devices </a:t>
            </a:r>
            <a:r>
              <a:rPr lang="en-GB" dirty="0">
                <a:solidFill>
                  <a:srgbClr val="0070C0"/>
                </a:solidFill>
              </a:rPr>
              <a:t>using wired network concept</a:t>
            </a:r>
            <a:r>
              <a:rPr lang="en-GB" dirty="0" smtClean="0">
                <a:solidFill>
                  <a:srgbClr val="0070C0"/>
                </a:solidFill>
              </a:rPr>
              <a:t>.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79" y="1961197"/>
            <a:ext cx="58102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8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228600"/>
            <a:ext cx="11649456" cy="6355080"/>
          </a:xfrm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b="1" u="sng" dirty="0" smtClean="0">
                <a:solidFill>
                  <a:srgbClr val="7030A0"/>
                </a:solidFill>
              </a:rPr>
              <a:t>Wireless</a:t>
            </a:r>
          </a:p>
          <a:p>
            <a:pPr algn="l"/>
            <a:r>
              <a:rPr lang="en-IN" sz="2000" dirty="0" smtClean="0">
                <a:solidFill>
                  <a:srgbClr val="00B0F0"/>
                </a:solidFill>
              </a:rPr>
              <a:t>- It is </a:t>
            </a:r>
            <a:r>
              <a:rPr lang="en-IN" sz="2000" dirty="0">
                <a:solidFill>
                  <a:srgbClr val="00B0F0"/>
                </a:solidFill>
              </a:rPr>
              <a:t>the term refers to medium made of electromagnetic </a:t>
            </a:r>
            <a:r>
              <a:rPr lang="en-IN" sz="2000" dirty="0" smtClean="0">
                <a:solidFill>
                  <a:srgbClr val="00B0F0"/>
                </a:solidFill>
              </a:rPr>
              <a:t>waves (</a:t>
            </a:r>
            <a:r>
              <a:rPr lang="en-IN" sz="2000" dirty="0">
                <a:solidFill>
                  <a:srgbClr val="00B0F0"/>
                </a:solidFill>
              </a:rPr>
              <a:t>i.e. EM Waves) or </a:t>
            </a:r>
            <a:r>
              <a:rPr lang="en-IN" sz="2000" dirty="0" smtClean="0">
                <a:solidFill>
                  <a:srgbClr val="00B0F0"/>
                </a:solidFill>
              </a:rPr>
              <a:t>infrared waves.</a:t>
            </a:r>
          </a:p>
          <a:p>
            <a:pPr marL="342900" indent="-342900" algn="l">
              <a:buFontTx/>
              <a:buChar char="-"/>
            </a:pPr>
            <a:r>
              <a:rPr lang="en-IN" sz="2000" dirty="0" smtClean="0">
                <a:solidFill>
                  <a:srgbClr val="00B0F0"/>
                </a:solidFill>
              </a:rPr>
              <a:t>All </a:t>
            </a:r>
            <a:r>
              <a:rPr lang="en-IN" sz="2000" dirty="0">
                <a:solidFill>
                  <a:srgbClr val="00B0F0"/>
                </a:solidFill>
              </a:rPr>
              <a:t>the wireless devices will have antenna </a:t>
            </a:r>
            <a:r>
              <a:rPr lang="en-IN" sz="2000" dirty="0" smtClean="0">
                <a:solidFill>
                  <a:srgbClr val="00B0F0"/>
                </a:solidFill>
              </a:rPr>
              <a:t>or sensors</a:t>
            </a:r>
            <a:r>
              <a:rPr lang="en-IN" sz="2000" dirty="0">
                <a:solidFill>
                  <a:srgbClr val="00B0F0"/>
                </a:solidFill>
              </a:rPr>
              <a:t>. </a:t>
            </a:r>
            <a:endParaRPr lang="en-IN" sz="2000" dirty="0" smtClean="0">
              <a:solidFill>
                <a:srgbClr val="00B0F0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IN" sz="2000" dirty="0" smtClean="0">
                <a:solidFill>
                  <a:srgbClr val="00B0F0"/>
                </a:solidFill>
              </a:rPr>
              <a:t>Typical </a:t>
            </a:r>
            <a:r>
              <a:rPr lang="en-IN" sz="2000" dirty="0">
                <a:solidFill>
                  <a:srgbClr val="00B0F0"/>
                </a:solidFill>
              </a:rPr>
              <a:t>wireless devices include cellular mobile, wireless sensors, </a:t>
            </a:r>
            <a:r>
              <a:rPr lang="en-IN" sz="2000" dirty="0" smtClean="0">
                <a:solidFill>
                  <a:srgbClr val="00B0F0"/>
                </a:solidFill>
              </a:rPr>
              <a:t>TV remote</a:t>
            </a:r>
            <a:r>
              <a:rPr lang="en-IN" sz="2000" dirty="0">
                <a:solidFill>
                  <a:srgbClr val="00B0F0"/>
                </a:solidFill>
              </a:rPr>
              <a:t>, satellite disc receiver, and laptops with WLAN card etc</a:t>
            </a:r>
            <a:r>
              <a:rPr lang="en-IN" sz="2000" dirty="0" smtClean="0">
                <a:solidFill>
                  <a:srgbClr val="00B0F0"/>
                </a:solidFill>
              </a:rPr>
              <a:t>. </a:t>
            </a:r>
          </a:p>
          <a:p>
            <a:pPr algn="l"/>
            <a:endParaRPr lang="en-IN" dirty="0">
              <a:solidFill>
                <a:srgbClr val="00B0F0"/>
              </a:solidFill>
            </a:endParaRPr>
          </a:p>
          <a:p>
            <a:pPr algn="l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2066544"/>
            <a:ext cx="7877175" cy="4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8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256032"/>
            <a:ext cx="11686032" cy="6318504"/>
          </a:xfrm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GB" sz="2600" b="1" u="sng" dirty="0">
                <a:solidFill>
                  <a:srgbClr val="FF0000"/>
                </a:solidFill>
              </a:rPr>
              <a:t>Based on </a:t>
            </a:r>
            <a:r>
              <a:rPr lang="en-GB" sz="2600" b="1" u="sng" dirty="0" smtClean="0">
                <a:solidFill>
                  <a:srgbClr val="FF0000"/>
                </a:solidFill>
              </a:rPr>
              <a:t>Distance</a:t>
            </a:r>
          </a:p>
          <a:p>
            <a:pPr algn="l"/>
            <a:endParaRPr lang="en-GB" sz="2600" b="1" dirty="0">
              <a:solidFill>
                <a:srgbClr val="FF0000"/>
              </a:solidFill>
            </a:endParaRPr>
          </a:p>
          <a:p>
            <a:pPr marL="457200" indent="-457200" algn="l">
              <a:buAutoNum type="arabicPeriod"/>
            </a:pPr>
            <a:r>
              <a:rPr lang="en-GB" b="1" u="sng" dirty="0" smtClean="0">
                <a:solidFill>
                  <a:srgbClr val="FF0000"/>
                </a:solidFill>
              </a:rPr>
              <a:t>local </a:t>
            </a:r>
            <a:r>
              <a:rPr lang="en-GB" b="1" u="sng" dirty="0">
                <a:solidFill>
                  <a:srgbClr val="FF0000"/>
                </a:solidFill>
              </a:rPr>
              <a:t>area network (LAN</a:t>
            </a:r>
            <a:r>
              <a:rPr lang="en-GB" b="1" u="sng" dirty="0" smtClean="0">
                <a:solidFill>
                  <a:srgbClr val="FF0000"/>
                </a:solidFill>
              </a:rPr>
              <a:t>) </a:t>
            </a:r>
          </a:p>
          <a:p>
            <a:pPr marL="342900" indent="-342900" algn="l">
              <a:buFontTx/>
              <a:buChar char="-"/>
            </a:pPr>
            <a:r>
              <a:rPr lang="en-GB" b="1" dirty="0" smtClean="0">
                <a:solidFill>
                  <a:srgbClr val="002060"/>
                </a:solidFill>
              </a:rPr>
              <a:t>It </a:t>
            </a:r>
            <a:r>
              <a:rPr lang="en-GB" dirty="0" smtClean="0">
                <a:solidFill>
                  <a:srgbClr val="002060"/>
                </a:solidFill>
              </a:rPr>
              <a:t>is </a:t>
            </a:r>
            <a:r>
              <a:rPr lang="en-GB" dirty="0">
                <a:solidFill>
                  <a:srgbClr val="002060"/>
                </a:solidFill>
              </a:rPr>
              <a:t>limited to a specific area, usually an office, </a:t>
            </a:r>
            <a:r>
              <a:rPr lang="en-GB" dirty="0" smtClean="0">
                <a:solidFill>
                  <a:srgbClr val="002060"/>
                </a:solidFill>
              </a:rPr>
              <a:t>and cannot </a:t>
            </a:r>
            <a:r>
              <a:rPr lang="en-GB" dirty="0">
                <a:solidFill>
                  <a:srgbClr val="002060"/>
                </a:solidFill>
              </a:rPr>
              <a:t>extend beyond the boundaries of a single building. </a:t>
            </a:r>
            <a:endParaRPr lang="en-GB" dirty="0" smtClean="0">
              <a:solidFill>
                <a:srgbClr val="002060"/>
              </a:solidFill>
            </a:endParaRPr>
          </a:p>
          <a:p>
            <a:pPr algn="l"/>
            <a:endParaRPr lang="en-GB" dirty="0" smtClean="0">
              <a:solidFill>
                <a:srgbClr val="002060"/>
              </a:solidFill>
            </a:endParaRPr>
          </a:p>
          <a:p>
            <a:pPr algn="l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62" y="2762631"/>
            <a:ext cx="4686300" cy="2552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39" y="2762631"/>
            <a:ext cx="47434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55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292608"/>
            <a:ext cx="11503152" cy="6272784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>
                <a:solidFill>
                  <a:srgbClr val="FF0000"/>
                </a:solidFill>
              </a:rPr>
              <a:t>2. </a:t>
            </a:r>
            <a:r>
              <a:rPr lang="en-GB" b="1" u="sng" dirty="0" smtClean="0">
                <a:solidFill>
                  <a:srgbClr val="FF0000"/>
                </a:solidFill>
              </a:rPr>
              <a:t>WAN </a:t>
            </a:r>
            <a:r>
              <a:rPr lang="en-GB" b="1" u="sng" dirty="0">
                <a:solidFill>
                  <a:srgbClr val="FF0000"/>
                </a:solidFill>
              </a:rPr>
              <a:t>(Wide Area Network)</a:t>
            </a:r>
            <a:r>
              <a:rPr lang="en-GB" u="sng" dirty="0">
                <a:solidFill>
                  <a:srgbClr val="FF0000"/>
                </a:solidFill>
              </a:rPr>
              <a:t>: </a:t>
            </a:r>
            <a:endParaRPr lang="en-GB" u="sng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2060"/>
                </a:solidFill>
              </a:rPr>
              <a:t>A </a:t>
            </a:r>
            <a:r>
              <a:rPr lang="en-GB" sz="2400" dirty="0">
                <a:solidFill>
                  <a:srgbClr val="002060"/>
                </a:solidFill>
              </a:rPr>
              <a:t>WAN is any network that crosses metropolitan, regional, </a:t>
            </a:r>
            <a:r>
              <a:rPr lang="en-GB" sz="2400" dirty="0" smtClean="0">
                <a:solidFill>
                  <a:srgbClr val="002060"/>
                </a:solidFill>
              </a:rPr>
              <a:t>or national </a:t>
            </a:r>
            <a:r>
              <a:rPr lang="en-GB" sz="2400" dirty="0">
                <a:solidFill>
                  <a:srgbClr val="002060"/>
                </a:solidFill>
              </a:rPr>
              <a:t>boundaries. </a:t>
            </a:r>
            <a:endParaRPr lang="en-GB" sz="2400" dirty="0" smtClean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2060"/>
                </a:solidFill>
              </a:rPr>
              <a:t>Most </a:t>
            </a:r>
            <a:r>
              <a:rPr lang="en-GB" sz="2400" dirty="0">
                <a:solidFill>
                  <a:srgbClr val="002060"/>
                </a:solidFill>
              </a:rPr>
              <a:t>networking professionals define a WAN as any network that uses</a:t>
            </a:r>
            <a:br>
              <a:rPr lang="en-GB" sz="2400" dirty="0">
                <a:solidFill>
                  <a:srgbClr val="002060"/>
                </a:solidFill>
              </a:rPr>
            </a:br>
            <a:r>
              <a:rPr lang="en-GB" sz="2400" dirty="0">
                <a:solidFill>
                  <a:srgbClr val="002060"/>
                </a:solidFill>
              </a:rPr>
              <a:t>routers and public network links.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504884"/>
            <a:ext cx="94869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7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283464"/>
            <a:ext cx="11585448" cy="6291072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b="1" u="sng" dirty="0">
                <a:solidFill>
                  <a:srgbClr val="FF0000"/>
                </a:solidFill>
              </a:rPr>
              <a:t>MAN (Metropolitan Area Network)</a:t>
            </a:r>
            <a:r>
              <a:rPr lang="en-GB" u="sng" dirty="0">
                <a:solidFill>
                  <a:srgbClr val="FF0000"/>
                </a:solidFill>
              </a:rPr>
              <a:t>: 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u="sng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2060"/>
                </a:solidFill>
              </a:rPr>
              <a:t>It </a:t>
            </a:r>
            <a:r>
              <a:rPr lang="en-GB" sz="2400" dirty="0">
                <a:solidFill>
                  <a:srgbClr val="002060"/>
                </a:solidFill>
              </a:rPr>
              <a:t>refers to a network that exists within a single city or metropolitan If area. </a:t>
            </a:r>
            <a:endParaRPr lang="en-GB" sz="2400" dirty="0" smtClean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GB" sz="2400" dirty="0">
                <a:solidFill>
                  <a:srgbClr val="002060"/>
                </a:solidFill>
              </a:rPr>
              <a:t>W</a:t>
            </a:r>
            <a:r>
              <a:rPr lang="en-GB" sz="2400" dirty="0" smtClean="0">
                <a:solidFill>
                  <a:srgbClr val="002060"/>
                </a:solidFill>
              </a:rPr>
              <a:t>e </a:t>
            </a:r>
            <a:r>
              <a:rPr lang="en-GB" sz="2400" dirty="0">
                <a:solidFill>
                  <a:srgbClr val="002060"/>
                </a:solidFill>
              </a:rPr>
              <a:t>had two different buildings within a city that were connected together, it would be considered a MAN.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704" y="2960179"/>
            <a:ext cx="49053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8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246888"/>
            <a:ext cx="11686032" cy="6364224"/>
          </a:xfrm>
          <a:ln w="38100"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algn="l"/>
            <a:r>
              <a:rPr lang="en-GB" sz="2600" b="1" u="sng" dirty="0" smtClean="0">
                <a:solidFill>
                  <a:srgbClr val="FF0000"/>
                </a:solidFill>
              </a:rPr>
              <a:t>Based on Architecture</a:t>
            </a:r>
          </a:p>
          <a:p>
            <a:pPr algn="l"/>
            <a:endParaRPr lang="en-GB" sz="2600" b="1" dirty="0" smtClean="0">
              <a:solidFill>
                <a:srgbClr val="FF0000"/>
              </a:solidFill>
            </a:endParaRPr>
          </a:p>
          <a:p>
            <a:pPr algn="l"/>
            <a:r>
              <a:rPr lang="en-GB" b="1" u="sng" dirty="0" smtClean="0">
                <a:solidFill>
                  <a:srgbClr val="FF0000"/>
                </a:solidFill>
              </a:rPr>
              <a:t>Client/Server (Domain Model):</a:t>
            </a:r>
            <a:r>
              <a:rPr lang="en-GB" dirty="0" smtClean="0"/>
              <a:t> </a:t>
            </a:r>
          </a:p>
          <a:p>
            <a:pPr algn="l"/>
            <a:r>
              <a:rPr lang="en-GB" dirty="0" smtClean="0">
                <a:solidFill>
                  <a:srgbClr val="002060"/>
                </a:solidFill>
              </a:rPr>
              <a:t>- The server in a server-based network may provide a number of different services. </a:t>
            </a:r>
          </a:p>
          <a:p>
            <a:pPr algn="l"/>
            <a:r>
              <a:rPr lang="en-GB" dirty="0" smtClean="0">
                <a:solidFill>
                  <a:srgbClr val="002060"/>
                </a:solidFill>
              </a:rPr>
              <a:t>- The services it will offer to the network usually are decided by the server’s role. </a:t>
            </a:r>
          </a:p>
          <a:p>
            <a:pPr algn="l"/>
            <a:r>
              <a:rPr lang="en-GB" dirty="0" smtClean="0">
                <a:solidFill>
                  <a:srgbClr val="002060"/>
                </a:solidFill>
              </a:rPr>
              <a:t>- There are a number of different roles that a server could play on a network: </a:t>
            </a:r>
          </a:p>
          <a:p>
            <a:pPr algn="l"/>
            <a:r>
              <a:rPr lang="en-GB" dirty="0" smtClean="0"/>
              <a:t>	</a:t>
            </a:r>
            <a:r>
              <a:rPr lang="en-GB" dirty="0" smtClean="0">
                <a:solidFill>
                  <a:srgbClr val="0070C0"/>
                </a:solidFill>
              </a:rPr>
              <a:t>&gt; File and print servers, Application servers, Web servers,  Directory servers</a:t>
            </a:r>
          </a:p>
          <a:p>
            <a:endParaRPr lang="en-GB" dirty="0"/>
          </a:p>
          <a:p>
            <a:pPr algn="l"/>
            <a:r>
              <a:rPr lang="en-GB" u="sng" dirty="0">
                <a:solidFill>
                  <a:srgbClr val="FF0000"/>
                </a:solidFill>
              </a:rPr>
              <a:t>Advantages of Client/Server</a:t>
            </a:r>
            <a:r>
              <a:rPr lang="en-GB" u="sng" dirty="0" smtClean="0">
                <a:solidFill>
                  <a:srgbClr val="FF0000"/>
                </a:solidFill>
              </a:rPr>
              <a:t>:</a:t>
            </a:r>
          </a:p>
          <a:p>
            <a:pPr marL="514350" indent="-514350" algn="l">
              <a:buAutoNum type="romanLcPeriod"/>
            </a:pPr>
            <a:r>
              <a:rPr lang="en-GB" dirty="0" smtClean="0">
                <a:solidFill>
                  <a:srgbClr val="002060"/>
                </a:solidFill>
              </a:rPr>
              <a:t>Centralized</a:t>
            </a:r>
            <a:r>
              <a:rPr lang="en-GB" dirty="0">
                <a:solidFill>
                  <a:srgbClr val="002060"/>
                </a:solidFill>
              </a:rPr>
              <a:t>: Locating, accessing, managing files is easier. Administrative burden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dirty="0" smtClean="0">
                <a:solidFill>
                  <a:srgbClr val="002060"/>
                </a:solidFill>
              </a:rPr>
              <a:t>  	               is reduced.</a:t>
            </a:r>
          </a:p>
          <a:p>
            <a:pPr marL="514350" indent="-514350" algn="l">
              <a:buAutoNum type="romanLcPeriod"/>
            </a:pPr>
            <a:r>
              <a:rPr lang="en-GB" dirty="0" smtClean="0">
                <a:solidFill>
                  <a:srgbClr val="002060"/>
                </a:solidFill>
              </a:rPr>
              <a:t>Scalability</a:t>
            </a:r>
            <a:r>
              <a:rPr lang="en-GB" dirty="0">
                <a:solidFill>
                  <a:srgbClr val="002060"/>
                </a:solidFill>
              </a:rPr>
              <a:t>: Adding/removing of computers is easier and it does not affect the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dirty="0" smtClean="0">
                <a:solidFill>
                  <a:srgbClr val="002060"/>
                </a:solidFill>
              </a:rPr>
              <a:t>  	             architecture.</a:t>
            </a:r>
          </a:p>
          <a:p>
            <a:pPr marL="514350" indent="-514350" algn="l">
              <a:buAutoNum type="romanLcPeriod"/>
            </a:pPr>
            <a:r>
              <a:rPr lang="en-GB" dirty="0" smtClean="0">
                <a:solidFill>
                  <a:srgbClr val="002060"/>
                </a:solidFill>
              </a:rPr>
              <a:t>Flexibility</a:t>
            </a:r>
            <a:r>
              <a:rPr lang="en-GB" dirty="0">
                <a:solidFill>
                  <a:srgbClr val="002060"/>
                </a:solidFill>
              </a:rPr>
              <a:t>: Integration of new technology can be implemented</a:t>
            </a:r>
            <a:r>
              <a:rPr lang="en-GB" dirty="0" smtClean="0"/>
              <a:t>.</a:t>
            </a:r>
          </a:p>
          <a:p>
            <a:pPr algn="l"/>
            <a:endParaRPr lang="en-GB" dirty="0"/>
          </a:p>
          <a:p>
            <a:pPr algn="l"/>
            <a:r>
              <a:rPr lang="en-GB" u="sng" dirty="0">
                <a:solidFill>
                  <a:srgbClr val="FF0000"/>
                </a:solidFill>
              </a:rPr>
              <a:t>Disadvantages:</a:t>
            </a:r>
            <a:r>
              <a:rPr lang="en-GB" dirty="0"/>
              <a:t/>
            </a:r>
            <a:br>
              <a:rPr lang="en-GB" dirty="0"/>
            </a:br>
            <a:r>
              <a:rPr lang="en-GB" dirty="0" err="1">
                <a:solidFill>
                  <a:srgbClr val="002060"/>
                </a:solidFill>
              </a:rPr>
              <a:t>i</a:t>
            </a:r>
            <a:r>
              <a:rPr lang="en-GB" dirty="0">
                <a:solidFill>
                  <a:srgbClr val="002060"/>
                </a:solidFill>
              </a:rPr>
              <a:t>. It is expensive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  <a:r>
              <a:rPr lang="en-GB" dirty="0">
                <a:solidFill>
                  <a:srgbClr val="002060"/>
                </a:solidFill>
              </a:rPr>
              <a:t/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dirty="0">
                <a:solidFill>
                  <a:srgbClr val="002060"/>
                </a:solidFill>
              </a:rPr>
              <a:t>ii. Required higher configuration hardware resources. </a:t>
            </a:r>
            <a:endParaRPr lang="en-GB" dirty="0" smtClean="0">
              <a:solidFill>
                <a:srgbClr val="002060"/>
              </a:solidFill>
            </a:endParaRPr>
          </a:p>
          <a:p>
            <a:pPr algn="l"/>
            <a:r>
              <a:rPr lang="en-GB" dirty="0" smtClean="0">
                <a:solidFill>
                  <a:srgbClr val="002060"/>
                </a:solidFill>
              </a:rPr>
              <a:t>iii</a:t>
            </a:r>
            <a:r>
              <a:rPr lang="en-GB" dirty="0">
                <a:solidFill>
                  <a:srgbClr val="002060"/>
                </a:solidFill>
              </a:rPr>
              <a:t>. If the server goes </a:t>
            </a:r>
            <a:r>
              <a:rPr lang="en-GB" dirty="0" smtClean="0">
                <a:solidFill>
                  <a:srgbClr val="002060"/>
                </a:solidFill>
              </a:rPr>
              <a:t>down</a:t>
            </a:r>
            <a:r>
              <a:rPr lang="en-GB" dirty="0">
                <a:solidFill>
                  <a:srgbClr val="002060"/>
                </a:solidFill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communication </a:t>
            </a:r>
            <a:r>
              <a:rPr lang="en-GB" dirty="0">
                <a:solidFill>
                  <a:srgbClr val="002060"/>
                </a:solidFill>
              </a:rPr>
              <a:t>path is lost</a:t>
            </a:r>
            <a:r>
              <a:rPr lang="en-GB" dirty="0"/>
              <a:t>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93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283464"/>
            <a:ext cx="11640312" cy="6318504"/>
          </a:xfrm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rgbClr val="FF0000"/>
                </a:solidFill>
              </a:rPr>
              <a:t>Peer-to-Peer [Workgroup] </a:t>
            </a:r>
            <a:endParaRPr lang="en-GB" b="1" u="sng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2060"/>
                </a:solidFill>
              </a:rPr>
              <a:t>A </a:t>
            </a:r>
            <a:r>
              <a:rPr lang="en-GB" sz="2400" dirty="0">
                <a:solidFill>
                  <a:srgbClr val="002060"/>
                </a:solidFill>
              </a:rPr>
              <a:t>peer-to-peer network has no dedicated servers; instead, </a:t>
            </a:r>
            <a:r>
              <a:rPr lang="en-GB" sz="2400" dirty="0" smtClean="0">
                <a:solidFill>
                  <a:srgbClr val="002060"/>
                </a:solidFill>
              </a:rPr>
              <a:t>a number </a:t>
            </a:r>
            <a:r>
              <a:rPr lang="en-GB" sz="2400" dirty="0">
                <a:solidFill>
                  <a:srgbClr val="002060"/>
                </a:solidFill>
              </a:rPr>
              <a:t>of workstations are connected together for the purpose of sharing information </a:t>
            </a:r>
            <a:r>
              <a:rPr lang="en-GB" sz="2400" dirty="0" smtClean="0">
                <a:solidFill>
                  <a:srgbClr val="002060"/>
                </a:solidFill>
              </a:rPr>
              <a:t>or devices.</a:t>
            </a: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2060"/>
                </a:solidFill>
              </a:rPr>
              <a:t>When </a:t>
            </a:r>
            <a:r>
              <a:rPr lang="en-GB" sz="2400" dirty="0">
                <a:solidFill>
                  <a:srgbClr val="002060"/>
                </a:solidFill>
              </a:rPr>
              <a:t>there is no dedicated server, all workstations are considered equal; any one </a:t>
            </a:r>
            <a:r>
              <a:rPr lang="en-GB" sz="2400" dirty="0" smtClean="0">
                <a:solidFill>
                  <a:srgbClr val="002060"/>
                </a:solidFill>
              </a:rPr>
              <a:t>of them </a:t>
            </a:r>
            <a:r>
              <a:rPr lang="en-GB" sz="2400" dirty="0">
                <a:solidFill>
                  <a:srgbClr val="002060"/>
                </a:solidFill>
              </a:rPr>
              <a:t>can participate as the client or the server. </a:t>
            </a:r>
            <a:endParaRPr lang="en-GB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sz="2400" u="sng" dirty="0" smtClean="0">
                <a:solidFill>
                  <a:srgbClr val="FF0000"/>
                </a:solidFill>
              </a:rPr>
              <a:t>Disadvantages </a:t>
            </a:r>
            <a:r>
              <a:rPr lang="en-GB" sz="2400" u="sng" dirty="0">
                <a:solidFill>
                  <a:srgbClr val="FF0000"/>
                </a:solidFill>
              </a:rPr>
              <a:t>of Peer-to-Peer</a:t>
            </a:r>
            <a:r>
              <a:rPr lang="en-GB" dirty="0"/>
              <a:t/>
            </a:r>
            <a:br>
              <a:rPr lang="en-GB" dirty="0"/>
            </a:br>
            <a:r>
              <a:rPr lang="en-GB" sz="2400" dirty="0" err="1">
                <a:solidFill>
                  <a:srgbClr val="0070C0"/>
                </a:solidFill>
              </a:rPr>
              <a:t>i</a:t>
            </a:r>
            <a:r>
              <a:rPr lang="en-GB" sz="2400" dirty="0">
                <a:solidFill>
                  <a:srgbClr val="0070C0"/>
                </a:solidFill>
              </a:rPr>
              <a:t>. </a:t>
            </a:r>
            <a:r>
              <a:rPr lang="en-GB" sz="2400" dirty="0" smtClean="0">
                <a:solidFill>
                  <a:srgbClr val="0070C0"/>
                </a:solidFill>
              </a:rPr>
              <a:t> It </a:t>
            </a:r>
            <a:r>
              <a:rPr lang="en-GB" sz="2400" dirty="0">
                <a:solidFill>
                  <a:srgbClr val="0070C0"/>
                </a:solidFill>
              </a:rPr>
              <a:t>is decentralized.</a:t>
            </a:r>
            <a:br>
              <a:rPr lang="en-GB" sz="2400" dirty="0">
                <a:solidFill>
                  <a:srgbClr val="0070C0"/>
                </a:solidFill>
              </a:rPr>
            </a:br>
            <a:r>
              <a:rPr lang="en-GB" sz="2400" dirty="0">
                <a:solidFill>
                  <a:srgbClr val="0070C0"/>
                </a:solidFill>
              </a:rPr>
              <a:t>ii. Administrative burden is more.</a:t>
            </a:r>
            <a:br>
              <a:rPr lang="en-GB" sz="2400" dirty="0">
                <a:solidFill>
                  <a:srgbClr val="0070C0"/>
                </a:solidFill>
              </a:rPr>
            </a:br>
            <a:r>
              <a:rPr lang="en-GB" sz="2400" dirty="0">
                <a:solidFill>
                  <a:srgbClr val="0070C0"/>
                </a:solidFill>
              </a:rPr>
              <a:t>iii. Locating and accessing of files is difficult</a:t>
            </a:r>
            <a:r>
              <a:rPr lang="en-GB" sz="2400" dirty="0" smtClean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endParaRPr lang="en-GB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2400" u="sng" dirty="0">
                <a:solidFill>
                  <a:srgbClr val="FF0000"/>
                </a:solidFill>
              </a:rPr>
              <a:t>Advantages of Peer-to-Peer</a:t>
            </a:r>
            <a:r>
              <a:rPr lang="en-GB" dirty="0"/>
              <a:t/>
            </a:r>
            <a:br>
              <a:rPr lang="en-GB" dirty="0"/>
            </a:br>
            <a:r>
              <a:rPr lang="en-GB" sz="2400" dirty="0" err="1">
                <a:solidFill>
                  <a:srgbClr val="0070C0"/>
                </a:solidFill>
              </a:rPr>
              <a:t>i</a:t>
            </a:r>
            <a:r>
              <a:rPr lang="en-GB" sz="2400" dirty="0">
                <a:solidFill>
                  <a:srgbClr val="0070C0"/>
                </a:solidFill>
              </a:rPr>
              <a:t>. </a:t>
            </a:r>
            <a:r>
              <a:rPr lang="en-GB" sz="2400" dirty="0" smtClean="0">
                <a:solidFill>
                  <a:srgbClr val="0070C0"/>
                </a:solidFill>
              </a:rPr>
              <a:t> It </a:t>
            </a:r>
            <a:r>
              <a:rPr lang="en-GB" sz="2400" dirty="0">
                <a:solidFill>
                  <a:srgbClr val="0070C0"/>
                </a:solidFill>
              </a:rPr>
              <a:t>is cost effective.</a:t>
            </a:r>
            <a:br>
              <a:rPr lang="en-GB" sz="2400" dirty="0">
                <a:solidFill>
                  <a:srgbClr val="0070C0"/>
                </a:solidFill>
              </a:rPr>
            </a:br>
            <a:r>
              <a:rPr lang="en-GB" sz="2400" dirty="0">
                <a:solidFill>
                  <a:srgbClr val="0070C0"/>
                </a:solidFill>
              </a:rPr>
              <a:t>ii. Does not require higher configuration hardware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61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219456"/>
            <a:ext cx="11640312" cy="6373368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76072"/>
            <a:ext cx="10442448" cy="56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2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65176"/>
            <a:ext cx="11786616" cy="6364224"/>
          </a:xfrm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100" dirty="0" smtClean="0">
                <a:solidFill>
                  <a:srgbClr val="FF0000"/>
                </a:solidFill>
              </a:rPr>
              <a:t> </a:t>
            </a:r>
            <a:r>
              <a:rPr lang="en-GB" sz="3100" b="1" u="sng" dirty="0">
                <a:solidFill>
                  <a:srgbClr val="FF0000"/>
                </a:solidFill>
              </a:rPr>
              <a:t>Based on </a:t>
            </a:r>
            <a:r>
              <a:rPr lang="en-GB" sz="3100" b="1" u="sng" dirty="0" smtClean="0">
                <a:solidFill>
                  <a:srgbClr val="FF0000"/>
                </a:solidFill>
              </a:rPr>
              <a:t>Connection</a:t>
            </a:r>
          </a:p>
          <a:p>
            <a:pPr marL="0" indent="0">
              <a:buNone/>
            </a:pPr>
            <a:endParaRPr lang="en-GB" sz="3100" b="1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rgbClr val="C00000"/>
                </a:solidFill>
              </a:rPr>
              <a:t>Internet:</a:t>
            </a:r>
            <a:r>
              <a:rPr lang="en-GB" dirty="0" smtClean="0"/>
              <a:t> </a:t>
            </a: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2060"/>
                </a:solidFill>
              </a:rPr>
              <a:t>Internet </a:t>
            </a:r>
            <a:r>
              <a:rPr lang="en-US" sz="2000" dirty="0">
                <a:solidFill>
                  <a:srgbClr val="002060"/>
                </a:solidFill>
              </a:rPr>
              <a:t>is a global network that connects billions </a:t>
            </a:r>
            <a:r>
              <a:rPr lang="en-US" sz="2000" dirty="0" smtClean="0">
                <a:solidFill>
                  <a:srgbClr val="002060"/>
                </a:solidFill>
              </a:rPr>
              <a:t>of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  </a:t>
            </a:r>
            <a:r>
              <a:rPr lang="en-US" sz="2000" dirty="0">
                <a:solidFill>
                  <a:srgbClr val="002060"/>
                </a:solidFill>
              </a:rPr>
              <a:t>computers across the world with each </a:t>
            </a:r>
            <a:r>
              <a:rPr lang="en-US" sz="2000" dirty="0" smtClean="0">
                <a:solidFill>
                  <a:srgbClr val="002060"/>
                </a:solidFill>
              </a:rPr>
              <a:t>other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rgbClr val="002060"/>
                </a:solidFill>
              </a:rPr>
              <a:t>It is believed that the internet was developed </a:t>
            </a:r>
            <a:r>
              <a:rPr lang="en-US" sz="2000" dirty="0" smtClean="0">
                <a:solidFill>
                  <a:srgbClr val="002060"/>
                </a:solidFill>
              </a:rPr>
              <a:t>by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"Defense Advanced Projects Agency" (DARPA) </a:t>
            </a:r>
            <a:endParaRPr lang="en-US" sz="20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  department </a:t>
            </a:r>
            <a:r>
              <a:rPr lang="en-US" sz="2000" dirty="0">
                <a:solidFill>
                  <a:srgbClr val="002060"/>
                </a:solidFill>
              </a:rPr>
              <a:t>of the United States</a:t>
            </a:r>
            <a:r>
              <a:rPr lang="en-US" sz="2000" dirty="0" smtClean="0">
                <a:solidFill>
                  <a:srgbClr val="002060"/>
                </a:solidFill>
              </a:rPr>
              <a:t>.</a:t>
            </a: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2060"/>
                </a:solidFill>
              </a:rPr>
              <a:t>And</a:t>
            </a:r>
            <a:r>
              <a:rPr lang="en-US" sz="2000" dirty="0">
                <a:solidFill>
                  <a:srgbClr val="002060"/>
                </a:solidFill>
              </a:rPr>
              <a:t>, it was first connected in </a:t>
            </a:r>
            <a:r>
              <a:rPr lang="en-US" sz="2000" dirty="0" smtClean="0">
                <a:solidFill>
                  <a:srgbClr val="002060"/>
                </a:solidFill>
              </a:rPr>
              <a:t>1969</a:t>
            </a:r>
          </a:p>
          <a:p>
            <a:pPr marL="0" indent="0">
              <a:buNone/>
            </a:pPr>
            <a:endParaRPr lang="en-GB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056513"/>
            <a:ext cx="5955792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2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744" y="256032"/>
            <a:ext cx="11695176" cy="6345936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Intranet</a:t>
            </a:r>
            <a:r>
              <a:rPr lang="en-GB" dirty="0">
                <a:solidFill>
                  <a:srgbClr val="C00000"/>
                </a:solidFill>
              </a:rPr>
              <a:t>: </a:t>
            </a:r>
            <a:endParaRPr lang="en-GB" dirty="0" smtClean="0">
              <a:solidFill>
                <a:srgbClr val="C00000"/>
              </a:solidFill>
            </a:endParaRP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2060"/>
                </a:solidFill>
              </a:rPr>
              <a:t>The </a:t>
            </a:r>
            <a:r>
              <a:rPr lang="en-US" sz="2000" dirty="0">
                <a:solidFill>
                  <a:srgbClr val="002060"/>
                </a:solidFill>
              </a:rPr>
              <a:t>intranet is a private network that belongs to a particular organization. </a:t>
            </a:r>
            <a:endParaRPr lang="en-US" sz="2000" dirty="0" smtClean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US" sz="2000" dirty="0" smtClean="0">
                <a:solidFill>
                  <a:srgbClr val="002060"/>
                </a:solidFill>
              </a:rPr>
              <a:t>It </a:t>
            </a:r>
            <a:r>
              <a:rPr lang="en-US" sz="2000" dirty="0">
                <a:solidFill>
                  <a:srgbClr val="002060"/>
                </a:solidFill>
              </a:rPr>
              <a:t>is designed for the exclusive use of an organization and its associates, such as employees, customers, and other authorized people.</a:t>
            </a:r>
            <a:endParaRPr lang="en-GB" sz="2000" dirty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r>
              <a:rPr lang="en-GB" sz="2000" dirty="0" smtClean="0">
                <a:solidFill>
                  <a:srgbClr val="002060"/>
                </a:solidFill>
              </a:rPr>
              <a:t>The </a:t>
            </a:r>
            <a:r>
              <a:rPr lang="en-GB" sz="2000" dirty="0">
                <a:solidFill>
                  <a:srgbClr val="002060"/>
                </a:solidFill>
              </a:rPr>
              <a:t>information on a company’s intranet would not be accessible to persons on the Internet because it is not for public use.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688336"/>
            <a:ext cx="5232654" cy="3665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8336"/>
            <a:ext cx="5515356" cy="366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6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265176"/>
            <a:ext cx="11695176" cy="6336792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Extranet:</a:t>
            </a:r>
            <a:r>
              <a:rPr lang="en-GB" dirty="0"/>
              <a:t> </a:t>
            </a:r>
          </a:p>
          <a:p>
            <a:pPr>
              <a:buFontTx/>
              <a:buChar char="-"/>
            </a:pPr>
            <a:r>
              <a:rPr lang="en-GB" sz="2000" dirty="0" smtClean="0">
                <a:solidFill>
                  <a:srgbClr val="7030A0"/>
                </a:solidFill>
              </a:rPr>
              <a:t>If </a:t>
            </a:r>
            <a:r>
              <a:rPr lang="en-GB" sz="2000" dirty="0">
                <a:solidFill>
                  <a:srgbClr val="7030A0"/>
                </a:solidFill>
              </a:rPr>
              <a:t>one extends his/her intranet out to select business partners or customers, they have created an extranet. </a:t>
            </a:r>
          </a:p>
          <a:p>
            <a:pPr>
              <a:buFontTx/>
              <a:buChar char="-"/>
            </a:pPr>
            <a:r>
              <a:rPr lang="en-GB" sz="2000" dirty="0">
                <a:solidFill>
                  <a:srgbClr val="7030A0"/>
                </a:solidFill>
              </a:rPr>
              <a:t>An extranet cannot be used by anyone else external to the company except for those selected individuals</a:t>
            </a:r>
            <a:r>
              <a:rPr lang="en-GB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1790637"/>
            <a:ext cx="73914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22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744" y="274320"/>
            <a:ext cx="11750040" cy="6355080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rgbClr val="FF0000"/>
                </a:solidFill>
              </a:rPr>
              <a:t>Types of </a:t>
            </a:r>
            <a:r>
              <a:rPr lang="en-GB" b="1" u="sng" dirty="0" smtClean="0">
                <a:solidFill>
                  <a:srgbClr val="FF0000"/>
                </a:solidFill>
              </a:rPr>
              <a:t>communication</a:t>
            </a:r>
          </a:p>
          <a:p>
            <a:pPr marL="0" indent="0">
              <a:buNone/>
            </a:pPr>
            <a:endParaRPr lang="en-GB" sz="2400" u="sng" dirty="0"/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1. </a:t>
            </a:r>
            <a:r>
              <a:rPr lang="en-GB" b="1" u="sng" dirty="0">
                <a:solidFill>
                  <a:srgbClr val="C00000"/>
                </a:solidFill>
              </a:rPr>
              <a:t>Unicast </a:t>
            </a:r>
            <a:r>
              <a:rPr lang="en-GB" b="1" u="sng" dirty="0" smtClean="0">
                <a:solidFill>
                  <a:srgbClr val="C00000"/>
                </a:solidFill>
              </a:rPr>
              <a:t>–</a:t>
            </a:r>
            <a:endParaRPr lang="en-GB" dirty="0"/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70C0"/>
                </a:solidFill>
              </a:rPr>
              <a:t>This </a:t>
            </a:r>
            <a:r>
              <a:rPr lang="en-GB" sz="2400" dirty="0">
                <a:solidFill>
                  <a:srgbClr val="0070C0"/>
                </a:solidFill>
              </a:rPr>
              <a:t>type of information transfer is useful when there is a participation of single sender and single recipient. 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</a:p>
          <a:p>
            <a:pPr>
              <a:buFontTx/>
              <a:buChar char="-"/>
            </a:pPr>
            <a:r>
              <a:rPr lang="en-GB" sz="2400" dirty="0" smtClean="0">
                <a:solidFill>
                  <a:srgbClr val="0070C0"/>
                </a:solidFill>
              </a:rPr>
              <a:t>So</a:t>
            </a:r>
            <a:r>
              <a:rPr lang="en-GB" sz="2400" dirty="0">
                <a:solidFill>
                  <a:srgbClr val="0070C0"/>
                </a:solidFill>
              </a:rPr>
              <a:t>, in short you can term it as a one-to- one transmission. 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</a:rPr>
              <a:t/>
            </a:r>
            <a:br>
              <a:rPr lang="en-GB" dirty="0">
                <a:solidFill>
                  <a:srgbClr val="0070C0"/>
                </a:solidFill>
              </a:rPr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2971800"/>
            <a:ext cx="6362700" cy="353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8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464" y="237744"/>
            <a:ext cx="11631168" cy="6355080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2. </a:t>
            </a:r>
            <a:r>
              <a:rPr lang="en-GB" b="1" u="sng" dirty="0">
                <a:solidFill>
                  <a:srgbClr val="C00000"/>
                </a:solidFill>
              </a:rPr>
              <a:t>Broadcast –</a:t>
            </a:r>
          </a:p>
          <a:p>
            <a:pPr>
              <a:buFontTx/>
              <a:buChar char="-"/>
            </a:pPr>
            <a:r>
              <a:rPr lang="en-GB" sz="2400" dirty="0">
                <a:solidFill>
                  <a:srgbClr val="0070C0"/>
                </a:solidFill>
              </a:rPr>
              <a:t>This type of information transfer is useful when there is a participation of single sender and all recipient.  </a:t>
            </a:r>
          </a:p>
          <a:p>
            <a:pPr>
              <a:buFontTx/>
              <a:buChar char="-"/>
            </a:pPr>
            <a:r>
              <a:rPr lang="en-GB" sz="2400" dirty="0">
                <a:solidFill>
                  <a:srgbClr val="0070C0"/>
                </a:solidFill>
              </a:rPr>
              <a:t>So, in short you can term it as a one-to- all transmission. 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03" y="2291524"/>
            <a:ext cx="63722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10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246888"/>
            <a:ext cx="11640312" cy="6355080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>
                <a:solidFill>
                  <a:srgbClr val="C00000"/>
                </a:solidFill>
              </a:rPr>
              <a:t>3</a:t>
            </a:r>
            <a:r>
              <a:rPr lang="en-GB" b="1" dirty="0">
                <a:solidFill>
                  <a:srgbClr val="C00000"/>
                </a:solidFill>
              </a:rPr>
              <a:t>. </a:t>
            </a:r>
            <a:r>
              <a:rPr lang="en-GB" b="1" u="sng" dirty="0">
                <a:solidFill>
                  <a:srgbClr val="C00000"/>
                </a:solidFill>
              </a:rPr>
              <a:t>Multicast –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- </a:t>
            </a:r>
            <a:r>
              <a:rPr lang="en-GB" sz="2400" dirty="0">
                <a:solidFill>
                  <a:srgbClr val="0070C0"/>
                </a:solidFill>
              </a:rPr>
              <a:t>In multicasting, one/more senders and one/more recipients participate in data transfer traffic</a:t>
            </a:r>
            <a:r>
              <a:rPr lang="en-GB" sz="2400" dirty="0" smtClean="0">
                <a:solidFill>
                  <a:srgbClr val="0070C0"/>
                </a:solidFill>
              </a:rPr>
              <a:t>.</a:t>
            </a:r>
            <a:endParaRPr lang="en-GB" sz="2400" dirty="0">
              <a:solidFill>
                <a:srgbClr val="0070C0"/>
              </a:solidFill>
            </a:endParaRPr>
          </a:p>
          <a:p>
            <a:pPr>
              <a:buFontTx/>
              <a:buChar char="-"/>
            </a:pPr>
            <a:r>
              <a:rPr lang="en-GB" sz="2400" dirty="0">
                <a:solidFill>
                  <a:srgbClr val="0070C0"/>
                </a:solidFill>
              </a:rPr>
              <a:t>So, in short you can term it as a one-to- group or selected transmission.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24" y="2231517"/>
            <a:ext cx="64293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03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978" y="1370965"/>
            <a:ext cx="10515600" cy="1325563"/>
          </a:xfrm>
        </p:spPr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978" y="1508760"/>
            <a:ext cx="10809668" cy="3794760"/>
          </a:xfrm>
          <a:ln w="381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Components required for establishing </a:t>
            </a:r>
            <a:r>
              <a:rPr lang="en-GB" b="1" dirty="0" smtClean="0">
                <a:solidFill>
                  <a:srgbClr val="FF0000"/>
                </a:solidFill>
              </a:rPr>
              <a:t>network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rgbClr val="002060"/>
                </a:solidFill>
              </a:rPr>
              <a:t>End </a:t>
            </a:r>
            <a:r>
              <a:rPr lang="en-GB" b="1" dirty="0">
                <a:solidFill>
                  <a:srgbClr val="002060"/>
                </a:solidFill>
              </a:rPr>
              <a:t>devices with NIC and </a:t>
            </a:r>
            <a:r>
              <a:rPr lang="en-GB" b="1" dirty="0" smtClean="0">
                <a:solidFill>
                  <a:srgbClr val="002060"/>
                </a:solidFill>
              </a:rPr>
              <a:t>NOS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rgbClr val="002060"/>
                </a:solidFill>
              </a:rPr>
              <a:t>Media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rgbClr val="002060"/>
                </a:solidFill>
              </a:rPr>
              <a:t>Networking </a:t>
            </a:r>
            <a:r>
              <a:rPr lang="en-GB" b="1" dirty="0" smtClean="0">
                <a:solidFill>
                  <a:srgbClr val="002060"/>
                </a:solidFill>
              </a:rPr>
              <a:t>devices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rgbClr val="002060"/>
                </a:solidFill>
              </a:rPr>
              <a:t>Protocol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81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384</Words>
  <Application>Microsoft Office PowerPoint</Application>
  <PresentationFormat>Widescreen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 </vt:lpstr>
      <vt:lpstr>  </vt:lpstr>
      <vt:lpstr>  </vt:lpstr>
      <vt:lpstr>  </vt:lpstr>
      <vt:lpstr> 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Network  What is a Network? Network is an interconnection of network enabled devices. OR Network is a collection of devices for sharing of resources and for communication purpose. Here, Sharing of Resources means to share the objects that are available simultaneously to everyone connecting together. Example: Documents, Internet etc.   Advantages of network  Communication is faster and easier.  Cost effective.  No size limitation. Disadvantages of Network  Security should be integrated over the network.  </dc:title>
  <dc:creator>Pawan Kumar</dc:creator>
  <cp:lastModifiedBy>PaWaN</cp:lastModifiedBy>
  <cp:revision>31</cp:revision>
  <dcterms:created xsi:type="dcterms:W3CDTF">2020-04-09T06:00:24Z</dcterms:created>
  <dcterms:modified xsi:type="dcterms:W3CDTF">2021-12-16T09:11:21Z</dcterms:modified>
</cp:coreProperties>
</file>