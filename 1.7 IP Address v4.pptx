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4" r:id="rId8"/>
    <p:sldId id="265" r:id="rId9"/>
    <p:sldId id="263" r:id="rId10"/>
    <p:sldId id="262" r:id="rId11"/>
    <p:sldId id="261" r:id="rId12"/>
    <p:sldId id="266" r:id="rId13"/>
    <p:sldId id="268" r:id="rId14"/>
    <p:sldId id="292" r:id="rId15"/>
    <p:sldId id="270" r:id="rId16"/>
    <p:sldId id="269" r:id="rId17"/>
    <p:sldId id="267" r:id="rId18"/>
    <p:sldId id="272" r:id="rId19"/>
    <p:sldId id="273" r:id="rId20"/>
    <p:sldId id="274" r:id="rId21"/>
    <p:sldId id="275" r:id="rId22"/>
    <p:sldId id="276" r:id="rId23"/>
    <p:sldId id="293" r:id="rId24"/>
    <p:sldId id="294" r:id="rId25"/>
    <p:sldId id="279" r:id="rId26"/>
    <p:sldId id="278" r:id="rId27"/>
    <p:sldId id="280" r:id="rId28"/>
    <p:sldId id="284" r:id="rId29"/>
    <p:sldId id="285" r:id="rId30"/>
    <p:sldId id="287" r:id="rId31"/>
    <p:sldId id="288" r:id="rId32"/>
    <p:sldId id="289" r:id="rId33"/>
    <p:sldId id="290" r:id="rId34"/>
    <p:sldId id="29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24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DC391B9-F6E2-4B34-8E59-A6FB261EE8A3}" type="datetimeFigureOut">
              <a:rPr lang="en-IN" smtClean="0"/>
              <a:t>03-01-2022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C196AC9-CDA7-49DB-8DE5-834DE05038C5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59994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391B9-F6E2-4B34-8E59-A6FB261EE8A3}" type="datetimeFigureOut">
              <a:rPr lang="en-IN" smtClean="0"/>
              <a:t>03-01-2022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6AC9-CDA7-49DB-8DE5-834DE050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12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DC391B9-F6E2-4B34-8E59-A6FB261EE8A3}" type="datetimeFigureOut">
              <a:rPr lang="en-IN" smtClean="0"/>
              <a:t>03-01-2022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C196AC9-CDA7-49DB-8DE5-834DE05038C5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81307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391B9-F6E2-4B34-8E59-A6FB261EE8A3}" type="datetimeFigureOut">
              <a:rPr lang="en-IN" smtClean="0"/>
              <a:t>03-01-2022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6AC9-CDA7-49DB-8DE5-834DE050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34338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391B9-F6E2-4B34-8E59-A6FB261EE8A3}" type="datetimeFigureOut">
              <a:rPr lang="en-IN" smtClean="0"/>
              <a:t>03-01-2022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6AC9-CDA7-49DB-8DE5-834DE050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62881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391B9-F6E2-4B34-8E59-A6FB261EE8A3}" type="datetimeFigureOut">
              <a:rPr lang="en-IN" smtClean="0"/>
              <a:t>03-01-2022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6AC9-CDA7-49DB-8DE5-834DE050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67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391B9-F6E2-4B34-8E59-A6FB261EE8A3}" type="datetimeFigureOut">
              <a:rPr lang="en-IN" smtClean="0"/>
              <a:t>03-01-2022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6AC9-CDA7-49DB-8DE5-834DE050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742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2DC391B9-F6E2-4B34-8E59-A6FB261EE8A3}" type="datetimeFigureOut">
              <a:rPr lang="en-IN" smtClean="0"/>
              <a:t>03-01-2022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BC196AC9-CDA7-49DB-8DE5-834DE05038C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117016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2DC391B9-F6E2-4B34-8E59-A6FB261EE8A3}" type="datetimeFigureOut">
              <a:rPr lang="en-IN" smtClean="0"/>
              <a:t>03-01-2022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BC196AC9-CDA7-49DB-8DE5-834DE050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850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391B9-F6E2-4B34-8E59-A6FB261EE8A3}" type="datetimeFigureOut">
              <a:rPr lang="en-IN" smtClean="0"/>
              <a:t>03-01-2022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6AC9-CDA7-49DB-8DE5-834DE050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626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391B9-F6E2-4B34-8E59-A6FB261EE8A3}" type="datetimeFigureOut">
              <a:rPr lang="en-IN" smtClean="0"/>
              <a:t>03-01-2022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6AC9-CDA7-49DB-8DE5-834DE050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31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DC391B9-F6E2-4B34-8E59-A6FB261EE8A3}" type="datetimeFigureOut">
              <a:rPr lang="en-IN" smtClean="0"/>
              <a:t>03-01-2022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C196AC9-CDA7-49DB-8DE5-834DE05038C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2189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ln w="76200">
            <a:solidFill>
              <a:schemeClr val="tx1"/>
            </a:solidFill>
          </a:ln>
        </p:spPr>
        <p:txBody>
          <a:bodyPr/>
          <a:lstStyle/>
          <a:p>
            <a:r>
              <a:rPr lang="en-IN" sz="7200" b="1" u="sng" dirty="0" smtClean="0">
                <a:latin typeface="Arial Black" panose="020B0A04020102020204" pitchFamily="34" charset="0"/>
              </a:rPr>
              <a:t>IP ADDRESSING</a:t>
            </a:r>
            <a:br>
              <a:rPr lang="en-IN" sz="7200" b="1" u="sng" dirty="0" smtClean="0">
                <a:latin typeface="Arial Black" panose="020B0A04020102020204" pitchFamily="34" charset="0"/>
              </a:rPr>
            </a:br>
            <a:r>
              <a:rPr lang="en-IN" sz="8800" b="1" dirty="0">
                <a:solidFill>
                  <a:srgbClr val="C00000"/>
                </a:solidFill>
                <a:latin typeface="Arial Black" panose="020B0A04020102020204" pitchFamily="34" charset="0"/>
              </a:rPr>
              <a:t>v</a:t>
            </a:r>
            <a:r>
              <a:rPr lang="en-IN" sz="88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4</a:t>
            </a:r>
            <a:endParaRPr lang="en-IN" sz="8800" b="1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375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544" y="758953"/>
            <a:ext cx="10927080" cy="5797295"/>
          </a:xfrm>
        </p:spPr>
        <p:txBody>
          <a:bodyPr>
            <a:normAutofit/>
          </a:bodyPr>
          <a:lstStyle/>
          <a:p>
            <a:r>
              <a:rPr lang="en-IN" b="1" dirty="0" smtClean="0">
                <a:solidFill>
                  <a:srgbClr val="002060"/>
                </a:solidFill>
              </a:rPr>
              <a:t>It is an unique address which is used to identify a machine individually.</a:t>
            </a:r>
          </a:p>
          <a:p>
            <a:r>
              <a:rPr lang="en-IN" b="1" dirty="0" smtClean="0">
                <a:solidFill>
                  <a:srgbClr val="002060"/>
                </a:solidFill>
              </a:rPr>
              <a:t>It is of 32-bit &amp; divided into 4 octets.</a:t>
            </a:r>
          </a:p>
          <a:p>
            <a:r>
              <a:rPr lang="en-IN" b="1" dirty="0" smtClean="0">
                <a:solidFill>
                  <a:srgbClr val="002060"/>
                </a:solidFill>
              </a:rPr>
              <a:t>It is written into decimal dotted notation i.e.  </a:t>
            </a:r>
            <a:r>
              <a:rPr lang="en-IN" b="1" dirty="0" smtClean="0">
                <a:solidFill>
                  <a:srgbClr val="FF0000"/>
                </a:solidFill>
              </a:rPr>
              <a:t>w.x.y.z</a:t>
            </a:r>
          </a:p>
          <a:p>
            <a:r>
              <a:rPr lang="en-IN" b="1" dirty="0" smtClean="0">
                <a:solidFill>
                  <a:srgbClr val="002060"/>
                </a:solidFill>
              </a:rPr>
              <a:t>It has been divided into number of classes i.e. Class A, Class B, Class C, Class D &amp; Class E.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r>
              <a:rPr lang="en-IN" b="1" dirty="0" smtClean="0">
                <a:solidFill>
                  <a:srgbClr val="002060"/>
                </a:solidFill>
              </a:rPr>
              <a:t>Note </a:t>
            </a:r>
            <a:r>
              <a:rPr lang="en-IN" b="1" dirty="0">
                <a:solidFill>
                  <a:srgbClr val="002060"/>
                </a:solidFill>
              </a:rPr>
              <a:t>:  &gt; Class A, Class B &amp; Class C is used for device addressing.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           </a:t>
            </a:r>
            <a:r>
              <a:rPr lang="en-IN" b="1" dirty="0" smtClean="0">
                <a:solidFill>
                  <a:srgbClr val="002060"/>
                </a:solidFill>
              </a:rPr>
              <a:t> &gt; </a:t>
            </a:r>
            <a:r>
              <a:rPr lang="en-IN" b="1" dirty="0">
                <a:solidFill>
                  <a:srgbClr val="002060"/>
                </a:solidFill>
              </a:rPr>
              <a:t>Class D is used for Multicasting.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           </a:t>
            </a:r>
            <a:r>
              <a:rPr lang="en-IN" b="1" dirty="0" smtClean="0">
                <a:solidFill>
                  <a:srgbClr val="002060"/>
                </a:solidFill>
              </a:rPr>
              <a:t> &gt; </a:t>
            </a:r>
            <a:r>
              <a:rPr lang="en-IN" b="1" dirty="0">
                <a:solidFill>
                  <a:srgbClr val="002060"/>
                </a:solidFill>
              </a:rPr>
              <a:t>Class E is used for Scientific research.</a:t>
            </a:r>
          </a:p>
          <a:p>
            <a:pPr marL="0" indent="0">
              <a:buNone/>
            </a:pPr>
            <a:endParaRPr lang="en-IN" b="1" dirty="0" smtClean="0">
              <a:solidFill>
                <a:srgbClr val="002060"/>
              </a:solidFill>
            </a:endParaRPr>
          </a:p>
          <a:p>
            <a:r>
              <a:rPr lang="en-IN" b="1" dirty="0" smtClean="0">
                <a:solidFill>
                  <a:srgbClr val="002060"/>
                </a:solidFill>
              </a:rPr>
              <a:t>There are two types of IP Address </a:t>
            </a:r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1. Classful IP Address   – It follow classful rule.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r>
              <a:rPr lang="en-IN" b="1" dirty="0" smtClean="0">
                <a:solidFill>
                  <a:srgbClr val="002060"/>
                </a:solidFill>
              </a:rPr>
              <a:t>2. Classless IP Address – It do not follow classful rule.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endParaRPr lang="en-IN" b="1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48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822" y="426442"/>
            <a:ext cx="10178322" cy="1492132"/>
          </a:xfrm>
        </p:spPr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3080" y="426442"/>
            <a:ext cx="8668512" cy="5961887"/>
          </a:xfrm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b="1" u="sng" dirty="0" smtClean="0">
                <a:solidFill>
                  <a:srgbClr val="002060"/>
                </a:solidFill>
              </a:rPr>
              <a:t>Classful Rule For Class A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First octet first bit always ‘0’.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Network Part = 8-bit, Host Part = 24-bit.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Subnet Mask Always 255.0.0.0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----------------------------------------------------------------------------------------------------</a:t>
            </a:r>
          </a:p>
          <a:p>
            <a:r>
              <a:rPr lang="en-IN" b="1" u="sng" dirty="0">
                <a:solidFill>
                  <a:srgbClr val="002060"/>
                </a:solidFill>
              </a:rPr>
              <a:t>Classful Rule For Class </a:t>
            </a:r>
            <a:r>
              <a:rPr lang="en-IN" b="1" u="sng" dirty="0" smtClean="0">
                <a:solidFill>
                  <a:srgbClr val="002060"/>
                </a:solidFill>
              </a:rPr>
              <a:t>B</a:t>
            </a:r>
            <a:endParaRPr lang="en-IN" b="1" u="sng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First </a:t>
            </a:r>
            <a:r>
              <a:rPr lang="en-IN" b="1" dirty="0">
                <a:solidFill>
                  <a:srgbClr val="002060"/>
                </a:solidFill>
              </a:rPr>
              <a:t>octet first </a:t>
            </a:r>
            <a:r>
              <a:rPr lang="en-IN" b="1" dirty="0" smtClean="0">
                <a:solidFill>
                  <a:srgbClr val="002060"/>
                </a:solidFill>
              </a:rPr>
              <a:t>two bit </a:t>
            </a:r>
            <a:r>
              <a:rPr lang="en-IN" b="1" dirty="0">
                <a:solidFill>
                  <a:srgbClr val="002060"/>
                </a:solidFill>
              </a:rPr>
              <a:t>always </a:t>
            </a:r>
            <a:r>
              <a:rPr lang="en-IN" b="1" dirty="0" smtClean="0">
                <a:solidFill>
                  <a:srgbClr val="002060"/>
                </a:solidFill>
              </a:rPr>
              <a:t>‘10</a:t>
            </a:r>
            <a:r>
              <a:rPr lang="en-IN" b="1" dirty="0">
                <a:solidFill>
                  <a:srgbClr val="002060"/>
                </a:solidFill>
              </a:rPr>
              <a:t>’.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Network </a:t>
            </a:r>
            <a:r>
              <a:rPr lang="en-IN" b="1" dirty="0">
                <a:solidFill>
                  <a:srgbClr val="002060"/>
                </a:solidFill>
              </a:rPr>
              <a:t>Part = </a:t>
            </a:r>
            <a:r>
              <a:rPr lang="en-IN" b="1" dirty="0" smtClean="0">
                <a:solidFill>
                  <a:srgbClr val="002060"/>
                </a:solidFill>
              </a:rPr>
              <a:t>16-bit</a:t>
            </a:r>
            <a:r>
              <a:rPr lang="en-IN" b="1" dirty="0">
                <a:solidFill>
                  <a:srgbClr val="002060"/>
                </a:solidFill>
              </a:rPr>
              <a:t>, Host Part = </a:t>
            </a:r>
            <a:r>
              <a:rPr lang="en-IN" b="1" dirty="0" smtClean="0">
                <a:solidFill>
                  <a:srgbClr val="002060"/>
                </a:solidFill>
              </a:rPr>
              <a:t>16-bit</a:t>
            </a:r>
            <a:r>
              <a:rPr lang="en-IN" b="1" dirty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r>
              <a:rPr lang="en-IN" b="1" dirty="0" smtClean="0">
                <a:solidFill>
                  <a:srgbClr val="002060"/>
                </a:solidFill>
              </a:rPr>
              <a:t>- Subnet </a:t>
            </a:r>
            <a:r>
              <a:rPr lang="en-IN" b="1" dirty="0">
                <a:solidFill>
                  <a:srgbClr val="002060"/>
                </a:solidFill>
              </a:rPr>
              <a:t>Mask Always </a:t>
            </a:r>
            <a:r>
              <a:rPr lang="en-IN" b="1" dirty="0" smtClean="0">
                <a:solidFill>
                  <a:srgbClr val="002060"/>
                </a:solidFill>
              </a:rPr>
              <a:t>255.255.0.0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----------------------------------------------------------------------------------------------------</a:t>
            </a:r>
          </a:p>
          <a:p>
            <a:r>
              <a:rPr lang="en-IN" b="1" u="sng" dirty="0">
                <a:solidFill>
                  <a:srgbClr val="002060"/>
                </a:solidFill>
              </a:rPr>
              <a:t>Classful Rule For Class </a:t>
            </a:r>
            <a:r>
              <a:rPr lang="en-IN" b="1" u="sng" dirty="0" smtClean="0">
                <a:solidFill>
                  <a:srgbClr val="002060"/>
                </a:solidFill>
              </a:rPr>
              <a:t>C</a:t>
            </a:r>
            <a:endParaRPr lang="en-IN" b="1" u="sng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First </a:t>
            </a:r>
            <a:r>
              <a:rPr lang="en-IN" b="1" dirty="0">
                <a:solidFill>
                  <a:srgbClr val="002060"/>
                </a:solidFill>
              </a:rPr>
              <a:t>octet first </a:t>
            </a:r>
            <a:r>
              <a:rPr lang="en-IN" b="1" dirty="0" smtClean="0">
                <a:solidFill>
                  <a:srgbClr val="002060"/>
                </a:solidFill>
              </a:rPr>
              <a:t>three bit </a:t>
            </a:r>
            <a:r>
              <a:rPr lang="en-IN" b="1" dirty="0">
                <a:solidFill>
                  <a:srgbClr val="002060"/>
                </a:solidFill>
              </a:rPr>
              <a:t>always </a:t>
            </a:r>
            <a:r>
              <a:rPr lang="en-IN" b="1" dirty="0" smtClean="0">
                <a:solidFill>
                  <a:srgbClr val="002060"/>
                </a:solidFill>
              </a:rPr>
              <a:t>‘110</a:t>
            </a:r>
            <a:r>
              <a:rPr lang="en-IN" b="1" dirty="0">
                <a:solidFill>
                  <a:srgbClr val="002060"/>
                </a:solidFill>
              </a:rPr>
              <a:t>’.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Network </a:t>
            </a:r>
            <a:r>
              <a:rPr lang="en-IN" b="1" dirty="0">
                <a:solidFill>
                  <a:srgbClr val="002060"/>
                </a:solidFill>
              </a:rPr>
              <a:t>Part = </a:t>
            </a:r>
            <a:r>
              <a:rPr lang="en-IN" b="1" dirty="0" smtClean="0">
                <a:solidFill>
                  <a:srgbClr val="002060"/>
                </a:solidFill>
              </a:rPr>
              <a:t>24-bit</a:t>
            </a:r>
            <a:r>
              <a:rPr lang="en-IN" b="1" dirty="0">
                <a:solidFill>
                  <a:srgbClr val="002060"/>
                </a:solidFill>
              </a:rPr>
              <a:t>, Host Part = 8</a:t>
            </a:r>
            <a:r>
              <a:rPr lang="en-IN" b="1" dirty="0" smtClean="0">
                <a:solidFill>
                  <a:srgbClr val="002060"/>
                </a:solidFill>
              </a:rPr>
              <a:t>-bit</a:t>
            </a:r>
            <a:r>
              <a:rPr lang="en-IN" b="1" dirty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Subnet </a:t>
            </a:r>
            <a:r>
              <a:rPr lang="en-IN" b="1" dirty="0">
                <a:solidFill>
                  <a:srgbClr val="002060"/>
                </a:solidFill>
              </a:rPr>
              <a:t>Mask Always </a:t>
            </a:r>
            <a:r>
              <a:rPr lang="en-IN" b="1" dirty="0" smtClean="0">
                <a:solidFill>
                  <a:srgbClr val="002060"/>
                </a:solidFill>
              </a:rPr>
              <a:t>255.255.255.0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578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8526" y="382385"/>
            <a:ext cx="10178322" cy="6054991"/>
          </a:xfrm>
        </p:spPr>
        <p:txBody>
          <a:bodyPr>
            <a:normAutofit lnSpcReduction="10000"/>
          </a:bodyPr>
          <a:lstStyle/>
          <a:p>
            <a:r>
              <a:rPr lang="en-IN" b="1" dirty="0" smtClean="0">
                <a:solidFill>
                  <a:srgbClr val="002060"/>
                </a:solidFill>
              </a:rPr>
              <a:t>IP Address is of two part : IP Address = Network Part + Host Part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Where,		- </a:t>
            </a:r>
            <a:r>
              <a:rPr lang="en-IN" b="1" dirty="0">
                <a:solidFill>
                  <a:srgbClr val="002060"/>
                </a:solidFill>
              </a:rPr>
              <a:t>Network P</a:t>
            </a:r>
            <a:r>
              <a:rPr lang="en-IN" b="1" dirty="0" smtClean="0">
                <a:solidFill>
                  <a:srgbClr val="002060"/>
                </a:solidFill>
              </a:rPr>
              <a:t>art integrate multiple host addresses.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	- Host Part identify an individual machine.</a:t>
            </a:r>
          </a:p>
          <a:p>
            <a:pPr marL="0" indent="0">
              <a:buNone/>
            </a:pPr>
            <a:endParaRPr lang="en-IN" b="1" dirty="0" smtClean="0">
              <a:solidFill>
                <a:srgbClr val="002060"/>
              </a:solidFill>
            </a:endParaRPr>
          </a:p>
          <a:p>
            <a:r>
              <a:rPr lang="en-IN" b="1" dirty="0" smtClean="0">
                <a:solidFill>
                  <a:srgbClr val="002060"/>
                </a:solidFill>
              </a:rPr>
              <a:t>Subnet Mask – It is used to identify network bit &amp; host bit in an IP Address.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For Ex.	SM = 255.0.0.0  i.e. 11111111.00000000.00000000.00000000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Where,   1 = On bit means belong to Network Part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                0 = Off bit means belong to Host Part </a:t>
            </a:r>
          </a:p>
          <a:p>
            <a:pPr marL="0" indent="0">
              <a:buNone/>
            </a:pPr>
            <a:endParaRPr lang="en-IN" b="1" dirty="0" smtClean="0">
              <a:solidFill>
                <a:srgbClr val="002060"/>
              </a:solidFill>
            </a:endParaRPr>
          </a:p>
          <a:p>
            <a:r>
              <a:rPr lang="en-IN" b="1" dirty="0" smtClean="0">
                <a:solidFill>
                  <a:srgbClr val="002060"/>
                </a:solidFill>
              </a:rPr>
              <a:t>Octet Range vary between 0 to 255.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00000000 = 0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11111111 = 255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So In the above example 8 bit is n/w part &amp; 24 bit is host part.</a:t>
            </a:r>
          </a:p>
          <a:p>
            <a:pPr marL="0" indent="0">
              <a:buNone/>
            </a:pPr>
            <a:endParaRPr lang="en-IN" b="1" dirty="0" smtClean="0">
              <a:solidFill>
                <a:srgbClr val="002060"/>
              </a:solidFill>
            </a:endParaRPr>
          </a:p>
          <a:p>
            <a:r>
              <a:rPr lang="en-IN" b="1" dirty="0" smtClean="0">
                <a:solidFill>
                  <a:srgbClr val="002060"/>
                </a:solidFill>
              </a:rPr>
              <a:t>Likewise, If SM = 255.255.255.0, then N/W Part = 24-bit,  Host Part = 8-bit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724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2734" y="521209"/>
            <a:ext cx="6173250" cy="5385816"/>
          </a:xfrm>
          <a:ln w="28575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r>
              <a:rPr lang="en-IN" b="1" dirty="0" smtClean="0">
                <a:solidFill>
                  <a:srgbClr val="002060"/>
                </a:solidFill>
              </a:rPr>
              <a:t>Value of octet according to off bit &amp; on bit</a:t>
            </a:r>
          </a:p>
          <a:p>
            <a:r>
              <a:rPr lang="en-IN" b="1" dirty="0" smtClean="0">
                <a:solidFill>
                  <a:srgbClr val="002060"/>
                </a:solidFill>
              </a:rPr>
              <a:t>It applicable is for all octet.</a:t>
            </a:r>
          </a:p>
          <a:p>
            <a:pPr marL="0" indent="0">
              <a:buNone/>
            </a:pPr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00000000 – 0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10000000 – 128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11000000 – 192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11100000 – 224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11110000 – 240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11111000 – 248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11111100 – 252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11111110 – 254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11111111 – 255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 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685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135497"/>
            <a:ext cx="9529098" cy="550303"/>
          </a:xfrm>
        </p:spPr>
        <p:txBody>
          <a:bodyPr>
            <a:normAutofit/>
          </a:bodyPr>
          <a:lstStyle/>
          <a:p>
            <a:pPr algn="ctr"/>
            <a:r>
              <a:rPr lang="en-IN" sz="2400" u="sng" cap="none" dirty="0" smtClean="0"/>
              <a:t>Identifying Range, No. Of Network &amp; No. Of Host per Network</a:t>
            </a:r>
            <a:endParaRPr lang="en-IN" sz="2400" u="sng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8526" y="996697"/>
            <a:ext cx="10178322" cy="55229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			</a:t>
            </a:r>
            <a:r>
              <a:rPr lang="en-IN" sz="2600" b="1" u="sng" dirty="0" smtClean="0">
                <a:solidFill>
                  <a:srgbClr val="002060"/>
                </a:solidFill>
              </a:rPr>
              <a:t>Class A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1. Range :  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Write first octet two times &amp; reserve the bit according to first classful rule.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Make rest of bit firstly zero &amp; then all one.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r>
              <a:rPr lang="en-IN" b="1" dirty="0" smtClean="0">
                <a:solidFill>
                  <a:srgbClr val="002060"/>
                </a:solidFill>
              </a:rPr>
              <a:t>- Then convert into decimal.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00000000		0  0000000		0  0000000 = 0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00000000		0  0000000		0  1111111 = 127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So, Range = 0 to 127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Where,		0 = Invalid    &amp;    127 = Reserved for Loopback address</a:t>
            </a:r>
          </a:p>
          <a:p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2. No. Of Network  = </a:t>
            </a:r>
            <a:r>
              <a:rPr lang="en-IN" b="1" dirty="0">
                <a:solidFill>
                  <a:srgbClr val="002060"/>
                </a:solidFill>
              </a:rPr>
              <a:t>2</a:t>
            </a:r>
            <a:r>
              <a:rPr lang="en-IN" sz="2600" b="1" baseline="30000" dirty="0">
                <a:solidFill>
                  <a:srgbClr val="002060"/>
                </a:solidFill>
              </a:rPr>
              <a:t>n </a:t>
            </a:r>
            <a:r>
              <a:rPr lang="en-IN" sz="2100" b="1" dirty="0" smtClean="0">
                <a:solidFill>
                  <a:srgbClr val="002060"/>
                </a:solidFill>
              </a:rPr>
              <a:t>		Where,  n = Total n/w bit – reserved bit  i.e.  8 – 1 = 7</a:t>
            </a:r>
          </a:p>
          <a:p>
            <a:pPr marL="0" indent="0">
              <a:buNone/>
            </a:pPr>
            <a:r>
              <a:rPr lang="en-IN" sz="2100" b="1" dirty="0" smtClean="0">
                <a:solidFill>
                  <a:srgbClr val="002060"/>
                </a:solidFill>
              </a:rPr>
              <a:t>		</a:t>
            </a:r>
            <a:r>
              <a:rPr lang="en-IN" sz="2100" b="1" dirty="0">
                <a:solidFill>
                  <a:srgbClr val="002060"/>
                </a:solidFill>
              </a:rPr>
              <a:t> </a:t>
            </a:r>
            <a:r>
              <a:rPr lang="en-IN" sz="2400" b="1" dirty="0" smtClean="0">
                <a:solidFill>
                  <a:srgbClr val="002060"/>
                </a:solidFill>
              </a:rPr>
              <a:t>2</a:t>
            </a:r>
            <a:r>
              <a:rPr lang="en-IN" sz="2600" b="1" baseline="30000" dirty="0" smtClean="0">
                <a:solidFill>
                  <a:srgbClr val="002060"/>
                </a:solidFill>
              </a:rPr>
              <a:t>7</a:t>
            </a:r>
            <a:r>
              <a:rPr lang="en-IN" sz="2100" b="1" dirty="0" smtClean="0">
                <a:solidFill>
                  <a:srgbClr val="002060"/>
                </a:solidFill>
              </a:rPr>
              <a:t> = 128</a:t>
            </a:r>
          </a:p>
          <a:p>
            <a:pPr marL="0" indent="0">
              <a:buNone/>
            </a:pPr>
            <a:endParaRPr lang="en-IN" sz="2100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sz="2100" b="1" dirty="0" smtClean="0">
                <a:solidFill>
                  <a:srgbClr val="002060"/>
                </a:solidFill>
              </a:rPr>
              <a:t>3. No. of Host / Network = </a:t>
            </a:r>
            <a:r>
              <a:rPr lang="en-IN" sz="2400" b="1" dirty="0">
                <a:solidFill>
                  <a:srgbClr val="002060"/>
                </a:solidFill>
              </a:rPr>
              <a:t>2</a:t>
            </a:r>
            <a:r>
              <a:rPr lang="en-IN" sz="3200" b="1" baseline="30000" dirty="0">
                <a:solidFill>
                  <a:srgbClr val="002060"/>
                </a:solidFill>
              </a:rPr>
              <a:t>n</a:t>
            </a:r>
            <a:r>
              <a:rPr lang="en-IN" sz="2100" b="1" dirty="0" smtClean="0">
                <a:solidFill>
                  <a:srgbClr val="002060"/>
                </a:solidFill>
              </a:rPr>
              <a:t> - 2		Where,  n = Total off bit</a:t>
            </a:r>
          </a:p>
          <a:p>
            <a:pPr marL="0" indent="0">
              <a:buNone/>
            </a:pPr>
            <a:r>
              <a:rPr lang="en-IN" sz="2100" b="1" dirty="0" smtClean="0">
                <a:solidFill>
                  <a:srgbClr val="002060"/>
                </a:solidFill>
              </a:rPr>
              <a:t>		 </a:t>
            </a:r>
            <a:r>
              <a:rPr lang="en-IN" sz="2400" b="1" dirty="0" smtClean="0">
                <a:solidFill>
                  <a:srgbClr val="002060"/>
                </a:solidFill>
              </a:rPr>
              <a:t>2</a:t>
            </a:r>
            <a:r>
              <a:rPr lang="en-IN" sz="3200" b="1" baseline="30000" dirty="0" smtClean="0">
                <a:solidFill>
                  <a:srgbClr val="002060"/>
                </a:solidFill>
              </a:rPr>
              <a:t>24</a:t>
            </a:r>
            <a:r>
              <a:rPr lang="en-IN" sz="2100" b="1" dirty="0" smtClean="0">
                <a:solidFill>
                  <a:srgbClr val="002060"/>
                </a:solidFill>
              </a:rPr>
              <a:t> -2 = 16777214</a:t>
            </a:r>
            <a:r>
              <a:rPr lang="en-IN" sz="1500" b="1" dirty="0" smtClean="0">
                <a:solidFill>
                  <a:srgbClr val="002060"/>
                </a:solidFill>
              </a:rPr>
              <a:t> </a:t>
            </a:r>
          </a:p>
          <a:p>
            <a:pPr lvl="3"/>
            <a:endParaRPr lang="en-IN" sz="1500" b="1" dirty="0" smtClean="0">
              <a:solidFill>
                <a:srgbClr val="00206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5084064" y="2798064"/>
            <a:ext cx="18288" cy="73152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7833360" y="2816352"/>
            <a:ext cx="18288" cy="73152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034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135497"/>
            <a:ext cx="9529098" cy="550303"/>
          </a:xfrm>
        </p:spPr>
        <p:txBody>
          <a:bodyPr>
            <a:normAutofit/>
          </a:bodyPr>
          <a:lstStyle/>
          <a:p>
            <a:pPr algn="ctr"/>
            <a:r>
              <a:rPr lang="en-IN" sz="2400" u="sng" cap="none" dirty="0" smtClean="0"/>
              <a:t>Identifying Range, N0. Of Network &amp; No. Of Host per Network</a:t>
            </a:r>
            <a:endParaRPr lang="en-IN" sz="2400" u="sng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104" y="996697"/>
            <a:ext cx="11292840" cy="5522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			</a:t>
            </a:r>
            <a:r>
              <a:rPr lang="en-IN" b="1" u="sng" dirty="0" smtClean="0">
                <a:solidFill>
                  <a:srgbClr val="002060"/>
                </a:solidFill>
              </a:rPr>
              <a:t>Class B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1. Range : 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r>
              <a:rPr lang="en-IN" b="1" dirty="0" smtClean="0">
                <a:solidFill>
                  <a:srgbClr val="002060"/>
                </a:solidFill>
              </a:rPr>
              <a:t>- Follow the previous method.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00000000		</a:t>
            </a:r>
            <a:r>
              <a:rPr lang="en-IN" b="1" dirty="0">
                <a:solidFill>
                  <a:srgbClr val="002060"/>
                </a:solidFill>
              </a:rPr>
              <a:t>1</a:t>
            </a:r>
            <a:r>
              <a:rPr lang="en-IN" b="1" dirty="0" smtClean="0">
                <a:solidFill>
                  <a:srgbClr val="002060"/>
                </a:solidFill>
              </a:rPr>
              <a:t>0 000000		</a:t>
            </a:r>
            <a:r>
              <a:rPr lang="en-IN" b="1" dirty="0">
                <a:solidFill>
                  <a:srgbClr val="002060"/>
                </a:solidFill>
              </a:rPr>
              <a:t>1</a:t>
            </a:r>
            <a:r>
              <a:rPr lang="en-IN" b="1" dirty="0" smtClean="0">
                <a:solidFill>
                  <a:srgbClr val="002060"/>
                </a:solidFill>
              </a:rPr>
              <a:t>0 000000 = 128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00000000		</a:t>
            </a:r>
            <a:r>
              <a:rPr lang="en-IN" b="1" dirty="0">
                <a:solidFill>
                  <a:srgbClr val="002060"/>
                </a:solidFill>
              </a:rPr>
              <a:t>1</a:t>
            </a:r>
            <a:r>
              <a:rPr lang="en-IN" b="1" dirty="0" smtClean="0">
                <a:solidFill>
                  <a:srgbClr val="002060"/>
                </a:solidFill>
              </a:rPr>
              <a:t>0 000000		10 111111 = 191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So, Range = 128 to 191</a:t>
            </a:r>
          </a:p>
          <a:p>
            <a:pPr marL="0" indent="0">
              <a:buNone/>
            </a:pPr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2. No. Of Network  =  2</a:t>
            </a:r>
            <a:r>
              <a:rPr lang="en-IN" sz="2400" b="1" baseline="30000" dirty="0" smtClean="0">
                <a:solidFill>
                  <a:srgbClr val="002060"/>
                </a:solidFill>
              </a:rPr>
              <a:t>n</a:t>
            </a:r>
            <a:r>
              <a:rPr lang="en-IN" b="1" dirty="0" smtClean="0">
                <a:solidFill>
                  <a:srgbClr val="002060"/>
                </a:solidFill>
              </a:rPr>
              <a:t>		Where,  n = Total n/w bit – reserved bit  i.e.  16 - 2 = 14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b="1" dirty="0" smtClean="0">
                <a:solidFill>
                  <a:srgbClr val="002060"/>
                </a:solidFill>
              </a:rPr>
              <a:t>    2</a:t>
            </a:r>
            <a:r>
              <a:rPr lang="en-IN" sz="2400" b="1" baseline="30000" dirty="0" smtClean="0">
                <a:solidFill>
                  <a:srgbClr val="002060"/>
                </a:solidFill>
              </a:rPr>
              <a:t>14</a:t>
            </a:r>
            <a:r>
              <a:rPr lang="en-IN" b="1" dirty="0" smtClean="0">
                <a:solidFill>
                  <a:srgbClr val="002060"/>
                </a:solidFill>
              </a:rPr>
              <a:t> = 16384</a:t>
            </a:r>
          </a:p>
          <a:p>
            <a:pPr marL="0" indent="0">
              <a:buNone/>
            </a:pPr>
            <a:endParaRPr lang="en-IN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3. No. of Host / Network = </a:t>
            </a:r>
            <a:r>
              <a:rPr lang="en-IN" b="1" dirty="0">
                <a:solidFill>
                  <a:srgbClr val="002060"/>
                </a:solidFill>
              </a:rPr>
              <a:t>2</a:t>
            </a:r>
            <a:r>
              <a:rPr lang="en-IN" sz="2400" b="1" baseline="30000" dirty="0">
                <a:solidFill>
                  <a:srgbClr val="002060"/>
                </a:solidFill>
              </a:rPr>
              <a:t>n</a:t>
            </a:r>
            <a:r>
              <a:rPr lang="en-IN" b="1" dirty="0" smtClean="0">
                <a:solidFill>
                  <a:srgbClr val="002060"/>
                </a:solidFill>
              </a:rPr>
              <a:t> - 2		Where,  n = Total off bit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                 2</a:t>
            </a:r>
            <a:r>
              <a:rPr lang="en-IN" sz="2400" b="1" baseline="30000" dirty="0" smtClean="0">
                <a:solidFill>
                  <a:srgbClr val="002060"/>
                </a:solidFill>
              </a:rPr>
              <a:t>16</a:t>
            </a:r>
            <a:r>
              <a:rPr lang="en-IN" b="1" dirty="0" smtClean="0">
                <a:solidFill>
                  <a:srgbClr val="002060"/>
                </a:solidFill>
              </a:rPr>
              <a:t> - 2 = 65534</a:t>
            </a:r>
          </a:p>
          <a:p>
            <a:pPr lvl="3"/>
            <a:endParaRPr lang="en-IN" sz="2000" b="1" dirty="0" smtClean="0">
              <a:solidFill>
                <a:srgbClr val="00206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5769864" y="2350008"/>
            <a:ext cx="18288" cy="73152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8528304" y="2350008"/>
            <a:ext cx="18288" cy="73152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814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135497"/>
            <a:ext cx="9529098" cy="550303"/>
          </a:xfrm>
        </p:spPr>
        <p:txBody>
          <a:bodyPr>
            <a:normAutofit/>
          </a:bodyPr>
          <a:lstStyle/>
          <a:p>
            <a:pPr algn="ctr"/>
            <a:r>
              <a:rPr lang="en-IN" sz="2400" u="sng" cap="none" dirty="0" smtClean="0"/>
              <a:t>   </a:t>
            </a:r>
            <a:endParaRPr lang="en-IN" sz="2400" u="sng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816" y="210313"/>
            <a:ext cx="11292840" cy="64099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			</a:t>
            </a:r>
            <a:r>
              <a:rPr lang="en-IN" b="1" u="sng" dirty="0" smtClean="0">
                <a:solidFill>
                  <a:srgbClr val="002060"/>
                </a:solidFill>
              </a:rPr>
              <a:t>Class C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1. Range : 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r>
              <a:rPr lang="en-IN" b="1" dirty="0" smtClean="0">
                <a:solidFill>
                  <a:srgbClr val="002060"/>
                </a:solidFill>
              </a:rPr>
              <a:t>- Follow the previous method.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00000000		110 00000		110 00000 = 192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00000000		110 00000		110 11111 = 223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So, Range = 192 to 223</a:t>
            </a:r>
          </a:p>
          <a:p>
            <a:pPr marL="0" indent="0">
              <a:buNone/>
            </a:pPr>
            <a:endParaRPr lang="en-IN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2. No. Of Network  =  2</a:t>
            </a:r>
            <a:r>
              <a:rPr lang="en-IN" sz="2600" b="1" baseline="30000" dirty="0" smtClean="0">
                <a:solidFill>
                  <a:srgbClr val="002060"/>
                </a:solidFill>
              </a:rPr>
              <a:t>n</a:t>
            </a:r>
            <a:r>
              <a:rPr lang="en-IN" b="1" dirty="0" smtClean="0">
                <a:solidFill>
                  <a:srgbClr val="002060"/>
                </a:solidFill>
              </a:rPr>
              <a:t>		Where,  n = Total n/w bit – reserved bit  i.e. 24 - 3 = 21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b="1" dirty="0" smtClean="0">
                <a:solidFill>
                  <a:srgbClr val="002060"/>
                </a:solidFill>
              </a:rPr>
              <a:t>    2</a:t>
            </a:r>
            <a:r>
              <a:rPr lang="en-IN" sz="2600" b="1" baseline="30000" dirty="0" smtClean="0">
                <a:solidFill>
                  <a:srgbClr val="002060"/>
                </a:solidFill>
              </a:rPr>
              <a:t>21</a:t>
            </a:r>
            <a:r>
              <a:rPr lang="en-IN" b="1" dirty="0" smtClean="0">
                <a:solidFill>
                  <a:srgbClr val="002060"/>
                </a:solidFill>
              </a:rPr>
              <a:t> = 2097152</a:t>
            </a:r>
          </a:p>
          <a:p>
            <a:pPr marL="0" indent="0">
              <a:buNone/>
            </a:pPr>
            <a:endParaRPr lang="en-IN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3. No. of Host / Network = </a:t>
            </a:r>
            <a:r>
              <a:rPr lang="en-IN" b="1" dirty="0">
                <a:solidFill>
                  <a:srgbClr val="002060"/>
                </a:solidFill>
              </a:rPr>
              <a:t>2</a:t>
            </a:r>
            <a:r>
              <a:rPr lang="en-IN" sz="2600" b="1" baseline="30000" dirty="0">
                <a:solidFill>
                  <a:srgbClr val="002060"/>
                </a:solidFill>
              </a:rPr>
              <a:t>n</a:t>
            </a:r>
            <a:r>
              <a:rPr lang="en-IN" b="1" dirty="0" smtClean="0">
                <a:solidFill>
                  <a:srgbClr val="002060"/>
                </a:solidFill>
              </a:rPr>
              <a:t> - 2		Where,  n = Total off bit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                 2</a:t>
            </a:r>
            <a:r>
              <a:rPr lang="en-IN" sz="2600" b="1" baseline="30000" dirty="0" smtClean="0">
                <a:solidFill>
                  <a:srgbClr val="002060"/>
                </a:solidFill>
              </a:rPr>
              <a:t>8</a:t>
            </a:r>
            <a:r>
              <a:rPr lang="en-IN" b="1" dirty="0" smtClean="0">
                <a:solidFill>
                  <a:srgbClr val="002060"/>
                </a:solidFill>
              </a:rPr>
              <a:t> - 2 = 254</a:t>
            </a:r>
          </a:p>
          <a:p>
            <a:pPr marL="0" indent="0">
              <a:buNone/>
            </a:pPr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IN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Note : 	Class D = 224 to 239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r>
              <a:rPr lang="en-IN" b="1" dirty="0" smtClean="0">
                <a:solidFill>
                  <a:srgbClr val="002060"/>
                </a:solidFill>
              </a:rPr>
              <a:t>Class E = 240 to 255</a:t>
            </a:r>
          </a:p>
          <a:p>
            <a:pPr lvl="3"/>
            <a:endParaRPr lang="en-IN" sz="2000" b="1" dirty="0" smtClean="0">
              <a:solidFill>
                <a:srgbClr val="00206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5879592" y="1362456"/>
            <a:ext cx="18288" cy="73152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8619744" y="1362456"/>
            <a:ext cx="18288" cy="73152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4056888" y="1728216"/>
            <a:ext cx="923544" cy="9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7129272" y="1709928"/>
            <a:ext cx="844296" cy="182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480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468007"/>
          </a:xfrm>
        </p:spPr>
        <p:txBody>
          <a:bodyPr>
            <a:noAutofit/>
          </a:bodyPr>
          <a:lstStyle/>
          <a:p>
            <a:r>
              <a:rPr lang="en-IN" sz="2800" u="sng" dirty="0" smtClean="0">
                <a:solidFill>
                  <a:srgbClr val="002060"/>
                </a:solidFill>
              </a:rPr>
              <a:t>Sub netting</a:t>
            </a:r>
            <a:endParaRPr lang="en-IN" sz="2800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850392"/>
            <a:ext cx="10799064" cy="555955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smtClean="0">
                <a:solidFill>
                  <a:srgbClr val="002060"/>
                </a:solidFill>
              </a:rPr>
              <a:t>It is the process of dividing a large network into smaller sub network.</a:t>
            </a:r>
          </a:p>
          <a:p>
            <a:r>
              <a:rPr lang="en-IN" b="1" dirty="0" smtClean="0">
                <a:solidFill>
                  <a:srgbClr val="002060"/>
                </a:solidFill>
              </a:rPr>
              <a:t>It is done using two method :</a:t>
            </a:r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1. Fixed Length Subnet Mask ( FLSM )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</a:t>
            </a:r>
            <a:r>
              <a:rPr lang="en-IN" b="1" dirty="0" smtClean="0">
                <a:solidFill>
                  <a:srgbClr val="00B050"/>
                </a:solidFill>
              </a:rPr>
              <a:t>- In this method, all subnet have same subnet mask and no. of host as well.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2. Variable Length Subnet Mask ( VLSM )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</a:t>
            </a:r>
            <a:r>
              <a:rPr lang="en-IN" b="1" dirty="0" smtClean="0">
                <a:solidFill>
                  <a:srgbClr val="00B050"/>
                </a:solidFill>
              </a:rPr>
              <a:t>- In this method, every subnet have different subnet mask and no. of host.</a:t>
            </a:r>
          </a:p>
          <a:p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Advantage</a:t>
            </a:r>
          </a:p>
          <a:p>
            <a:r>
              <a:rPr lang="en-IN" b="1" dirty="0" smtClean="0">
                <a:solidFill>
                  <a:srgbClr val="002060"/>
                </a:solidFill>
              </a:rPr>
              <a:t>Conserve IP Address</a:t>
            </a:r>
          </a:p>
          <a:p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Disadvantage</a:t>
            </a:r>
          </a:p>
          <a:p>
            <a:pPr>
              <a:buFontTx/>
              <a:buChar char="-"/>
            </a:pPr>
            <a:r>
              <a:rPr lang="en-IN" b="1" dirty="0" smtClean="0">
                <a:solidFill>
                  <a:srgbClr val="002060"/>
                </a:solidFill>
              </a:rPr>
              <a:t>In case of single network, only three steps are required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r>
              <a:rPr lang="en-IN" b="1" dirty="0" smtClean="0">
                <a:solidFill>
                  <a:srgbClr val="00B050"/>
                </a:solidFill>
              </a:rPr>
              <a:t>&gt; Source Host - </a:t>
            </a:r>
            <a:r>
              <a:rPr lang="en-IN" b="1" dirty="0">
                <a:solidFill>
                  <a:srgbClr val="00B050"/>
                </a:solidFill>
              </a:rPr>
              <a:t>Destination </a:t>
            </a:r>
            <a:r>
              <a:rPr lang="en-IN" b="1" dirty="0" smtClean="0">
                <a:solidFill>
                  <a:srgbClr val="00B050"/>
                </a:solidFill>
              </a:rPr>
              <a:t>Network - Destination Host - Process</a:t>
            </a:r>
          </a:p>
          <a:p>
            <a:pPr>
              <a:buFontTx/>
              <a:buChar char="-"/>
            </a:pPr>
            <a:r>
              <a:rPr lang="en-IN" b="1" dirty="0">
                <a:solidFill>
                  <a:srgbClr val="002060"/>
                </a:solidFill>
              </a:rPr>
              <a:t>In case of </a:t>
            </a:r>
            <a:r>
              <a:rPr lang="en-IN" b="1" dirty="0" smtClean="0">
                <a:solidFill>
                  <a:srgbClr val="002060"/>
                </a:solidFill>
              </a:rPr>
              <a:t>subnetting four </a:t>
            </a:r>
            <a:r>
              <a:rPr lang="en-IN" b="1" dirty="0">
                <a:solidFill>
                  <a:srgbClr val="002060"/>
                </a:solidFill>
              </a:rPr>
              <a:t>steps are </a:t>
            </a:r>
            <a:r>
              <a:rPr lang="en-IN" b="1" dirty="0" smtClean="0">
                <a:solidFill>
                  <a:srgbClr val="002060"/>
                </a:solidFill>
              </a:rPr>
              <a:t>required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r>
              <a:rPr lang="en-IN" b="1" dirty="0">
                <a:solidFill>
                  <a:srgbClr val="00B050"/>
                </a:solidFill>
              </a:rPr>
              <a:t>&gt; </a:t>
            </a:r>
            <a:r>
              <a:rPr lang="en-IN" b="1" dirty="0" smtClean="0">
                <a:solidFill>
                  <a:srgbClr val="00B050"/>
                </a:solidFill>
              </a:rPr>
              <a:t>Source </a:t>
            </a:r>
            <a:r>
              <a:rPr lang="en-IN" b="1" dirty="0">
                <a:solidFill>
                  <a:srgbClr val="00B050"/>
                </a:solidFill>
              </a:rPr>
              <a:t>Host - Destination Network </a:t>
            </a:r>
            <a:r>
              <a:rPr lang="en-IN" b="1" dirty="0" smtClean="0">
                <a:solidFill>
                  <a:srgbClr val="00B050"/>
                </a:solidFill>
              </a:rPr>
              <a:t>– Proper Subnet – Destination Host </a:t>
            </a:r>
            <a:r>
              <a:rPr lang="en-IN" b="1" dirty="0">
                <a:solidFill>
                  <a:srgbClr val="00B050"/>
                </a:solidFill>
              </a:rPr>
              <a:t>- </a:t>
            </a:r>
            <a:r>
              <a:rPr lang="en-IN" b="1" dirty="0" smtClean="0">
                <a:solidFill>
                  <a:srgbClr val="00B050"/>
                </a:solidFill>
              </a:rPr>
              <a:t>Process</a:t>
            </a: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566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495439"/>
          </a:xfrm>
        </p:spPr>
        <p:txBody>
          <a:bodyPr>
            <a:normAutofit/>
          </a:bodyPr>
          <a:lstStyle/>
          <a:p>
            <a:r>
              <a:rPr lang="en-IN" sz="2800" u="sng" cap="none" dirty="0" smtClean="0">
                <a:solidFill>
                  <a:srgbClr val="002060"/>
                </a:solidFill>
              </a:rPr>
              <a:t>Class C sub netting</a:t>
            </a:r>
            <a:endParaRPr lang="en-IN" sz="2800" u="sng" cap="none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960121"/>
            <a:ext cx="10178322" cy="5733287"/>
          </a:xfrm>
        </p:spPr>
        <p:txBody>
          <a:bodyPr>
            <a:normAutofit lnSpcReduction="10000"/>
          </a:bodyPr>
          <a:lstStyle/>
          <a:p>
            <a:r>
              <a:rPr lang="en-IN" b="1" dirty="0" smtClean="0">
                <a:solidFill>
                  <a:srgbClr val="002060"/>
                </a:solidFill>
              </a:rPr>
              <a:t>Ex. 1	192.168.1.0 /26   [ N/W Add = 192.168.1.0   &amp;   CIDR Value = 26 ]</a:t>
            </a:r>
          </a:p>
          <a:p>
            <a:endParaRPr lang="en-IN" b="1" dirty="0">
              <a:solidFill>
                <a:srgbClr val="00206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b="1" dirty="0" smtClean="0">
                <a:solidFill>
                  <a:srgbClr val="002060"/>
                </a:solidFill>
              </a:rPr>
              <a:t>               It indicate how      It is known as</a:t>
            </a:r>
            <a:endParaRPr lang="en-IN" b="1" dirty="0">
              <a:solidFill>
                <a:srgbClr val="00206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b="1" dirty="0" smtClean="0">
                <a:solidFill>
                  <a:srgbClr val="002060"/>
                </a:solidFill>
              </a:rPr>
              <a:t>              many bits are         CIDR value.   [ CIDR = Classless Inter Domain Routing 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b="1" dirty="0" smtClean="0">
                <a:solidFill>
                  <a:srgbClr val="002060"/>
                </a:solidFill>
              </a:rPr>
              <a:t>               turned on.</a:t>
            </a:r>
          </a:p>
          <a:p>
            <a:pPr marL="0" indent="0">
              <a:spcBef>
                <a:spcPts val="0"/>
              </a:spcBef>
              <a:buNone/>
            </a:pPr>
            <a:endParaRPr lang="en-IN" b="1" dirty="0" smtClean="0">
              <a:solidFill>
                <a:srgbClr val="002060"/>
              </a:solidFill>
            </a:endParaRPr>
          </a:p>
          <a:p>
            <a:pPr marL="180000">
              <a:spcBef>
                <a:spcPts val="0"/>
              </a:spcBef>
            </a:pPr>
            <a:r>
              <a:rPr lang="en-IN" b="1" dirty="0" smtClean="0">
                <a:solidFill>
                  <a:srgbClr val="002060"/>
                </a:solidFill>
              </a:rPr>
              <a:t>If CIDR value is given, calculate subnet mask first &amp; vice -versa</a:t>
            </a:r>
          </a:p>
          <a:p>
            <a:pPr marL="180000">
              <a:spcBef>
                <a:spcPts val="0"/>
              </a:spcBef>
            </a:pPr>
            <a:r>
              <a:rPr lang="en-IN" b="1" dirty="0" smtClean="0">
                <a:solidFill>
                  <a:srgbClr val="002060"/>
                </a:solidFill>
              </a:rPr>
              <a:t>To calculate subnet mask, write all 32-bit first &amp; then make bits on i.e. equal to   given CIDR value. And then convert into decimal number system.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b="1" dirty="0" smtClean="0">
                <a:solidFill>
                  <a:srgbClr val="002060"/>
                </a:solidFill>
              </a:rPr>
              <a:t>	00000000.00000000.00000000.00000000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11111111.11111111.11111111.11000000</a:t>
            </a:r>
          </a:p>
          <a:p>
            <a:pPr marL="180000">
              <a:spcBef>
                <a:spcPts val="0"/>
              </a:spcBef>
            </a:pPr>
            <a:endParaRPr lang="en-IN" b="1" dirty="0">
              <a:solidFill>
                <a:srgbClr val="002060"/>
              </a:solidFill>
            </a:endParaRPr>
          </a:p>
          <a:p>
            <a:pPr marL="180000">
              <a:spcBef>
                <a:spcPts val="0"/>
              </a:spcBef>
            </a:pPr>
            <a:r>
              <a:rPr lang="en-IN" b="1" dirty="0" smtClean="0">
                <a:solidFill>
                  <a:srgbClr val="002060"/>
                </a:solidFill>
              </a:rPr>
              <a:t>So, Subnet Mask = 255.255.255.192</a:t>
            </a:r>
          </a:p>
          <a:p>
            <a:pPr marL="180000">
              <a:spcBef>
                <a:spcPts val="0"/>
              </a:spcBef>
            </a:pPr>
            <a:endParaRPr lang="en-IN" b="1" dirty="0">
              <a:solidFill>
                <a:srgbClr val="002060"/>
              </a:solidFill>
            </a:endParaRPr>
          </a:p>
          <a:p>
            <a:pPr marL="180000">
              <a:spcBef>
                <a:spcPts val="0"/>
              </a:spcBef>
            </a:pPr>
            <a:r>
              <a:rPr lang="en-IN" b="1" dirty="0" smtClean="0">
                <a:solidFill>
                  <a:srgbClr val="002060"/>
                </a:solidFill>
              </a:rPr>
              <a:t>Likewise, If CIDR = 28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11111111.11111111.11111111.11110000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b="1" dirty="0" smtClean="0">
                <a:solidFill>
                  <a:srgbClr val="002060"/>
                </a:solidFill>
              </a:rPr>
              <a:t>	i.e.   Subnet Mask = 255.255.255.240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977640" y="1289304"/>
            <a:ext cx="923544" cy="457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999232" y="1271016"/>
            <a:ext cx="740664" cy="457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101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9031" y="380722"/>
            <a:ext cx="10643616" cy="63658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After calculating subnet mask, we need to solve following these five questions :-</a:t>
            </a:r>
          </a:p>
          <a:p>
            <a:endParaRPr lang="en-IN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1. No. of Subnet = 2n	where,  n = no. of extra on bit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In above example, n = 2  [ CIDR – Default on bit i.e.  26 – 24 ]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So, No. of Subnet = 22 = 4</a:t>
            </a:r>
          </a:p>
          <a:p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2. No. of Host / Subnet = 2n	where, n = no. of total off bit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In </a:t>
            </a:r>
            <a:r>
              <a:rPr lang="en-IN" b="1" dirty="0">
                <a:solidFill>
                  <a:srgbClr val="002060"/>
                </a:solidFill>
              </a:rPr>
              <a:t>above example, n = </a:t>
            </a:r>
            <a:r>
              <a:rPr lang="en-IN" b="1" dirty="0" smtClean="0">
                <a:solidFill>
                  <a:srgbClr val="002060"/>
                </a:solidFill>
              </a:rPr>
              <a:t>6  </a:t>
            </a:r>
            <a:r>
              <a:rPr lang="en-IN" b="1" dirty="0">
                <a:solidFill>
                  <a:srgbClr val="002060"/>
                </a:solidFill>
              </a:rPr>
              <a:t>[ </a:t>
            </a:r>
            <a:r>
              <a:rPr lang="en-IN" b="1" dirty="0" smtClean="0">
                <a:solidFill>
                  <a:srgbClr val="002060"/>
                </a:solidFill>
              </a:rPr>
              <a:t>Total bit – CIDR  i.e.  23 - 26 ]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No. of Host / Subnet = 26 -2 = 62</a:t>
            </a:r>
          </a:p>
          <a:p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3. Block Size = 256 – XYZ	where, XYZ = calculated value of extra on bit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i.e.  256 – 192 = 64  </a:t>
            </a:r>
          </a:p>
          <a:p>
            <a:pPr marL="0" indent="0">
              <a:buNone/>
            </a:pPr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4. Valid Subnets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r>
              <a:rPr lang="en-IN" b="1" dirty="0" smtClean="0">
                <a:solidFill>
                  <a:srgbClr val="002060"/>
                </a:solidFill>
              </a:rPr>
              <a:t>- First subnet will be itself i.e. given network address.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r>
              <a:rPr lang="en-IN" b="1" dirty="0" smtClean="0">
                <a:solidFill>
                  <a:srgbClr val="002060"/>
                </a:solidFill>
              </a:rPr>
              <a:t>  or </a:t>
            </a:r>
            <a:r>
              <a:rPr lang="en-IN" b="1" dirty="0" smtClean="0">
                <a:solidFill>
                  <a:srgbClr val="002060"/>
                </a:solidFill>
              </a:rPr>
              <a:t>start wit zero from rightmost host octet.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r>
              <a:rPr lang="en-IN" b="1" dirty="0" smtClean="0">
                <a:solidFill>
                  <a:srgbClr val="002060"/>
                </a:solidFill>
              </a:rPr>
              <a:t>- To calculate next subnet, add block size value in that octet in which extra bit is on.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	</a:t>
            </a:r>
            <a:r>
              <a:rPr lang="en-IN" b="1" dirty="0" smtClean="0">
                <a:solidFill>
                  <a:srgbClr val="002060"/>
                </a:solidFill>
              </a:rPr>
              <a:t>- Continue to add until the </a:t>
            </a:r>
            <a:r>
              <a:rPr lang="en-IN" b="1" dirty="0">
                <a:solidFill>
                  <a:srgbClr val="002060"/>
                </a:solidFill>
              </a:rPr>
              <a:t>calculated value of extra on </a:t>
            </a:r>
            <a:r>
              <a:rPr lang="en-IN" b="1" dirty="0" smtClean="0">
                <a:solidFill>
                  <a:srgbClr val="002060"/>
                </a:solidFill>
              </a:rPr>
              <a:t>bit match.</a:t>
            </a:r>
          </a:p>
        </p:txBody>
      </p:sp>
    </p:spTree>
    <p:extLst>
      <p:ext uri="{BB962C8B-B14F-4D97-AF65-F5344CB8AC3E}">
        <p14:creationId xmlns:p14="http://schemas.microsoft.com/office/powerpoint/2010/main" val="4272179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7" y="4625201"/>
            <a:ext cx="10178322" cy="568591"/>
          </a:xfrm>
        </p:spPr>
        <p:txBody>
          <a:bodyPr>
            <a:normAutofit fontScale="90000"/>
          </a:bodyPr>
          <a:lstStyle/>
          <a:p>
            <a:r>
              <a:rPr lang="en-IN" sz="2400" b="1" cap="none" dirty="0" smtClean="0">
                <a:solidFill>
                  <a:srgbClr val="002060"/>
                </a:solidFill>
                <a:latin typeface="Gill Sans MT" panose="020B0502020104020203" pitchFamily="34" charset="0"/>
              </a:rPr>
              <a:t>5. Broadcast address : It is number just before the next 			               subnet. [Next Subnet -1]</a:t>
            </a:r>
            <a:endParaRPr lang="en-IN" sz="2400" b="1" cap="none" dirty="0">
              <a:solidFill>
                <a:srgbClr val="002060"/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6263250"/>
              </p:ext>
            </p:extLst>
          </p:nvPr>
        </p:nvGraphicFramePr>
        <p:xfrm>
          <a:off x="945878" y="1024128"/>
          <a:ext cx="10789921" cy="275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56274"/>
                <a:gridCol w="1819656"/>
                <a:gridCol w="1929384"/>
                <a:gridCol w="2194560"/>
                <a:gridCol w="2290047"/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Subnet Address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192.168.1.0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192.168.1.64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192.168.1.128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192.168.1.192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168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First Valid Host Add</a:t>
                      </a:r>
                    </a:p>
                    <a:p>
                      <a:endParaRPr lang="en-IN" b="1" dirty="0" smtClean="0"/>
                    </a:p>
                    <a:p>
                      <a:endParaRPr lang="en-IN" b="1" dirty="0" smtClean="0"/>
                    </a:p>
                    <a:p>
                      <a:endParaRPr lang="en-IN" b="1" dirty="0" smtClean="0"/>
                    </a:p>
                    <a:p>
                      <a:endParaRPr lang="en-IN" b="1" dirty="0" smtClean="0"/>
                    </a:p>
                    <a:p>
                      <a:endParaRPr lang="en-IN" b="1" dirty="0" smtClean="0"/>
                    </a:p>
                    <a:p>
                      <a:r>
                        <a:rPr lang="en-IN" b="1" dirty="0" smtClean="0"/>
                        <a:t>Last Valid Host Add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192.168.1.1</a:t>
                      </a:r>
                    </a:p>
                    <a:p>
                      <a:r>
                        <a:rPr lang="en-IN" b="1" dirty="0" smtClean="0"/>
                        <a:t>192.168.1.2</a:t>
                      </a:r>
                    </a:p>
                    <a:p>
                      <a:r>
                        <a:rPr lang="en-IN" b="1" dirty="0" smtClean="0"/>
                        <a:t>192.168.1.3</a:t>
                      </a:r>
                    </a:p>
                    <a:p>
                      <a:r>
                        <a:rPr lang="en-IN" b="1" dirty="0" smtClean="0"/>
                        <a:t>                 -</a:t>
                      </a:r>
                    </a:p>
                    <a:p>
                      <a:r>
                        <a:rPr lang="en-IN" b="1" dirty="0" smtClean="0"/>
                        <a:t>                 -</a:t>
                      </a:r>
                    </a:p>
                    <a:p>
                      <a:r>
                        <a:rPr lang="en-IN" b="1" dirty="0" smtClean="0"/>
                        <a:t>                 -</a:t>
                      </a:r>
                    </a:p>
                    <a:p>
                      <a:r>
                        <a:rPr lang="en-IN" b="1" dirty="0" smtClean="0"/>
                        <a:t>192.168.1.62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192.168.1.65</a:t>
                      </a:r>
                    </a:p>
                    <a:p>
                      <a:r>
                        <a:rPr lang="en-IN" b="1" dirty="0" smtClean="0"/>
                        <a:t>192.168.1.66</a:t>
                      </a:r>
                    </a:p>
                    <a:p>
                      <a:r>
                        <a:rPr lang="en-IN" b="1" dirty="0" smtClean="0"/>
                        <a:t>192.168.1.67</a:t>
                      </a:r>
                    </a:p>
                    <a:p>
                      <a:r>
                        <a:rPr lang="en-IN" b="1" dirty="0" smtClean="0"/>
                        <a:t>                  -</a:t>
                      </a:r>
                    </a:p>
                    <a:p>
                      <a:r>
                        <a:rPr lang="en-IN" b="1" dirty="0" smtClean="0"/>
                        <a:t>                  -</a:t>
                      </a:r>
                    </a:p>
                    <a:p>
                      <a:r>
                        <a:rPr lang="en-IN" b="1" dirty="0" smtClean="0"/>
                        <a:t>                  -</a:t>
                      </a:r>
                    </a:p>
                    <a:p>
                      <a:r>
                        <a:rPr lang="en-IN" b="1" dirty="0" smtClean="0"/>
                        <a:t>192.168.1.126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192.168.1.129</a:t>
                      </a:r>
                    </a:p>
                    <a:p>
                      <a:r>
                        <a:rPr lang="en-IN" b="1" dirty="0" smtClean="0"/>
                        <a:t>192.168.1.130</a:t>
                      </a:r>
                    </a:p>
                    <a:p>
                      <a:r>
                        <a:rPr lang="en-IN" b="1" dirty="0" smtClean="0"/>
                        <a:t>192.168.1.133</a:t>
                      </a:r>
                    </a:p>
                    <a:p>
                      <a:r>
                        <a:rPr lang="en-IN" b="1" dirty="0" smtClean="0"/>
                        <a:t>                   -</a:t>
                      </a:r>
                    </a:p>
                    <a:p>
                      <a:r>
                        <a:rPr lang="en-IN" b="1" dirty="0" smtClean="0"/>
                        <a:t>                   -</a:t>
                      </a:r>
                    </a:p>
                    <a:p>
                      <a:r>
                        <a:rPr lang="en-IN" b="1" dirty="0" smtClean="0"/>
                        <a:t>                   -</a:t>
                      </a:r>
                    </a:p>
                    <a:p>
                      <a:r>
                        <a:rPr lang="en-IN" b="1" dirty="0" smtClean="0"/>
                        <a:t>192.168.1.190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192.168.1.193</a:t>
                      </a:r>
                    </a:p>
                    <a:p>
                      <a:r>
                        <a:rPr lang="en-IN" b="1" dirty="0" smtClean="0"/>
                        <a:t>192.168.1.194</a:t>
                      </a:r>
                    </a:p>
                    <a:p>
                      <a:r>
                        <a:rPr lang="en-IN" b="1" dirty="0" smtClean="0"/>
                        <a:t>192.168.1.195</a:t>
                      </a:r>
                    </a:p>
                    <a:p>
                      <a:r>
                        <a:rPr lang="en-IN" b="1" dirty="0" smtClean="0"/>
                        <a:t>                   -</a:t>
                      </a:r>
                    </a:p>
                    <a:p>
                      <a:r>
                        <a:rPr lang="en-IN" b="1" dirty="0" smtClean="0"/>
                        <a:t>                   -</a:t>
                      </a:r>
                    </a:p>
                    <a:p>
                      <a:r>
                        <a:rPr lang="en-IN" b="1" dirty="0" smtClean="0"/>
                        <a:t>                   -</a:t>
                      </a:r>
                    </a:p>
                    <a:p>
                      <a:r>
                        <a:rPr lang="en-IN" b="1" dirty="0" smtClean="0"/>
                        <a:t>192.168.1.254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Broadcast Address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192.168.1.63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192.168.1.127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192.168.1.191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192.168.1.255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6756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98" y="382385"/>
            <a:ext cx="10178322" cy="628359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		IP ADDRESS</a:t>
            </a:r>
          </a:p>
          <a:p>
            <a:pPr marL="0" indent="0">
              <a:buNone/>
            </a:pPr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		</a:t>
            </a:r>
            <a:r>
              <a:rPr lang="en-IN" b="1" u="sng" dirty="0" smtClean="0">
                <a:solidFill>
                  <a:srgbClr val="002060"/>
                </a:solidFill>
              </a:rPr>
              <a:t>PRIVATE IP	PUBLIC IP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b="1" dirty="0" smtClean="0">
                <a:solidFill>
                  <a:srgbClr val="002060"/>
                </a:solidFill>
              </a:rPr>
              <a:t>                                      - Used in LAN             - Used on globe (internet)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b="1" dirty="0" smtClean="0">
                <a:solidFill>
                  <a:srgbClr val="002060"/>
                </a:solidFill>
              </a:rPr>
              <a:t>                                      - Free to use                - Need to purchase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b="1" dirty="0" smtClean="0">
                <a:solidFill>
                  <a:srgbClr val="002060"/>
                </a:solidFill>
              </a:rPr>
              <a:t>                                      - Not registered          - Registered with IANA ( Now, ICANN)</a:t>
            </a:r>
          </a:p>
          <a:p>
            <a:pPr marL="0" indent="0">
              <a:buNone/>
            </a:pPr>
            <a:endParaRPr lang="en-IN" b="1" dirty="0">
              <a:solidFill>
                <a:srgbClr val="002060"/>
              </a:solidFill>
            </a:endParaRPr>
          </a:p>
          <a:p>
            <a:pPr>
              <a:buFontTx/>
              <a:buChar char="-"/>
            </a:pPr>
            <a:r>
              <a:rPr lang="en-IN" b="1" dirty="0" smtClean="0">
                <a:solidFill>
                  <a:srgbClr val="002060"/>
                </a:solidFill>
              </a:rPr>
              <a:t>ICANN manage the distribution of IP address.				ICANN</a:t>
            </a:r>
          </a:p>
          <a:p>
            <a:pPr>
              <a:buFontTx/>
              <a:buChar char="-"/>
            </a:pPr>
            <a:r>
              <a:rPr lang="en-IN" b="1" dirty="0" smtClean="0">
                <a:solidFill>
                  <a:srgbClr val="002060"/>
                </a:solidFill>
              </a:rPr>
              <a:t>It has been created RIR per continent.</a:t>
            </a:r>
          </a:p>
          <a:p>
            <a:pPr>
              <a:buFontTx/>
              <a:buChar char="-"/>
            </a:pPr>
            <a:r>
              <a:rPr lang="en-IN" b="1" dirty="0" smtClean="0">
                <a:solidFill>
                  <a:srgbClr val="002060"/>
                </a:solidFill>
              </a:rPr>
              <a:t>And under RIR, LIR/NIR (ISP) work.</a:t>
            </a:r>
          </a:p>
          <a:p>
            <a:pPr>
              <a:buFontTx/>
              <a:buChar char="-"/>
            </a:pPr>
            <a:r>
              <a:rPr lang="en-IN" b="1" dirty="0" smtClean="0">
                <a:solidFill>
                  <a:srgbClr val="002060"/>
                </a:solidFill>
              </a:rPr>
              <a:t>India comes into ASIA. (For Asia, RIR = APNIC)			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b="1" dirty="0" smtClean="0">
                <a:solidFill>
                  <a:srgbClr val="002060"/>
                </a:solidFill>
              </a:rPr>
              <a:t>                 RIR</a:t>
            </a:r>
          </a:p>
          <a:p>
            <a:pPr marL="0" indent="0">
              <a:buNone/>
            </a:pPr>
            <a:endParaRPr lang="en-IN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IANA – Internet Assigned Numbers Authority				LIR/NIR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ICANN – Internet Corporation for Assigned Names &amp; Numbers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RIR – Regional Internet Registry			         		          CUSTOMER</a:t>
            </a:r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LIR / NIR – Local / National Internet Registry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ISP – Internet Service Provider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APNIC – Asia Pacific Network Information Centre</a:t>
            </a:r>
            <a:endParaRPr lang="en-IN" b="1" dirty="0">
              <a:solidFill>
                <a:srgbClr val="00206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4562856" y="722376"/>
            <a:ext cx="825756" cy="4060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571492" y="722376"/>
            <a:ext cx="929892" cy="4060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511036" y="722376"/>
            <a:ext cx="60456" cy="185623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9793224" y="3172968"/>
            <a:ext cx="0" cy="6766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793224" y="4144088"/>
            <a:ext cx="0" cy="4919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793224" y="4904564"/>
            <a:ext cx="0" cy="449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393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 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694944"/>
            <a:ext cx="10096025" cy="542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82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310896"/>
            <a:ext cx="10178322" cy="6382511"/>
          </a:xfrm>
          <a:ln w="28575"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/>
          <a:p>
            <a:r>
              <a:rPr lang="en-IN" b="1" dirty="0" smtClean="0">
                <a:solidFill>
                  <a:srgbClr val="002060"/>
                </a:solidFill>
              </a:rPr>
              <a:t>Private IP Address Range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Class A = 10.0.0.0  to  10.255.255.255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Class B = 172.16.0.0  to  172.31.255.255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Class C = 192.168.0.0  to  192.168.255.255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-------------------------------------------------------------------------------------------------------------------------------------------</a:t>
            </a:r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Loopback Address  = 127.0.0.0  to  127.255.255.255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APIPA = </a:t>
            </a:r>
            <a:r>
              <a:rPr lang="en-IN" b="1" dirty="0">
                <a:solidFill>
                  <a:srgbClr val="002060"/>
                </a:solidFill>
              </a:rPr>
              <a:t>169.254.0.0  </a:t>
            </a:r>
            <a:r>
              <a:rPr lang="en-IN" b="1" dirty="0" smtClean="0">
                <a:solidFill>
                  <a:srgbClr val="002060"/>
                </a:solidFill>
              </a:rPr>
              <a:t>to 169.254.255.255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Reserved by IANA for Local Identification = 0.0.0.0  to  0.255.255.255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- Used for default routing = 0.0.0.0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-------------------------------------------------------------------------------------------------------------------------------------------</a:t>
            </a:r>
            <a:endParaRPr lang="en-IN" b="1" dirty="0">
              <a:solidFill>
                <a:srgbClr val="002060"/>
              </a:solidFill>
            </a:endParaRPr>
          </a:p>
          <a:p>
            <a:r>
              <a:rPr lang="en-IN" b="1" dirty="0" smtClean="0">
                <a:solidFill>
                  <a:srgbClr val="002060"/>
                </a:solidFill>
              </a:rPr>
              <a:t>Types of Public IP address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1. Static – Each time we connect to internet, get same IP address.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2. Dynamic – Each time we connect to internet, get different IP address.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-------------------------------------------------------------------------------------------------------------------------------------------</a:t>
            </a:r>
            <a:endParaRPr lang="en-IN" b="1" dirty="0">
              <a:solidFill>
                <a:srgbClr val="002060"/>
              </a:solidFill>
            </a:endParaRPr>
          </a:p>
          <a:p>
            <a:r>
              <a:rPr lang="en-IN" b="1" dirty="0" smtClean="0">
                <a:solidFill>
                  <a:srgbClr val="002060"/>
                </a:solidFill>
              </a:rPr>
              <a:t>Types of ISP :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A) Tier – 1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B) Tier – 2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	C) Tier – 3 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335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52412"/>
            <a:ext cx="10451592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824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2441" y="896113"/>
            <a:ext cx="8523258" cy="4928615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How to determine an IP Address ?</a:t>
            </a:r>
          </a:p>
          <a:p>
            <a:pPr marL="0" indent="0">
              <a:buNone/>
            </a:pPr>
            <a:endParaRPr lang="en-IN" b="1" dirty="0">
              <a:solidFill>
                <a:srgbClr val="002060"/>
              </a:solidFill>
            </a:endParaRPr>
          </a:p>
          <a:p>
            <a:pPr>
              <a:buFontTx/>
              <a:buChar char="-"/>
            </a:pPr>
            <a:r>
              <a:rPr lang="en-IN" b="1" dirty="0" smtClean="0">
                <a:solidFill>
                  <a:srgbClr val="002060"/>
                </a:solidFill>
              </a:rPr>
              <a:t>Press  Win Key + R</a:t>
            </a:r>
          </a:p>
          <a:p>
            <a:pPr>
              <a:buFontTx/>
              <a:buChar char="-"/>
            </a:pPr>
            <a:r>
              <a:rPr lang="en-IN" b="1" dirty="0" smtClean="0">
                <a:solidFill>
                  <a:srgbClr val="002060"/>
                </a:solidFill>
              </a:rPr>
              <a:t>Type cmd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b="1" dirty="0" smtClean="0">
                <a:solidFill>
                  <a:srgbClr val="002060"/>
                </a:solidFill>
              </a:rPr>
              <a:t>&amp; enter</a:t>
            </a:r>
          </a:p>
          <a:p>
            <a:pPr>
              <a:buFontTx/>
              <a:buChar char="-"/>
            </a:pPr>
            <a:r>
              <a:rPr lang="en-IN" b="1" dirty="0" smtClean="0">
                <a:solidFill>
                  <a:srgbClr val="002060"/>
                </a:solidFill>
              </a:rPr>
              <a:t>Type ipconfig &amp; press enter</a:t>
            </a:r>
          </a:p>
          <a:p>
            <a:pPr>
              <a:buFontTx/>
              <a:buChar char="-"/>
            </a:pPr>
            <a:r>
              <a:rPr lang="en-IN" b="1" dirty="0" smtClean="0">
                <a:solidFill>
                  <a:srgbClr val="002060"/>
                </a:solidFill>
              </a:rPr>
              <a:t>This should give you information similar to what is shown below 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950" y="3750373"/>
            <a:ext cx="5422392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530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71489"/>
            <a:ext cx="10178322" cy="413143"/>
          </a:xfrm>
        </p:spPr>
        <p:txBody>
          <a:bodyPr>
            <a:noAutofit/>
          </a:bodyPr>
          <a:lstStyle/>
          <a:p>
            <a:pPr algn="ctr"/>
            <a:r>
              <a:rPr lang="en-IN" sz="2800" u="sng" dirty="0">
                <a:solidFill>
                  <a:srgbClr val="002060"/>
                </a:solidFill>
              </a:rPr>
              <a:t>Class a sub netting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31521"/>
            <a:ext cx="11018520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89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49807"/>
            <a:ext cx="10972800" cy="59415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877"/>
            <a:ext cx="10972800" cy="57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54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136" y="364097"/>
            <a:ext cx="10178322" cy="532015"/>
          </a:xfrm>
        </p:spPr>
        <p:txBody>
          <a:bodyPr>
            <a:normAutofit/>
          </a:bodyPr>
          <a:lstStyle/>
          <a:p>
            <a:pPr algn="ctr"/>
            <a:r>
              <a:rPr lang="en-IN" sz="2400" u="sng" dirty="0">
                <a:solidFill>
                  <a:srgbClr val="002060"/>
                </a:solidFill>
              </a:rPr>
              <a:t>Class </a:t>
            </a:r>
            <a:r>
              <a:rPr lang="en-IN" sz="2400" u="sng" dirty="0" smtClean="0">
                <a:solidFill>
                  <a:srgbClr val="002060"/>
                </a:solidFill>
              </a:rPr>
              <a:t>b </a:t>
            </a:r>
            <a:r>
              <a:rPr lang="en-IN" sz="2400" u="sng" dirty="0">
                <a:solidFill>
                  <a:srgbClr val="002060"/>
                </a:solidFill>
              </a:rPr>
              <a:t>sub netting chart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 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1230006"/>
            <a:ext cx="10588752" cy="517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36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458863"/>
          </a:xfrm>
        </p:spPr>
        <p:txBody>
          <a:bodyPr>
            <a:noAutofit/>
          </a:bodyPr>
          <a:lstStyle/>
          <a:p>
            <a:r>
              <a:rPr lang="en-IN" sz="2800" dirty="0" smtClean="0"/>
              <a:t>  </a:t>
            </a:r>
            <a:endParaRPr lang="en-IN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251678" y="2889505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 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243306"/>
            <a:ext cx="10799064" cy="478258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841248"/>
            <a:ext cx="10799064" cy="59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2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486295"/>
          </a:xfrm>
        </p:spPr>
        <p:txBody>
          <a:bodyPr>
            <a:normAutofit/>
          </a:bodyPr>
          <a:lstStyle/>
          <a:p>
            <a:pPr algn="ctr"/>
            <a:r>
              <a:rPr lang="en-IN" sz="2400" u="sng" dirty="0">
                <a:solidFill>
                  <a:srgbClr val="002060"/>
                </a:solidFill>
              </a:rPr>
              <a:t>Class </a:t>
            </a:r>
            <a:r>
              <a:rPr lang="en-IN" sz="2400" u="sng" dirty="0" smtClean="0">
                <a:solidFill>
                  <a:srgbClr val="002060"/>
                </a:solidFill>
              </a:rPr>
              <a:t>C </a:t>
            </a:r>
            <a:r>
              <a:rPr lang="en-IN" sz="2400" u="sng" dirty="0">
                <a:solidFill>
                  <a:srgbClr val="002060"/>
                </a:solidFill>
              </a:rPr>
              <a:t>sub netting chart</a:t>
            </a:r>
            <a:endParaRPr lang="en-IN" sz="24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219532"/>
            <a:ext cx="10808208" cy="475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23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832" y="210312"/>
            <a:ext cx="10863072" cy="6428231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VLSM (Variable Length Subnet Mask) - Topology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454" y="771525"/>
            <a:ext cx="10839450" cy="5772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380" y="1851656"/>
            <a:ext cx="228600" cy="219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540" y="999863"/>
            <a:ext cx="257175" cy="257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0094" y="999862"/>
            <a:ext cx="190500" cy="2571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3137" y="1613531"/>
            <a:ext cx="238125" cy="238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0518" y="2467733"/>
            <a:ext cx="219075" cy="2571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0018" y="5302948"/>
            <a:ext cx="190500" cy="2571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2239" y="3492148"/>
            <a:ext cx="228600" cy="2571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5826" y="5427247"/>
            <a:ext cx="295275" cy="2476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9878" y="2559507"/>
            <a:ext cx="219075" cy="2476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5737" y="2554934"/>
            <a:ext cx="209550" cy="2381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50937" y="2530932"/>
            <a:ext cx="22860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80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283465"/>
            <a:ext cx="10178322" cy="559612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VLSM  Worksheet Design</a:t>
            </a:r>
            <a:endParaRPr lang="en-US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635101"/>
              </p:ext>
            </p:extLst>
          </p:nvPr>
        </p:nvGraphicFramePr>
        <p:xfrm>
          <a:off x="1600201" y="1245966"/>
          <a:ext cx="9330396" cy="5159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896"/>
                <a:gridCol w="1614830"/>
                <a:gridCol w="1837944"/>
                <a:gridCol w="1624113"/>
                <a:gridCol w="3057613"/>
              </a:tblGrid>
              <a:tr h="42999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Network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 of Host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Block Size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CIDR Value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Subnet </a:t>
                      </a:r>
                      <a:r>
                        <a:rPr lang="en-US" dirty="0" err="1" smtClean="0"/>
                        <a:t>MAsk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99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/29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225.255.255.248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99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/30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255.255.255.252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99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/30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255.255.255.252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99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/28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255.255.255.240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99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/30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255.255.255.252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99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/26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255.255.255.192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99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/30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255.255.255.252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99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/27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255.255.255.224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99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/30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255.255.255.252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99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J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/30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255.255.255.252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99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/30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255.255.255.252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743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5147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400" u="sng" cap="none" dirty="0">
                <a:solidFill>
                  <a:srgbClr val="002060"/>
                </a:solidFill>
              </a:rPr>
              <a:t>IPv4 Header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943" y="1426464"/>
            <a:ext cx="9556433" cy="36667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519" y="5093208"/>
            <a:ext cx="9519858" cy="5760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519" y="5692902"/>
            <a:ext cx="9519857" cy="69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85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544" y="274320"/>
            <a:ext cx="10762488" cy="6446519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Version – It is of 4-bits &amp; always set to 0100 which indicate 4.</a:t>
            </a:r>
          </a:p>
          <a:p>
            <a:pPr marL="0" indent="0">
              <a:buNone/>
            </a:pPr>
            <a:endParaRPr lang="en-IN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IHL – It is 4 bit in size. IHL = IHL Value * 4  [Pure Received Data = Received data – IHL]</a:t>
            </a:r>
          </a:p>
          <a:p>
            <a:pPr marL="0" indent="0">
              <a:buNone/>
            </a:pPr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- IHL must be between 20 to 60 Bytes.  [IHL value is between 5 to 15]</a:t>
            </a:r>
          </a:p>
          <a:p>
            <a:pPr marL="0" indent="0">
              <a:buNone/>
            </a:pPr>
            <a:endParaRPr lang="en-IN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Type of Service – </a:t>
            </a:r>
            <a:r>
              <a:rPr lang="en-GB" b="1" dirty="0"/>
              <a:t>The 8-bit ToS field traditionally uses 3 bits for IP Precedence. 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 smtClean="0"/>
              <a:t>		- The </a:t>
            </a:r>
            <a:r>
              <a:rPr lang="en-GB" b="1" dirty="0"/>
              <a:t>newer redefinition of the ToS field uses a 6-bit DSCP (Differentiated Services 	</a:t>
            </a:r>
            <a:r>
              <a:rPr lang="en-GB" b="1" dirty="0" smtClean="0"/>
              <a:t>	  Code </a:t>
            </a:r>
            <a:r>
              <a:rPr lang="en-GB" b="1" dirty="0"/>
              <a:t>point) field and a 2-bit ECN (Explicit Congestion Notification) field to identify </a:t>
            </a:r>
            <a:r>
              <a:rPr lang="en-GB" b="1" dirty="0" smtClean="0"/>
              <a:t>	</a:t>
            </a:r>
            <a:r>
              <a:rPr lang="en-GB" b="1" dirty="0"/>
              <a:t> </a:t>
            </a:r>
            <a:r>
              <a:rPr lang="en-GB" b="1" dirty="0" smtClean="0"/>
              <a:t>                the </a:t>
            </a:r>
            <a:r>
              <a:rPr lang="en-GB" b="1" dirty="0"/>
              <a:t>level of service a packet receives in the network.</a:t>
            </a:r>
            <a:endParaRPr lang="en-IN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Identifier, flags, and fragment </a:t>
            </a: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offset :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-  As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an IP packet moves through the Internet, it might need to </a:t>
            </a: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				          cross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 route that cannot handle the size of the packet. </a:t>
            </a:r>
            <a:endParaRPr lang="en-GB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				       - The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packet will be divided, or fragmented, into smaller </a:t>
            </a: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		                                                       packets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and reassembled later. These fields are used to </a:t>
            </a: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			                                        fragment and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reassemble packets.</a:t>
            </a:r>
          </a:p>
          <a:p>
            <a:pPr marL="0" indent="0">
              <a:buNone/>
            </a:pPr>
            <a:endParaRPr lang="en-IN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Total Length – It is measured in bytes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that specifies the length of IP packet.</a:t>
            </a:r>
          </a:p>
          <a:p>
            <a:pPr marL="0" indent="0">
              <a:buNone/>
            </a:pPr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-  It include IP header length &amp; user data (payload).</a:t>
            </a:r>
          </a:p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- It is of 16-bit i.e. maximum size of IP packet may be  0 to 65535 bytes.</a:t>
            </a: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233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382385"/>
            <a:ext cx="10178322" cy="549720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TTL – It indicate how long data will be live in the network.</a:t>
            </a:r>
          </a:p>
          <a:p>
            <a:pPr marL="0" indent="0">
              <a:buNone/>
            </a:pPr>
            <a:r>
              <a:rPr lang="en-IN" b="1" dirty="0" smtClean="0"/>
              <a:t>	- </a:t>
            </a:r>
            <a:r>
              <a:rPr lang="en-IN" b="1" dirty="0"/>
              <a:t>It is of 8-bit  i.e.  0 to 255.</a:t>
            </a:r>
          </a:p>
          <a:p>
            <a:pPr marL="0" indent="0">
              <a:buNone/>
            </a:pPr>
            <a:r>
              <a:rPr lang="en-IN" b="1" dirty="0" smtClean="0"/>
              <a:t>	- </a:t>
            </a:r>
            <a:r>
              <a:rPr lang="en-IN" b="1" dirty="0"/>
              <a:t>The datagram will be discarded, when </a:t>
            </a:r>
            <a:r>
              <a:rPr lang="en-IN" b="1" dirty="0" smtClean="0"/>
              <a:t>TTL value become </a:t>
            </a:r>
            <a:r>
              <a:rPr lang="en-IN" b="1" dirty="0"/>
              <a:t>zero</a:t>
            </a:r>
            <a:r>
              <a:rPr lang="en-IN" b="1" dirty="0" smtClean="0"/>
              <a:t>.</a:t>
            </a:r>
          </a:p>
          <a:p>
            <a:endParaRPr lang="en-IN" b="1" dirty="0"/>
          </a:p>
          <a:p>
            <a:r>
              <a:rPr lang="en-IN" b="1" dirty="0"/>
              <a:t>Protocol – If any protocol from upper layer protocol is used, they are mentioned here.</a:t>
            </a:r>
          </a:p>
          <a:p>
            <a:pPr marL="0" indent="0">
              <a:buNone/>
            </a:pPr>
            <a:r>
              <a:rPr lang="en-IN" b="1" dirty="0" smtClean="0"/>
              <a:t>	     - </a:t>
            </a:r>
            <a:r>
              <a:rPr lang="en-IN" b="1" dirty="0"/>
              <a:t>For example,  6 number indicate TCP &amp; 17 is used to denote UDP</a:t>
            </a:r>
            <a:r>
              <a:rPr lang="en-IN" b="1" dirty="0" smtClean="0"/>
              <a:t>.</a:t>
            </a:r>
          </a:p>
          <a:p>
            <a:endParaRPr lang="en-IN" b="1" dirty="0"/>
          </a:p>
          <a:p>
            <a:r>
              <a:rPr lang="en-IN" b="1" dirty="0"/>
              <a:t>Header Checksum – It is used to check the header for any errors</a:t>
            </a:r>
            <a:r>
              <a:rPr lang="en-IN" b="1" dirty="0" smtClean="0"/>
              <a:t>.</a:t>
            </a:r>
          </a:p>
          <a:p>
            <a:endParaRPr lang="en-IN" b="1" dirty="0"/>
          </a:p>
          <a:p>
            <a:r>
              <a:rPr lang="en-GB" b="1" dirty="0"/>
              <a:t>Source </a:t>
            </a:r>
            <a:r>
              <a:rPr lang="en-GB" b="1" dirty="0" smtClean="0"/>
              <a:t>Address :</a:t>
            </a:r>
            <a:r>
              <a:rPr lang="en-GB" b="1" dirty="0"/>
              <a:t> The source address is a 32-bit address of the source used for the IPv4 </a:t>
            </a:r>
            <a:r>
              <a:rPr lang="en-GB" b="1" dirty="0" smtClean="0"/>
              <a:t>	                  packet.</a:t>
            </a:r>
          </a:p>
          <a:p>
            <a:endParaRPr lang="en-GB" b="1" dirty="0"/>
          </a:p>
          <a:p>
            <a:r>
              <a:rPr lang="en-GB" b="1" dirty="0"/>
              <a:t>Destination </a:t>
            </a:r>
            <a:r>
              <a:rPr lang="en-GB" b="1" dirty="0" smtClean="0"/>
              <a:t>address :</a:t>
            </a:r>
            <a:r>
              <a:rPr lang="en-GB" b="1" dirty="0"/>
              <a:t> The destination address is also 32 bit in size stores the address of </a:t>
            </a:r>
            <a:r>
              <a:rPr lang="en-GB" b="1" dirty="0" smtClean="0"/>
              <a:t>  	                          the </a:t>
            </a:r>
            <a:r>
              <a:rPr lang="en-GB" b="1" dirty="0"/>
              <a:t>receiver.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439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614311"/>
          </a:xfrm>
        </p:spPr>
        <p:txBody>
          <a:bodyPr>
            <a:normAutofit/>
          </a:bodyPr>
          <a:lstStyle/>
          <a:p>
            <a:r>
              <a:rPr lang="en-IN" sz="3600" cap="none" dirty="0" smtClean="0"/>
              <a:t>Fragmentation In IPv4</a:t>
            </a:r>
            <a:endParaRPr lang="en-IN" sz="3600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2286001"/>
            <a:ext cx="10178322" cy="4242815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Identification : 16-bit</a:t>
            </a:r>
          </a:p>
          <a:p>
            <a:pPr marL="0" indent="0">
              <a:buNone/>
            </a:pPr>
            <a:r>
              <a:rPr lang="en-IN" dirty="0" smtClean="0"/>
              <a:t>	- It is used to identify datagram by receiver that they belong to same packet.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dirty="0" smtClean="0"/>
              <a:t>Flag :  3-bit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Fragment Offset</a:t>
            </a:r>
          </a:p>
          <a:p>
            <a:pPr marL="0" indent="0">
              <a:buNone/>
            </a:pPr>
            <a:r>
              <a:rPr lang="en-IN" dirty="0" smtClean="0"/>
              <a:t>	- It indicate how many bytes ahead a packet.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- Offset Value = Total Pure Data Ahead of Packet / 8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1088137"/>
            <a:ext cx="9501666" cy="8229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035109"/>
              </p:ext>
            </p:extLst>
          </p:nvPr>
        </p:nvGraphicFramePr>
        <p:xfrm>
          <a:off x="2406904" y="3888232"/>
          <a:ext cx="8629904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635"/>
                <a:gridCol w="3266779"/>
                <a:gridCol w="248649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MS bit (reserved)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DF (Do Not Fragment)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MF (More Fragment)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Always set to</a:t>
                      </a:r>
                      <a:r>
                        <a:rPr lang="en-IN" baseline="0" dirty="0" smtClean="0"/>
                        <a:t>  </a:t>
                      </a:r>
                      <a:r>
                        <a:rPr lang="en-IN" dirty="0" smtClean="0"/>
                        <a:t>‘0’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If    0 – there is fragmentation</a:t>
                      </a:r>
                    </a:p>
                    <a:p>
                      <a:r>
                        <a:rPr lang="en-IN" dirty="0" smtClean="0"/>
                        <a:t>      1 – No fragmentation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If    0 – Last</a:t>
                      </a:r>
                      <a:r>
                        <a:rPr lang="en-IN" baseline="0" dirty="0" smtClean="0"/>
                        <a:t> packet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      1 – More packet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957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976" y="382385"/>
            <a:ext cx="10972800" cy="58704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002060"/>
                </a:solidFill>
              </a:rPr>
              <a:t>Ex.   A datagram of 3000 Byte ( 20 B = IP Header &amp; 2980 = IP Payload ) reached at router and it         must be forwarded to link with the MTU of 500 . How many fragments will be generated &amp; also calculate value for MF, Offset &amp; total length.</a:t>
            </a:r>
          </a:p>
          <a:p>
            <a:pPr marL="0" indent="0">
              <a:buNone/>
            </a:pPr>
            <a:endParaRPr lang="en-IN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IN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dirty="0" smtClean="0">
                <a:solidFill>
                  <a:srgbClr val="002060"/>
                </a:solidFill>
              </a:rPr>
              <a:t>Fragments = Total Data / Data to be sent over the link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002060"/>
                </a:solidFill>
              </a:rPr>
              <a:t>		Where, Total Data = 3000 B – 20 B = 2980 B</a:t>
            </a:r>
          </a:p>
          <a:p>
            <a:pPr marL="0" indent="0">
              <a:buNone/>
            </a:pPr>
            <a:r>
              <a:rPr lang="en-IN" dirty="0">
                <a:solidFill>
                  <a:srgbClr val="002060"/>
                </a:solidFill>
              </a:rPr>
              <a:t>	</a:t>
            </a:r>
            <a:r>
              <a:rPr lang="en-IN" dirty="0" smtClean="0">
                <a:solidFill>
                  <a:srgbClr val="002060"/>
                </a:solidFill>
              </a:rPr>
              <a:t>	            Data </a:t>
            </a:r>
            <a:r>
              <a:rPr lang="en-IN" dirty="0">
                <a:solidFill>
                  <a:srgbClr val="002060"/>
                </a:solidFill>
              </a:rPr>
              <a:t>to be sent over the </a:t>
            </a:r>
            <a:r>
              <a:rPr lang="en-IN" dirty="0" smtClean="0">
                <a:solidFill>
                  <a:srgbClr val="002060"/>
                </a:solidFill>
              </a:rPr>
              <a:t>link = 500 B – 20 B = 480 B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002060"/>
                </a:solidFill>
              </a:rPr>
              <a:t>So, Fragments = 2980 / 480 = 6.20  [approx 7 fragments]</a:t>
            </a:r>
          </a:p>
          <a:p>
            <a:pPr marL="0" indent="0">
              <a:buNone/>
            </a:pPr>
            <a:endParaRPr lang="en-IN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dirty="0" smtClean="0">
                <a:solidFill>
                  <a:srgbClr val="002060"/>
                </a:solidFill>
              </a:rPr>
              <a:t>Let’s suppose 7 packets are :</a:t>
            </a:r>
          </a:p>
          <a:p>
            <a:pPr marL="0" indent="0">
              <a:buNone/>
            </a:pPr>
            <a:r>
              <a:rPr lang="en-IN" dirty="0">
                <a:solidFill>
                  <a:srgbClr val="002060"/>
                </a:solidFill>
              </a:rPr>
              <a:t>	</a:t>
            </a:r>
            <a:r>
              <a:rPr lang="en-IN" dirty="0" smtClean="0">
                <a:solidFill>
                  <a:srgbClr val="002060"/>
                </a:solidFill>
              </a:rPr>
              <a:t>             P7	      P6               P5	  P4	            P3	          P2	  P1 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002060"/>
                </a:solidFill>
              </a:rPr>
              <a:t>Total Length : 120 + 20       </a:t>
            </a:r>
            <a:r>
              <a:rPr lang="en-IN" dirty="0">
                <a:solidFill>
                  <a:srgbClr val="002060"/>
                </a:solidFill>
              </a:rPr>
              <a:t>480 + 20 </a:t>
            </a:r>
            <a:r>
              <a:rPr lang="en-IN" dirty="0" smtClean="0">
                <a:solidFill>
                  <a:srgbClr val="002060"/>
                </a:solidFill>
              </a:rPr>
              <a:t>   480 </a:t>
            </a:r>
            <a:r>
              <a:rPr lang="en-IN" dirty="0">
                <a:solidFill>
                  <a:srgbClr val="002060"/>
                </a:solidFill>
              </a:rPr>
              <a:t>+ 20 </a:t>
            </a:r>
            <a:r>
              <a:rPr lang="en-IN" dirty="0" smtClean="0">
                <a:solidFill>
                  <a:srgbClr val="002060"/>
                </a:solidFill>
              </a:rPr>
              <a:t>   480 + 20</a:t>
            </a:r>
            <a:r>
              <a:rPr lang="en-IN" dirty="0">
                <a:solidFill>
                  <a:srgbClr val="002060"/>
                </a:solidFill>
              </a:rPr>
              <a:t> </a:t>
            </a:r>
            <a:r>
              <a:rPr lang="en-IN" dirty="0" smtClean="0">
                <a:solidFill>
                  <a:srgbClr val="002060"/>
                </a:solidFill>
              </a:rPr>
              <a:t>        480 </a:t>
            </a:r>
            <a:r>
              <a:rPr lang="en-IN" dirty="0">
                <a:solidFill>
                  <a:srgbClr val="002060"/>
                </a:solidFill>
              </a:rPr>
              <a:t>+ </a:t>
            </a:r>
            <a:r>
              <a:rPr lang="en-IN" dirty="0" smtClean="0">
                <a:solidFill>
                  <a:srgbClr val="002060"/>
                </a:solidFill>
              </a:rPr>
              <a:t>20</a:t>
            </a:r>
            <a:r>
              <a:rPr lang="en-IN" dirty="0">
                <a:solidFill>
                  <a:srgbClr val="002060"/>
                </a:solidFill>
              </a:rPr>
              <a:t> </a:t>
            </a:r>
            <a:r>
              <a:rPr lang="en-IN" dirty="0" smtClean="0">
                <a:solidFill>
                  <a:srgbClr val="002060"/>
                </a:solidFill>
              </a:rPr>
              <a:t>          480 </a:t>
            </a:r>
            <a:r>
              <a:rPr lang="en-IN" dirty="0">
                <a:solidFill>
                  <a:srgbClr val="002060"/>
                </a:solidFill>
              </a:rPr>
              <a:t>+ </a:t>
            </a:r>
            <a:r>
              <a:rPr lang="en-IN" dirty="0" smtClean="0">
                <a:solidFill>
                  <a:srgbClr val="002060"/>
                </a:solidFill>
              </a:rPr>
              <a:t>20</a:t>
            </a:r>
            <a:r>
              <a:rPr lang="en-IN" dirty="0">
                <a:solidFill>
                  <a:srgbClr val="002060"/>
                </a:solidFill>
              </a:rPr>
              <a:t> </a:t>
            </a:r>
            <a:r>
              <a:rPr lang="en-IN" dirty="0" smtClean="0">
                <a:solidFill>
                  <a:srgbClr val="002060"/>
                </a:solidFill>
              </a:rPr>
              <a:t>     480 </a:t>
            </a:r>
            <a:r>
              <a:rPr lang="en-IN" dirty="0">
                <a:solidFill>
                  <a:srgbClr val="002060"/>
                </a:solidFill>
              </a:rPr>
              <a:t>+ </a:t>
            </a:r>
            <a:r>
              <a:rPr lang="en-IN" dirty="0" smtClean="0">
                <a:solidFill>
                  <a:srgbClr val="002060"/>
                </a:solidFill>
              </a:rPr>
              <a:t>20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002060"/>
                </a:solidFill>
              </a:rPr>
              <a:t>MF bit :               0                   1               1                1                     1                       1                 1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002060"/>
                </a:solidFill>
              </a:rPr>
              <a:t>Offset :              360               300          240             180                120                    60                  0</a:t>
            </a:r>
          </a:p>
        </p:txBody>
      </p:sp>
    </p:spTree>
    <p:extLst>
      <p:ext uri="{BB962C8B-B14F-4D97-AF65-F5344CB8AC3E}">
        <p14:creationId xmlns:p14="http://schemas.microsoft.com/office/powerpoint/2010/main" val="2214927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600" b="1" dirty="0"/>
              <a:t>Verify IP parameters for Client OS </a:t>
            </a:r>
            <a:endParaRPr lang="en-IN" sz="3600" b="1" dirty="0" smtClean="0"/>
          </a:p>
          <a:p>
            <a:pPr marL="0" indent="0" algn="ctr">
              <a:buNone/>
            </a:pPr>
            <a:r>
              <a:rPr lang="en-IN" sz="3600" b="1" dirty="0" smtClean="0"/>
              <a:t>(</a:t>
            </a:r>
            <a:r>
              <a:rPr lang="en-IN" sz="3600" b="1" dirty="0"/>
              <a:t>Windows, Mac OS, Linux)</a:t>
            </a:r>
          </a:p>
          <a:p>
            <a:pPr marL="0" indent="0" algn="ctr">
              <a:buNone/>
            </a:pP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988606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382385"/>
            <a:ext cx="10178322" cy="6320167"/>
          </a:xfrm>
        </p:spPr>
        <p:txBody>
          <a:bodyPr>
            <a:normAutofit/>
          </a:bodyPr>
          <a:lstStyle/>
          <a:p>
            <a:r>
              <a:rPr lang="en-GB" dirty="0"/>
              <a:t>Whether learned using DHCP or not, every host that uses IP version 4 needs to have some settings to work correctly</a:t>
            </a:r>
            <a:r>
              <a:rPr lang="en-GB" dirty="0" smtClean="0"/>
              <a:t>.</a:t>
            </a:r>
          </a:p>
          <a:p>
            <a:r>
              <a:rPr lang="en-GB" dirty="0"/>
              <a:t>To work correctly, an IPv4 host needs to know these values</a:t>
            </a:r>
            <a:r>
              <a:rPr lang="en-GB" dirty="0" smtClean="0"/>
              <a:t>:</a:t>
            </a:r>
          </a:p>
          <a:p>
            <a:pPr marL="0" indent="0">
              <a:buNone/>
            </a:pPr>
            <a:r>
              <a:rPr lang="en-IN" dirty="0"/>
              <a:t>■ DNS server IP addresses</a:t>
            </a:r>
            <a:br>
              <a:rPr lang="en-IN" dirty="0"/>
            </a:br>
            <a:r>
              <a:rPr lang="en-IN" dirty="0"/>
              <a:t>■ Default gateway (router) IP address</a:t>
            </a:r>
            <a:br>
              <a:rPr lang="en-IN" dirty="0"/>
            </a:br>
            <a:r>
              <a:rPr lang="en-IN" dirty="0"/>
              <a:t>■ Device’s own IP address</a:t>
            </a:r>
            <a:br>
              <a:rPr lang="en-IN" dirty="0"/>
            </a:br>
            <a:r>
              <a:rPr lang="en-IN" dirty="0"/>
              <a:t>■ Device’s own subnet </a:t>
            </a:r>
            <a:r>
              <a:rPr lang="en-IN" dirty="0" smtClean="0"/>
              <a:t>mask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GB" dirty="0" smtClean="0"/>
              <a:t>- The </a:t>
            </a:r>
            <a:r>
              <a:rPr lang="en-GB" dirty="0"/>
              <a:t>host must know the IP address of one or more DNS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servers </a:t>
            </a:r>
            <a:r>
              <a:rPr lang="en-GB" dirty="0"/>
              <a:t>to send the servers’ name resolution requests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endParaRPr lang="en-GB" dirty="0"/>
          </a:p>
          <a:p>
            <a:pPr>
              <a:buFontTx/>
              <a:buChar char="-"/>
            </a:pPr>
            <a:r>
              <a:rPr lang="en-GB" dirty="0" smtClean="0"/>
              <a:t>Each </a:t>
            </a:r>
            <a:r>
              <a:rPr lang="en-GB" dirty="0"/>
              <a:t>endpoint needs to know the IP address of a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 router that </a:t>
            </a:r>
            <a:r>
              <a:rPr lang="en-GB" dirty="0"/>
              <a:t>resides in the same subnet.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- The </a:t>
            </a:r>
            <a:r>
              <a:rPr lang="en-GB" dirty="0"/>
              <a:t>endpoint uses that router as its default router or default gateway.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874517"/>
            <a:ext cx="4660582" cy="1581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4206240"/>
            <a:ext cx="4764024" cy="145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12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349" y="382385"/>
            <a:ext cx="10538651" cy="605499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Host IP Settings on </a:t>
            </a:r>
            <a:r>
              <a:rPr lang="en-GB" dirty="0" smtClean="0"/>
              <a:t>Windows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49" y="1476876"/>
            <a:ext cx="5161979" cy="4067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839" y="246887"/>
            <a:ext cx="5449490" cy="606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578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416" y="382385"/>
            <a:ext cx="10570464" cy="614643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Host IP Settings on </a:t>
            </a:r>
            <a:r>
              <a:rPr lang="en-GB" dirty="0" smtClean="0"/>
              <a:t>Linux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018" y="949070"/>
            <a:ext cx="9309642" cy="537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07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292608"/>
            <a:ext cx="10178322" cy="625449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Host IP Settings on </a:t>
            </a:r>
            <a:r>
              <a:rPr lang="en-GB" dirty="0" smtClean="0"/>
              <a:t>Linux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15" y="1188720"/>
            <a:ext cx="6171248" cy="512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133991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1066</TotalTime>
  <Words>699</Words>
  <Application>Microsoft Office PowerPoint</Application>
  <PresentationFormat>Widescreen</PresentationFormat>
  <Paragraphs>410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Arial Black</vt:lpstr>
      <vt:lpstr>Gill Sans MT</vt:lpstr>
      <vt:lpstr>Impact</vt:lpstr>
      <vt:lpstr>Badge</vt:lpstr>
      <vt:lpstr>IP ADDRESSING v4</vt:lpstr>
      <vt:lpstr> </vt:lpstr>
      <vt:lpstr>  </vt:lpstr>
      <vt:lpstr>    </vt:lpstr>
      <vt:lpstr>  </vt:lpstr>
      <vt:lpstr>Identifying Range, No. Of Network &amp; No. Of Host per Network</vt:lpstr>
      <vt:lpstr>Identifying Range, N0. Of Network &amp; No. Of Host per Network</vt:lpstr>
      <vt:lpstr>   </vt:lpstr>
      <vt:lpstr>Sub netting</vt:lpstr>
      <vt:lpstr>Class C sub netting</vt:lpstr>
      <vt:lpstr>  </vt:lpstr>
      <vt:lpstr>5. Broadcast address : It is number just before the next                   subnet. [Next Subnet -1]</vt:lpstr>
      <vt:lpstr>   </vt:lpstr>
      <vt:lpstr>  </vt:lpstr>
      <vt:lpstr>   </vt:lpstr>
      <vt:lpstr>  </vt:lpstr>
      <vt:lpstr>  </vt:lpstr>
      <vt:lpstr>Class a sub netting chart</vt:lpstr>
      <vt:lpstr>  </vt:lpstr>
      <vt:lpstr>Class b sub netting chart</vt:lpstr>
      <vt:lpstr>  </vt:lpstr>
      <vt:lpstr>Class C sub netting chart</vt:lpstr>
      <vt:lpstr>  </vt:lpstr>
      <vt:lpstr>  </vt:lpstr>
      <vt:lpstr>IPv4 Header</vt:lpstr>
      <vt:lpstr>  </vt:lpstr>
      <vt:lpstr>  </vt:lpstr>
      <vt:lpstr>Fragmentation In IPv4</vt:lpstr>
      <vt:lpstr>  </vt:lpstr>
      <vt:lpstr>  </vt:lpstr>
      <vt:lpstr>  </vt:lpstr>
      <vt:lpstr>  </vt:lpstr>
      <vt:lpstr>  </vt:lpstr>
      <vt:lpstr>  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 ADDRESSING</dc:title>
  <dc:creator>Pawan Kumar</dc:creator>
  <cp:lastModifiedBy>PaWaN</cp:lastModifiedBy>
  <cp:revision>89</cp:revision>
  <dcterms:created xsi:type="dcterms:W3CDTF">2020-12-24T10:34:54Z</dcterms:created>
  <dcterms:modified xsi:type="dcterms:W3CDTF">2022-01-03T09:19:26Z</dcterms:modified>
</cp:coreProperties>
</file>