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5" r:id="rId11"/>
    <p:sldId id="267" r:id="rId12"/>
    <p:sldId id="285" r:id="rId13"/>
    <p:sldId id="278" r:id="rId14"/>
    <p:sldId id="279" r:id="rId15"/>
    <p:sldId id="268" r:id="rId16"/>
    <p:sldId id="269" r:id="rId17"/>
    <p:sldId id="270" r:id="rId18"/>
    <p:sldId id="271" r:id="rId19"/>
    <p:sldId id="272" r:id="rId20"/>
    <p:sldId id="273" r:id="rId21"/>
    <p:sldId id="280" r:id="rId22"/>
    <p:sldId id="281" r:id="rId23"/>
    <p:sldId id="282" r:id="rId24"/>
    <p:sldId id="28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 varScale="1">
        <p:scale>
          <a:sx n="84" d="100"/>
          <a:sy n="84" d="100"/>
        </p:scale>
        <p:origin x="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9T05:32:48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0 256,'0'0'0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9T06:24:49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3394,'-8'33'0,"-4"54"-2434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929E2-F623-43C5-BC22-0BCDB63ADB6B}" type="datetimeFigureOut">
              <a:rPr lang="en-IN" smtClean="0"/>
              <a:t>14-09-2022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CF73F-582D-41A7-B59A-2970210433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435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929E2-F623-43C5-BC22-0BCDB63ADB6B}" type="datetimeFigureOut">
              <a:rPr lang="en-IN" smtClean="0"/>
              <a:t>14-09-2022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CF73F-582D-41A7-B59A-2970210433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039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929E2-F623-43C5-BC22-0BCDB63ADB6B}" type="datetimeFigureOut">
              <a:rPr lang="en-IN" smtClean="0"/>
              <a:t>14-09-2022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CF73F-582D-41A7-B59A-2970210433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107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929E2-F623-43C5-BC22-0BCDB63ADB6B}" type="datetimeFigureOut">
              <a:rPr lang="en-IN" smtClean="0"/>
              <a:t>14-09-2022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CF73F-582D-41A7-B59A-2970210433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097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929E2-F623-43C5-BC22-0BCDB63ADB6B}" type="datetimeFigureOut">
              <a:rPr lang="en-IN" smtClean="0"/>
              <a:t>14-09-2022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CF73F-582D-41A7-B59A-2970210433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73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929E2-F623-43C5-BC22-0BCDB63ADB6B}" type="datetimeFigureOut">
              <a:rPr lang="en-IN" smtClean="0"/>
              <a:t>14-09-2022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CF73F-582D-41A7-B59A-2970210433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550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929E2-F623-43C5-BC22-0BCDB63ADB6B}" type="datetimeFigureOut">
              <a:rPr lang="en-IN" smtClean="0"/>
              <a:t>14-09-2022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CF73F-582D-41A7-B59A-2970210433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840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929E2-F623-43C5-BC22-0BCDB63ADB6B}" type="datetimeFigureOut">
              <a:rPr lang="en-IN" smtClean="0"/>
              <a:t>14-09-2022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CF73F-582D-41A7-B59A-2970210433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527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929E2-F623-43C5-BC22-0BCDB63ADB6B}" type="datetimeFigureOut">
              <a:rPr lang="en-IN" smtClean="0"/>
              <a:t>14-09-2022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CF73F-582D-41A7-B59A-2970210433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934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929E2-F623-43C5-BC22-0BCDB63ADB6B}" type="datetimeFigureOut">
              <a:rPr lang="en-IN" smtClean="0"/>
              <a:t>14-09-2022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CF73F-582D-41A7-B59A-2970210433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614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929E2-F623-43C5-BC22-0BCDB63ADB6B}" type="datetimeFigureOut">
              <a:rPr lang="en-IN" smtClean="0"/>
              <a:t>14-09-2022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CF73F-582D-41A7-B59A-297021043358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03514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929E2-F623-43C5-BC22-0BCDB63ADB6B}" type="datetimeFigureOut">
              <a:rPr lang="en-IN" smtClean="0"/>
              <a:t>14-09-2022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CF73F-582D-41A7-B59A-2970210433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6535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929E2-F623-43C5-BC22-0BCDB63ADB6B}" type="datetimeFigureOut">
              <a:rPr lang="en-IN" smtClean="0"/>
              <a:t>14-09-2022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CF73F-582D-41A7-B59A-297021043358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049771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929E2-F623-43C5-BC22-0BCDB63ADB6B}" type="datetimeFigureOut">
              <a:rPr lang="en-IN" smtClean="0"/>
              <a:t>14-09-2022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CF73F-582D-41A7-B59A-2970210433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9934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929E2-F623-43C5-BC22-0BCDB63ADB6B}" type="datetimeFigureOut">
              <a:rPr lang="en-IN" smtClean="0"/>
              <a:t>14-09-2022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CF73F-582D-41A7-B59A-2970210433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2000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929E2-F623-43C5-BC22-0BCDB63ADB6B}" type="datetimeFigureOut">
              <a:rPr lang="en-IN" smtClean="0"/>
              <a:t>14-09-2022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CF73F-582D-41A7-B59A-2970210433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915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C929E2-F623-43C5-BC22-0BCDB63ADB6B}" type="datetimeFigureOut">
              <a:rPr lang="en-IN" smtClean="0"/>
              <a:t>14-09-2022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CF73F-582D-41A7-B59A-2970210433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9211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8067"/>
          </a:xfrm>
        </p:spPr>
        <p:txBody>
          <a:bodyPr>
            <a:normAutofit/>
          </a:bodyPr>
          <a:lstStyle/>
          <a:p>
            <a:pPr algn="ctr"/>
            <a:r>
              <a:rPr lang="en-IN" sz="3200" b="1" u="sng" dirty="0">
                <a:latin typeface="Arial Black" panose="020B0A04020102020204" pitchFamily="34" charset="0"/>
              </a:rPr>
              <a:t>AWS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9238"/>
            <a:ext cx="10515600" cy="4727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/>
              <a:t>Types of storage :-</a:t>
            </a:r>
          </a:p>
          <a:p>
            <a:pPr marL="514350" indent="-514350">
              <a:buAutoNum type="arabicPeriod"/>
            </a:pPr>
            <a:r>
              <a:rPr lang="en-IN" sz="2800" dirty="0"/>
              <a:t>Simple Storage Service (S3) – To store unstructured data</a:t>
            </a:r>
          </a:p>
          <a:p>
            <a:pPr marL="514350" indent="-514350">
              <a:buAutoNum type="arabicPeriod"/>
            </a:pPr>
            <a:r>
              <a:rPr lang="en-IN" sz="2800" dirty="0"/>
              <a:t>Elastic File System (EFS) – For Linux based system only</a:t>
            </a:r>
          </a:p>
          <a:p>
            <a:pPr marL="514350" indent="-514350">
              <a:buAutoNum type="arabicPeriod"/>
            </a:pPr>
            <a:r>
              <a:rPr lang="en-IN" sz="2800" dirty="0"/>
              <a:t>Elastic Block Storage (EBS) – Storage for EC-2 machine</a:t>
            </a:r>
          </a:p>
          <a:p>
            <a:pPr marL="514350" indent="-514350">
              <a:buAutoNum type="arabicPeriod"/>
            </a:pPr>
            <a:r>
              <a:rPr lang="en-IN" sz="2800" dirty="0"/>
              <a:t>Glacier – Store data for very long time</a:t>
            </a:r>
          </a:p>
          <a:p>
            <a:pPr marL="514350" indent="-514350">
              <a:buAutoNum type="arabicPeriod"/>
            </a:pPr>
            <a:r>
              <a:rPr lang="en-IN" sz="2800" dirty="0"/>
              <a:t>Snowball – Portable storage that is used to migrate very 						huge amount of data from datacentre to cloud.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u="sng" dirty="0"/>
              <a:t>Note :- </a:t>
            </a:r>
            <a:r>
              <a:rPr lang="en-IN" b="1" dirty="0"/>
              <a:t> </a:t>
            </a:r>
            <a:r>
              <a:rPr lang="en-IN" i="1" dirty="0"/>
              <a:t>Now Glacier is part of S3 &amp; so both are together is known as Glacier S3.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04A00EE-8B27-DB2B-5076-3F9ED4FEC484}"/>
                  </a:ext>
                </a:extLst>
              </p14:cNvPr>
              <p14:cNvContentPartPr/>
              <p14:nvPr/>
            </p14:nvContentPartPr>
            <p14:xfrm>
              <a:off x="11435760" y="276570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04A00EE-8B27-DB2B-5076-3F9ED4FEC48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427120" y="275670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2420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3177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800" b="1" u="sng" dirty="0">
                <a:solidFill>
                  <a:srgbClr val="FFFF00"/>
                </a:solidFill>
              </a:rPr>
              <a:t>Difference between Block level storage &amp; Object level storage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1116857"/>
              </p:ext>
            </p:extLst>
          </p:nvPr>
        </p:nvGraphicFramePr>
        <p:xfrm>
          <a:off x="838200" y="1078302"/>
          <a:ext cx="10515600" cy="55381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38157">
                <a:tc>
                  <a:txBody>
                    <a:bodyPr/>
                    <a:lstStyle/>
                    <a:p>
                      <a:pPr algn="ctr"/>
                      <a:r>
                        <a:rPr lang="en-IN" sz="2400" u="sng" dirty="0"/>
                        <a:t>Block</a:t>
                      </a:r>
                      <a:r>
                        <a:rPr lang="en-IN" sz="2400" u="sng" baseline="0" dirty="0"/>
                        <a:t> Level Storage</a:t>
                      </a:r>
                      <a:endParaRPr lang="en-IN" sz="2400" u="sng" dirty="0"/>
                    </a:p>
                    <a:p>
                      <a:pPr algn="l"/>
                      <a:endParaRPr lang="en-IN" sz="2000" u="none" dirty="0"/>
                    </a:p>
                    <a:p>
                      <a:pPr algn="l"/>
                      <a:r>
                        <a:rPr lang="en-IN" sz="2000" u="none" dirty="0"/>
                        <a:t>1.It is suitable</a:t>
                      </a:r>
                      <a:r>
                        <a:rPr lang="en-IN" sz="2000" u="none" baseline="0" dirty="0"/>
                        <a:t> for transactional, database,random read/write loads &amp; structured database storage.</a:t>
                      </a:r>
                    </a:p>
                    <a:p>
                      <a:pPr algn="l"/>
                      <a:endParaRPr lang="en-IN" sz="2000" u="none" baseline="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u="none" baseline="0" dirty="0"/>
                        <a:t>2.Data is divided into equal sized blocks(data chunk) for instance before it is stored.</a:t>
                      </a:r>
                    </a:p>
                    <a:p>
                      <a:pPr algn="l"/>
                      <a:endParaRPr lang="en-IN" sz="2000" u="none" baseline="0" dirty="0"/>
                    </a:p>
                    <a:p>
                      <a:pPr algn="l"/>
                      <a:r>
                        <a:rPr lang="en-IN" sz="2000" u="none" baseline="0" dirty="0"/>
                        <a:t>3. Data blocks stored on storage do not contain metadata.</a:t>
                      </a:r>
                    </a:p>
                    <a:p>
                      <a:pPr algn="l"/>
                      <a:endParaRPr lang="en-IN" sz="2000" u="none" baseline="0" dirty="0"/>
                    </a:p>
                    <a:p>
                      <a:pPr algn="l"/>
                      <a:r>
                        <a:rPr lang="en-IN" sz="2000" u="none" baseline="0" dirty="0"/>
                        <a:t>4. Block storage only keeps the address(index) where the data blocks are stored.</a:t>
                      </a:r>
                      <a:endParaRPr lang="en-IN" sz="2000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u="sng" dirty="0"/>
                        <a:t>Object Level Storage</a:t>
                      </a:r>
                    </a:p>
                    <a:p>
                      <a:pPr algn="ctr"/>
                      <a:endParaRPr lang="en-IN" u="sng" dirty="0"/>
                    </a:p>
                    <a:p>
                      <a:pPr algn="l"/>
                      <a:r>
                        <a:rPr lang="en-IN" u="none" dirty="0"/>
                        <a:t>1.It store whole</a:t>
                      </a:r>
                      <a:r>
                        <a:rPr lang="en-IN" u="none" baseline="0" dirty="0"/>
                        <a:t> data without dividing into data blocks.</a:t>
                      </a:r>
                    </a:p>
                    <a:p>
                      <a:pPr algn="l"/>
                      <a:endParaRPr lang="en-IN" u="none" baseline="0" dirty="0"/>
                    </a:p>
                    <a:p>
                      <a:pPr algn="l"/>
                      <a:endParaRPr lang="en-IN" u="none" baseline="0" dirty="0"/>
                    </a:p>
                    <a:p>
                      <a:pPr algn="l"/>
                      <a:r>
                        <a:rPr lang="en-IN" u="none" baseline="0" dirty="0"/>
                        <a:t>2.An Object can be –</a:t>
                      </a:r>
                    </a:p>
                    <a:p>
                      <a:pPr algn="l"/>
                      <a:r>
                        <a:rPr lang="en-IN" u="none" baseline="0" dirty="0"/>
                        <a:t>           - The File or Data itself</a:t>
                      </a:r>
                    </a:p>
                    <a:p>
                      <a:pPr algn="l"/>
                      <a:r>
                        <a:rPr lang="en-IN" u="none" baseline="0" dirty="0"/>
                        <a:t>           - Its metadata</a:t>
                      </a:r>
                    </a:p>
                    <a:p>
                      <a:pPr algn="l"/>
                      <a:r>
                        <a:rPr lang="en-IN" u="none" baseline="0" dirty="0"/>
                        <a:t>           - Object Global Unique ID</a:t>
                      </a:r>
                    </a:p>
                    <a:p>
                      <a:pPr algn="l"/>
                      <a:endParaRPr lang="en-IN" u="none" baseline="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u="none" baseline="0" dirty="0"/>
                        <a:t>3.The Object Global Unique ID is a unique identifier for the object.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u="none" baseline="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u="none" baseline="0" dirty="0"/>
                        <a:t>4.Object storage can not be mounted as drive.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u="none" baseline="0" dirty="0"/>
                        <a:t>   Ex. Dropbox, Facebook, AWS S3 etc.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u="none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4828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5778" y="83388"/>
            <a:ext cx="8596668" cy="589472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FF00"/>
                </a:solidFill>
              </a:rPr>
              <a:t>S3 &amp; S3 Bucket Naming Rules</a:t>
            </a:r>
            <a:br>
              <a:rPr lang="en-IN" b="1" dirty="0">
                <a:solidFill>
                  <a:srgbClr val="FFFF00"/>
                </a:solidFill>
              </a:rPr>
            </a:br>
            <a:endParaRPr lang="en-IN" b="1" dirty="0">
              <a:solidFill>
                <a:srgbClr val="FFFF00"/>
              </a:solidFill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4612668"/>
              </p:ext>
            </p:extLst>
          </p:nvPr>
        </p:nvGraphicFramePr>
        <p:xfrm>
          <a:off x="677861" y="1198562"/>
          <a:ext cx="10795270" cy="54006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7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0646">
                <a:tc>
                  <a:txBody>
                    <a:bodyPr/>
                    <a:lstStyle/>
                    <a:p>
                      <a:pPr algn="ctr"/>
                      <a:r>
                        <a:rPr lang="en-IN" sz="2000" u="sng" dirty="0"/>
                        <a:t>S3</a:t>
                      </a:r>
                    </a:p>
                    <a:p>
                      <a:pPr algn="ctr"/>
                      <a:endParaRPr lang="en-IN" sz="2000" u="sng" dirty="0"/>
                    </a:p>
                    <a:p>
                      <a:r>
                        <a:rPr lang="en-IN" dirty="0"/>
                        <a:t>1. It is a storage for internet.</a:t>
                      </a:r>
                    </a:p>
                    <a:p>
                      <a:r>
                        <a:rPr lang="en-IN" dirty="0"/>
                        <a:t>2. It is object based storage.</a:t>
                      </a:r>
                    </a:p>
                    <a:p>
                      <a:r>
                        <a:rPr lang="en-IN" dirty="0"/>
                        <a:t>3. You</a:t>
                      </a:r>
                      <a:r>
                        <a:rPr lang="en-IN" baseline="0" dirty="0"/>
                        <a:t> can not install OS on S3.</a:t>
                      </a:r>
                    </a:p>
                    <a:p>
                      <a:r>
                        <a:rPr lang="en-IN" dirty="0"/>
                        <a:t>4. It has distributed data store architecture  where objects are randomly stored on multiple locations.(Max. 3 location in same region)</a:t>
                      </a:r>
                    </a:p>
                    <a:p>
                      <a:r>
                        <a:rPr lang="en-IN" dirty="0"/>
                        <a:t>5. Data is stored in Bucket.</a:t>
                      </a:r>
                    </a:p>
                    <a:p>
                      <a:r>
                        <a:rPr lang="en-IN" dirty="0"/>
                        <a:t>6. Max. capacity of bucket is</a:t>
                      </a:r>
                      <a:r>
                        <a:rPr lang="en-IN" baseline="0" dirty="0"/>
                        <a:t> 5 TB.</a:t>
                      </a:r>
                    </a:p>
                    <a:p>
                      <a:r>
                        <a:rPr lang="en-IN" baseline="0" dirty="0"/>
                        <a:t>7. You can create folders in your bucket</a:t>
                      </a:r>
                    </a:p>
                    <a:p>
                      <a:r>
                        <a:rPr lang="en-IN" baseline="0" dirty="0"/>
                        <a:t>8. You can not create nested bucket.</a:t>
                      </a:r>
                    </a:p>
                    <a:p>
                      <a:r>
                        <a:rPr lang="en-IN" baseline="0" dirty="0"/>
                        <a:t>9. Bucket ownership is non-transferable.</a:t>
                      </a:r>
                    </a:p>
                    <a:p>
                      <a:r>
                        <a:rPr lang="en-IN" baseline="0" dirty="0"/>
                        <a:t>10. S3 bucket is region specific.</a:t>
                      </a:r>
                    </a:p>
                    <a:p>
                      <a:r>
                        <a:rPr lang="en-IN" baseline="0" dirty="0"/>
                        <a:t>11. You can have upto 100 buckets per account   (may expand on request)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u="sng" dirty="0"/>
                        <a:t>S3 Bucket Naming Rules</a:t>
                      </a:r>
                    </a:p>
                    <a:p>
                      <a:pPr algn="ctr"/>
                      <a:endParaRPr lang="en-IN" u="sng" dirty="0"/>
                    </a:p>
                    <a:p>
                      <a:pPr marL="342900" indent="-342900" algn="l">
                        <a:buAutoNum type="arabicPeriod"/>
                      </a:pPr>
                      <a:r>
                        <a:rPr lang="en-IN" u="none" baseline="0" dirty="0"/>
                        <a:t>Bucket name is globally unique.</a:t>
                      </a:r>
                    </a:p>
                    <a:p>
                      <a:pPr marL="342900" indent="-342900" algn="l">
                        <a:buAutoNum type="arabicPeriod"/>
                      </a:pPr>
                      <a:r>
                        <a:rPr lang="en-IN" u="none" baseline="0" dirty="0"/>
                        <a:t>It can not be changed after creation.</a:t>
                      </a:r>
                    </a:p>
                    <a:p>
                      <a:pPr marL="342900" indent="-342900" algn="l">
                        <a:buAutoNum type="arabicPeriod"/>
                      </a:pPr>
                      <a:r>
                        <a:rPr lang="en-IN" u="none" baseline="0" dirty="0"/>
                        <a:t>If bucket id deleted, its name can be used by another aws account.</a:t>
                      </a:r>
                    </a:p>
                    <a:p>
                      <a:pPr marL="342900" indent="-342900" algn="l">
                        <a:buAutoNum type="arabicPeriod"/>
                      </a:pPr>
                      <a:r>
                        <a:rPr lang="en-IN" u="none" baseline="0" dirty="0"/>
                        <a:t>Bucket name must be between 3 to 63 characters.</a:t>
                      </a:r>
                    </a:p>
                    <a:p>
                      <a:pPr marL="342900" indent="-342900" algn="l">
                        <a:buAutoNum type="arabicPeriod"/>
                      </a:pPr>
                      <a:r>
                        <a:rPr lang="en-IN" u="none" baseline="0" dirty="0"/>
                        <a:t>Bucket name is the part of URL used to access a bucket.</a:t>
                      </a:r>
                    </a:p>
                    <a:p>
                      <a:pPr marL="342900" indent="-342900" algn="l">
                        <a:buAutoNum type="arabicPeriod"/>
                      </a:pPr>
                      <a:r>
                        <a:rPr lang="en-IN" u="none" baseline="0" dirty="0"/>
                        <a:t>Bucket name contain lowercase,numbers,dot and hyphen.(can not be uppercase).</a:t>
                      </a:r>
                    </a:p>
                    <a:p>
                      <a:pPr marL="342900" indent="-342900" algn="l">
                        <a:buAutoNum type="arabicPeriod"/>
                      </a:pPr>
                      <a:r>
                        <a:rPr lang="en-IN" u="none" baseline="0" dirty="0"/>
                        <a:t>Bucket name should not be an IP address.</a:t>
                      </a:r>
                    </a:p>
                    <a:p>
                      <a:pPr marL="342900" indent="-342900" algn="l">
                        <a:buAutoNum type="arabicPeriod"/>
                      </a:pPr>
                      <a:r>
                        <a:rPr lang="en-IN" u="none" baseline="0" dirty="0"/>
                        <a:t>Each label must start and end with a lowercase letter or a number.</a:t>
                      </a:r>
                    </a:p>
                    <a:p>
                      <a:pPr marL="342900" indent="-342900" algn="l">
                        <a:buAutoNum type="arabicPeriod"/>
                      </a:pPr>
                      <a:r>
                        <a:rPr lang="en-IN" u="none" baseline="0" dirty="0"/>
                        <a:t>By default bucket and its object is private &amp; only owner can access the bucket.</a:t>
                      </a:r>
                    </a:p>
                    <a:p>
                      <a:pPr marL="342900" indent="-342900" algn="l">
                        <a:buAutoNum type="arabicPeriod"/>
                      </a:pPr>
                      <a:endParaRPr lang="en-IN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264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2730" y="230037"/>
            <a:ext cx="8596668" cy="667109"/>
          </a:xfrm>
        </p:spPr>
        <p:txBody>
          <a:bodyPr>
            <a:normAutofit/>
          </a:bodyPr>
          <a:lstStyle/>
          <a:p>
            <a:r>
              <a:rPr lang="en-IN" sz="3200" dirty="0"/>
              <a:t>S3 Bucket – Sub-resources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0777" y="1250830"/>
            <a:ext cx="8903067" cy="4850917"/>
          </a:xfrm>
        </p:spPr>
        <p:txBody>
          <a:bodyPr/>
          <a:lstStyle/>
          <a:p>
            <a:pPr marL="0" indent="0">
              <a:buNone/>
            </a:pPr>
            <a:r>
              <a:rPr lang="en-IN" u="sng" dirty="0"/>
              <a:t>It include :-</a:t>
            </a:r>
          </a:p>
          <a:p>
            <a:pPr>
              <a:buAutoNum type="arabicPeriod"/>
            </a:pPr>
            <a:r>
              <a:rPr lang="en-IN" dirty="0"/>
              <a:t>Lifecycle   – To decide lifecycle management for objects</a:t>
            </a:r>
          </a:p>
          <a:p>
            <a:pPr>
              <a:buAutoNum type="arabicPeriod"/>
            </a:pPr>
            <a:r>
              <a:rPr lang="en-IN" dirty="0"/>
              <a:t>Websites   – To hold configurations related to static website hosted in S3 bucket</a:t>
            </a:r>
          </a:p>
          <a:p>
            <a:pPr>
              <a:buAutoNum type="arabicPeriod"/>
            </a:pPr>
            <a:r>
              <a:rPr lang="en-IN" dirty="0"/>
              <a:t>Versioning – Keep object version as it change or get updated</a:t>
            </a:r>
          </a:p>
          <a:p>
            <a:pPr marL="0" indent="0">
              <a:buNone/>
            </a:pPr>
            <a:r>
              <a:rPr lang="en-IN" dirty="0"/>
              <a:t>			 - Can not be disabled when you enable it (only suspended)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92D050"/>
                </a:solidFill>
              </a:rPr>
              <a:t>4.   </a:t>
            </a:r>
            <a:r>
              <a:rPr lang="en-IN" dirty="0"/>
              <a:t>Access Control List – Bucket policies</a:t>
            </a:r>
          </a:p>
          <a:p>
            <a:pPr marL="0" indent="0">
              <a:buNone/>
            </a:pPr>
            <a:r>
              <a:rPr lang="en-IN" dirty="0"/>
              <a:t>----------------------------------------------------------------------------------------------------</a:t>
            </a:r>
          </a:p>
          <a:p>
            <a:pPr marL="0" indent="0">
              <a:buNone/>
            </a:pPr>
            <a:r>
              <a:rPr lang="en-IN" u="sng" dirty="0"/>
              <a:t>Bucket Name has two parts :–</a:t>
            </a:r>
          </a:p>
          <a:p>
            <a:pPr marL="0" indent="0">
              <a:buNone/>
            </a:pPr>
            <a:r>
              <a:rPr lang="en-IN" dirty="0">
                <a:solidFill>
                  <a:srgbClr val="92D050"/>
                </a:solidFill>
              </a:rPr>
              <a:t>a. </a:t>
            </a:r>
            <a:r>
              <a:rPr lang="en-IN" dirty="0"/>
              <a:t>Bucket region endpoint     </a:t>
            </a:r>
            <a:r>
              <a:rPr lang="en-IN" dirty="0">
                <a:solidFill>
                  <a:srgbClr val="92D050"/>
                </a:solidFill>
              </a:rPr>
              <a:t>b. </a:t>
            </a:r>
            <a:r>
              <a:rPr lang="en-IN" dirty="0"/>
              <a:t>bucket name</a:t>
            </a:r>
          </a:p>
          <a:p>
            <a:pPr marL="0" indent="0">
              <a:buNone/>
            </a:pPr>
            <a:r>
              <a:rPr lang="en-IN" dirty="0"/>
              <a:t>Ex. For S3 bucket named </a:t>
            </a:r>
            <a:r>
              <a:rPr lang="en-IN" u="sng" dirty="0">
                <a:solidFill>
                  <a:srgbClr val="00B0F0"/>
                </a:solidFill>
              </a:rPr>
              <a:t>mybucket</a:t>
            </a:r>
            <a:r>
              <a:rPr lang="en-IN" dirty="0"/>
              <a:t> in Mumbai Region</a:t>
            </a:r>
          </a:p>
          <a:p>
            <a:pPr marL="0" indent="0">
              <a:buNone/>
            </a:pPr>
            <a:r>
              <a:rPr lang="en-IN" u="sng" dirty="0">
                <a:solidFill>
                  <a:srgbClr val="92D050"/>
                </a:solidFill>
              </a:rPr>
              <a:t>https://mybucket.s3.ap-south-1.amazonaws.com/aws.png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0496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598" y="109268"/>
            <a:ext cx="8596668" cy="598098"/>
          </a:xfrm>
        </p:spPr>
        <p:txBody>
          <a:bodyPr>
            <a:normAutofit/>
          </a:bodyPr>
          <a:lstStyle/>
          <a:p>
            <a:r>
              <a:rPr lang="en-IN" sz="3200" dirty="0"/>
              <a:t>S3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767751"/>
            <a:ext cx="9519089" cy="5926347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IN" dirty="0"/>
              <a:t>An object size stored in an S3 bucket can be 0 byte to 5 TB</a:t>
            </a:r>
          </a:p>
          <a:p>
            <a:pPr>
              <a:buFontTx/>
              <a:buChar char="-"/>
            </a:pPr>
            <a:r>
              <a:rPr lang="en-IN" dirty="0"/>
              <a:t>Each object is stored and retrieved by a unique key (ID or Name)</a:t>
            </a:r>
          </a:p>
          <a:p>
            <a:pPr>
              <a:buFontTx/>
              <a:buChar char="-"/>
            </a:pPr>
            <a:r>
              <a:rPr lang="en-IN" dirty="0"/>
              <a:t>An object in S3 is uniquely identified through :</a:t>
            </a:r>
          </a:p>
          <a:p>
            <a:pPr marL="0" indent="0">
              <a:buNone/>
            </a:pPr>
            <a:r>
              <a:rPr lang="en-IN" dirty="0"/>
              <a:t>		! Service Endpoint</a:t>
            </a:r>
          </a:p>
          <a:p>
            <a:pPr marL="0" indent="0">
              <a:buNone/>
            </a:pPr>
            <a:r>
              <a:rPr lang="en-IN" dirty="0"/>
              <a:t>		! Bucket Name</a:t>
            </a:r>
          </a:p>
          <a:p>
            <a:pPr marL="0" indent="0">
              <a:buNone/>
            </a:pPr>
            <a:r>
              <a:rPr lang="en-IN" dirty="0"/>
              <a:t>		! Object Key (Name)</a:t>
            </a:r>
          </a:p>
          <a:p>
            <a:pPr marL="0" indent="0">
              <a:buNone/>
            </a:pPr>
            <a:r>
              <a:rPr lang="en-IN" dirty="0"/>
              <a:t>		! Optionally Object Version</a:t>
            </a:r>
          </a:p>
          <a:p>
            <a:pPr>
              <a:buFontTx/>
              <a:buChar char="-"/>
            </a:pPr>
            <a:r>
              <a:rPr lang="en-IN" dirty="0"/>
              <a:t>Object stored in S3 bucket never leave its region unless you move to another region</a:t>
            </a:r>
          </a:p>
          <a:p>
            <a:pPr>
              <a:buFontTx/>
              <a:buChar char="-"/>
            </a:pPr>
            <a:r>
              <a:rPr lang="en-IN" dirty="0"/>
              <a:t>A bucket owner can grant cross-account permission to another AWS account user in another account or to upload objects</a:t>
            </a:r>
          </a:p>
          <a:p>
            <a:pPr>
              <a:buFontTx/>
              <a:buChar char="-"/>
            </a:pPr>
            <a:r>
              <a:rPr lang="en-IN" dirty="0"/>
              <a:t>You can grant S3 bucket/object permission to :</a:t>
            </a:r>
          </a:p>
          <a:p>
            <a:pPr marL="0" indent="0">
              <a:buNone/>
            </a:pPr>
            <a:r>
              <a:rPr lang="en-IN" dirty="0"/>
              <a:t>		! Individual User</a:t>
            </a:r>
          </a:p>
          <a:p>
            <a:pPr marL="0" indent="0">
              <a:buNone/>
            </a:pPr>
            <a:r>
              <a:rPr lang="en-IN" dirty="0"/>
              <a:t>		! AWS Account</a:t>
            </a:r>
          </a:p>
          <a:p>
            <a:pPr marL="0" indent="0">
              <a:buNone/>
            </a:pPr>
            <a:r>
              <a:rPr lang="en-IN" dirty="0"/>
              <a:t>		! Make the resource public</a:t>
            </a:r>
          </a:p>
          <a:p>
            <a:pPr marL="0" indent="0">
              <a:buNone/>
            </a:pPr>
            <a:r>
              <a:rPr lang="en-IN" dirty="0"/>
              <a:t>		! To all authenticated users</a:t>
            </a:r>
          </a:p>
          <a:p>
            <a:pPr marL="0" indent="0">
              <a:buNone/>
            </a:pPr>
            <a:endParaRPr lang="en-IN" dirty="0"/>
          </a:p>
          <a:p>
            <a:pPr>
              <a:buFontTx/>
              <a:buChar char="-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2967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09268"/>
            <a:ext cx="8596668" cy="934528"/>
          </a:xfrm>
        </p:spPr>
        <p:txBody>
          <a:bodyPr>
            <a:normAutofit fontScale="90000"/>
          </a:bodyPr>
          <a:lstStyle/>
          <a:p>
            <a:r>
              <a:rPr lang="en-IN" sz="2000" dirty="0"/>
              <a:t>Lab 1 :- How to create bucket graphically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Lab 2 :- How to create bucket using CLI (install AWS CLI)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1168551"/>
            <a:ext cx="11075239" cy="5551426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               </a:t>
            </a:r>
            <a:r>
              <a:rPr lang="en-IN" b="1" u="sng" dirty="0"/>
              <a:t>STEP :-</a:t>
            </a:r>
          </a:p>
          <a:p>
            <a:pPr>
              <a:buFontTx/>
              <a:buChar char="-"/>
            </a:pPr>
            <a:r>
              <a:rPr lang="en-IN" dirty="0"/>
              <a:t>Go to CMD and type </a:t>
            </a:r>
            <a:r>
              <a:rPr lang="en-IN" dirty="0">
                <a:solidFill>
                  <a:srgbClr val="0070C0"/>
                </a:solidFill>
              </a:rPr>
              <a:t>AWS configure</a:t>
            </a:r>
          </a:p>
          <a:p>
            <a:pPr>
              <a:buFontTx/>
              <a:buChar char="-"/>
            </a:pPr>
            <a:r>
              <a:rPr lang="en-IN" dirty="0">
                <a:solidFill>
                  <a:schemeClr val="tx1"/>
                </a:solidFill>
              </a:rPr>
              <a:t>Generate Access Key ID – Go to AWS management console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					 - Click on account name and select My security Credential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					 - Select continue to security Credential from pop-up menu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					 - Select Access key &amp; select create new access key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					 - Download Key File &amp; open it</a:t>
            </a:r>
          </a:p>
          <a:p>
            <a:pPr>
              <a:buFontTx/>
              <a:buChar char="-"/>
            </a:pPr>
            <a:r>
              <a:rPr lang="en-IN" dirty="0">
                <a:solidFill>
                  <a:schemeClr val="tx1"/>
                </a:solidFill>
              </a:rPr>
              <a:t>Enter Access Key ID &amp; Secret Access Key   [aws s3 ls]</a:t>
            </a:r>
          </a:p>
          <a:p>
            <a:pPr>
              <a:buFontTx/>
              <a:buChar char="-"/>
            </a:pPr>
            <a:r>
              <a:rPr lang="en-IN" dirty="0">
                <a:solidFill>
                  <a:schemeClr val="tx1"/>
                </a:solidFill>
              </a:rPr>
              <a:t>Now make bucket : </a:t>
            </a:r>
            <a:r>
              <a:rPr lang="en-IN" dirty="0">
                <a:solidFill>
                  <a:srgbClr val="0070C0"/>
                </a:solidFill>
              </a:rPr>
              <a:t>(c:\&gt;aws s3 mb s3://pawanxpress)</a:t>
            </a:r>
          </a:p>
          <a:p>
            <a:pPr>
              <a:buFontTx/>
              <a:buChar char="-"/>
            </a:pPr>
            <a:r>
              <a:rPr lang="en-IN" dirty="0">
                <a:solidFill>
                  <a:schemeClr val="tx1"/>
                </a:solidFill>
              </a:rPr>
              <a:t>Remove bucket : </a:t>
            </a:r>
            <a:r>
              <a:rPr lang="en-IN" dirty="0">
                <a:solidFill>
                  <a:srgbClr val="0070C0"/>
                </a:solidFill>
              </a:rPr>
              <a:t>(c:\&gt;aws s3 rb s3://pawanxpress)</a:t>
            </a:r>
          </a:p>
          <a:p>
            <a:pPr>
              <a:buFontTx/>
              <a:buChar char="-"/>
            </a:pPr>
            <a:r>
              <a:rPr lang="en-IN" dirty="0">
                <a:solidFill>
                  <a:schemeClr val="tx1"/>
                </a:solidFill>
              </a:rPr>
              <a:t>Synch a folder from PC(desktop folder named aws1) to bucket : </a:t>
            </a:r>
            <a:r>
              <a:rPr lang="en-IN" dirty="0">
                <a:solidFill>
                  <a:srgbClr val="0070C0"/>
                </a:solidFill>
              </a:rPr>
              <a:t>c:/&gt;cd desktop	cd aws(folder name)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														</a:t>
            </a:r>
            <a:r>
              <a:rPr lang="en-IN" dirty="0">
                <a:solidFill>
                  <a:schemeClr val="tx1"/>
                </a:solidFill>
              </a:rPr>
              <a:t>:</a:t>
            </a:r>
            <a:r>
              <a:rPr lang="en-IN" dirty="0">
                <a:solidFill>
                  <a:srgbClr val="0070C0"/>
                </a:solidFill>
              </a:rPr>
              <a:t> c:\&gt;aws s3 sync . s3://pawanxpress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-   </a:t>
            </a:r>
            <a:r>
              <a:rPr lang="en-IN" dirty="0">
                <a:solidFill>
                  <a:schemeClr val="tx1"/>
                </a:solidFill>
              </a:rPr>
              <a:t>Sync from bucket to PC if file deleted from that folder :</a:t>
            </a:r>
            <a:r>
              <a:rPr lang="en-IN" dirty="0">
                <a:solidFill>
                  <a:srgbClr val="0070C0"/>
                </a:solidFill>
              </a:rPr>
              <a:t> c:\&gt;aws s3 sync s3://pawanxpress .</a:t>
            </a:r>
          </a:p>
          <a:p>
            <a:pPr marL="0" indent="0">
              <a:buNone/>
            </a:pPr>
            <a:endParaRPr lang="en-IN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1524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599"/>
            <a:ext cx="10838930" cy="1624643"/>
          </a:xfrm>
        </p:spPr>
        <p:txBody>
          <a:bodyPr>
            <a:noAutofit/>
          </a:bodyPr>
          <a:lstStyle/>
          <a:p>
            <a:r>
              <a:rPr lang="en-IN" sz="2000" dirty="0"/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040" y="304801"/>
            <a:ext cx="11635740" cy="629478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1800" dirty="0">
                <a:solidFill>
                  <a:srgbClr val="FFFF00"/>
                </a:solidFill>
              </a:rPr>
              <a:t>Install aws cli on Linux :</a:t>
            </a:r>
          </a:p>
          <a:p>
            <a:pPr marL="0" indent="0">
              <a:buNone/>
            </a:pPr>
            <a:r>
              <a:rPr lang="en-IN" sz="1800" dirty="0"/>
              <a:t>curl "https://awscli.amazonaws.com/awscli-exe-linux-x86_64.zip" -o “awscliv2.zip”</a:t>
            </a:r>
          </a:p>
          <a:p>
            <a:pPr marL="0" indent="0">
              <a:buNone/>
            </a:pPr>
            <a:r>
              <a:rPr lang="en-IN" sz="1800" dirty="0"/>
              <a:t>unzip awscliv2.zip	(run -----dnf install unzip-------if command not found)</a:t>
            </a:r>
          </a:p>
          <a:p>
            <a:pPr marL="0" indent="0">
              <a:buNone/>
            </a:pPr>
            <a:r>
              <a:rPr lang="en-IN" sz="1800" dirty="0"/>
              <a:t>./aws/install</a:t>
            </a:r>
          </a:p>
          <a:p>
            <a:pPr marL="0" indent="0">
              <a:buNone/>
            </a:pPr>
            <a:r>
              <a:rPr lang="en-IN" dirty="0"/>
              <a:t>aws   --version-----  ( l</a:t>
            </a:r>
            <a:r>
              <a:rPr lang="en-IN" sz="1800" dirty="0"/>
              <a:t>n   –s   /usr/local/bin/aws   /usr/bin  ----for root user if command not found)</a:t>
            </a:r>
            <a:br>
              <a:rPr lang="en-IN" sz="1800" dirty="0"/>
            </a:br>
            <a:r>
              <a:rPr lang="en-IN" sz="1800" dirty="0"/>
              <a:t>------------------------------------------------------------------------------------------------------------------------------------------------</a:t>
            </a:r>
            <a:endParaRPr lang="en-IN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IN" sz="2000" dirty="0">
                <a:solidFill>
                  <a:srgbClr val="FFFF00"/>
                </a:solidFill>
              </a:rPr>
              <a:t>Lab 3 : S3 Versioning</a:t>
            </a:r>
            <a:br>
              <a:rPr lang="en-IN" sz="1800" dirty="0"/>
            </a:br>
            <a:endParaRPr lang="en-IN" dirty="0"/>
          </a:p>
          <a:p>
            <a:pPr>
              <a:buFontTx/>
              <a:buChar char="-"/>
            </a:pPr>
            <a:r>
              <a:rPr lang="en-IN" dirty="0"/>
              <a:t>Bucket versioning is a S3 bucket sub resource that is used to protect against accidental data deletion.</a:t>
            </a:r>
          </a:p>
          <a:p>
            <a:pPr>
              <a:buFontTx/>
              <a:buChar char="-"/>
            </a:pPr>
            <a:r>
              <a:rPr lang="en-IN" dirty="0"/>
              <a:t>Once you enable versioning on a bucket, it can’t be disabled, only suspended.</a:t>
            </a:r>
          </a:p>
          <a:p>
            <a:pPr>
              <a:buFontTx/>
              <a:buChar char="-"/>
            </a:pPr>
            <a:r>
              <a:rPr lang="en-IN" dirty="0"/>
              <a:t>When you delete an object, a delete marker is placed on the object.</a:t>
            </a:r>
          </a:p>
          <a:p>
            <a:pPr>
              <a:buFontTx/>
              <a:buChar char="-"/>
            </a:pPr>
            <a:r>
              <a:rPr lang="en-IN" dirty="0"/>
              <a:t>You are charged for all object version stored in S3.</a:t>
            </a:r>
          </a:p>
          <a:p>
            <a:pPr>
              <a:buFontTx/>
              <a:buChar char="-"/>
            </a:pPr>
            <a:r>
              <a:rPr lang="en-IN" dirty="0"/>
              <a:t>You can use versioning with S3 lifecycle policies to delete older version or to move them into a cheaper S3 storage.</a:t>
            </a:r>
          </a:p>
          <a:p>
            <a:pPr>
              <a:buFontTx/>
              <a:buChar char="-"/>
            </a:pPr>
            <a:r>
              <a:rPr lang="en-IN" dirty="0"/>
              <a:t>Object existing before enabling versioning have version id “NULL”.</a:t>
            </a:r>
          </a:p>
          <a:p>
            <a:pPr>
              <a:buFontTx/>
              <a:buChar char="-"/>
            </a:pPr>
            <a:r>
              <a:rPr lang="en-IN" dirty="0"/>
              <a:t>All existing objects &amp; their versions remain same when you suspend versioning.</a:t>
            </a:r>
          </a:p>
          <a:p>
            <a:pPr>
              <a:buFontTx/>
              <a:buChar char="-"/>
            </a:pPr>
            <a:r>
              <a:rPr lang="en-IN" dirty="0"/>
              <a:t>An object deletion in a suspended versioning bucket, delete only the object with id “NULL”.</a:t>
            </a:r>
          </a:p>
          <a:p>
            <a:pPr>
              <a:buFontTx/>
              <a:buChar char="-"/>
            </a:pPr>
            <a:endParaRPr lang="en-IN" dirty="0"/>
          </a:p>
          <a:p>
            <a:pPr marL="0" indent="0">
              <a:buNone/>
            </a:pPr>
            <a:r>
              <a:rPr lang="en-IN" sz="2000" dirty="0">
                <a:solidFill>
                  <a:srgbClr val="FFFF00"/>
                </a:solidFill>
              </a:rPr>
              <a:t>Lab 4 :- Cross Region Replication (CRR) &lt;Note: Versioning must be enabled for CRR&gt;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DB7091A-5C39-D917-A403-36BF9C9F3D76}"/>
                  </a:ext>
                </a:extLst>
              </p14:cNvPr>
              <p14:cNvContentPartPr/>
              <p14:nvPr/>
            </p14:nvContentPartPr>
            <p14:xfrm>
              <a:off x="10333800" y="926100"/>
              <a:ext cx="7560" cy="43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DB7091A-5C39-D917-A403-36BF9C9F3D7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24800" y="917460"/>
                <a:ext cx="25200" cy="6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8442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 of AWS S3 storage :-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AutoNum type="arabicPeriod"/>
            </a:pPr>
            <a:r>
              <a:rPr lang="en-IN" sz="2400" dirty="0"/>
              <a:t>Amazon S3 Standard</a:t>
            </a:r>
          </a:p>
          <a:p>
            <a:pPr>
              <a:buAutoNum type="arabicPeriod"/>
            </a:pPr>
            <a:r>
              <a:rPr lang="en-IN" sz="2400" dirty="0"/>
              <a:t>Amazon S3 Standard IA</a:t>
            </a:r>
          </a:p>
          <a:p>
            <a:pPr>
              <a:buAutoNum type="arabicPeriod"/>
            </a:pPr>
            <a:r>
              <a:rPr lang="en-IN" sz="2400" dirty="0"/>
              <a:t>Amazon S3 Intelligent Tiering </a:t>
            </a:r>
          </a:p>
          <a:p>
            <a:pPr>
              <a:buAutoNum type="arabicPeriod"/>
            </a:pPr>
            <a:r>
              <a:rPr lang="en-IN" sz="2400" dirty="0"/>
              <a:t>Amazon S3 One Zone IA</a:t>
            </a:r>
          </a:p>
          <a:p>
            <a:pPr>
              <a:buAutoNum type="arabicPeriod"/>
            </a:pPr>
            <a:r>
              <a:rPr lang="en-IN" sz="2400" dirty="0"/>
              <a:t>Amazon Glacier</a:t>
            </a:r>
          </a:p>
          <a:p>
            <a:pPr>
              <a:buAutoNum type="arabicPeriod"/>
            </a:pPr>
            <a:r>
              <a:rPr lang="en-IN" sz="2400" dirty="0"/>
              <a:t>Amazon S3 Glacier Deep Archive</a:t>
            </a:r>
          </a:p>
          <a:p>
            <a:pPr>
              <a:buAutoNum type="arabicPeriod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97328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566468"/>
            <a:ext cx="8596668" cy="468702"/>
          </a:xfrm>
        </p:spPr>
        <p:txBody>
          <a:bodyPr>
            <a:noAutofit/>
          </a:bodyPr>
          <a:lstStyle/>
          <a:p>
            <a:r>
              <a:rPr lang="en-IN" sz="2000" b="1" u="sng" dirty="0">
                <a:solidFill>
                  <a:schemeClr val="tx1"/>
                </a:solidFill>
              </a:rPr>
              <a:t>1. Amazon S3 – Standard</a:t>
            </a:r>
            <a:br>
              <a:rPr lang="en-IN" sz="2000" dirty="0">
                <a:solidFill>
                  <a:schemeClr val="tx1"/>
                </a:solidFill>
              </a:rPr>
            </a:b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035170"/>
            <a:ext cx="9838266" cy="56934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dirty="0"/>
              <a:t>	- Used for frequently accessed data</a:t>
            </a:r>
          </a:p>
          <a:p>
            <a:pPr marL="0" indent="0">
              <a:buNone/>
            </a:pPr>
            <a:r>
              <a:rPr lang="en-IN" dirty="0"/>
              <a:t>	- Durability is 99.999999999 %</a:t>
            </a:r>
          </a:p>
          <a:p>
            <a:pPr marL="0" indent="0">
              <a:buNone/>
            </a:pPr>
            <a:r>
              <a:rPr lang="en-IN" dirty="0"/>
              <a:t>	- Designed for 99.99 % availability in a given year.</a:t>
            </a:r>
          </a:p>
          <a:p>
            <a:pPr marL="0" indent="0">
              <a:buNone/>
            </a:pPr>
            <a:r>
              <a:rPr lang="en-IN" dirty="0"/>
              <a:t>	- Support SSL for data in-transit &amp; encryption of data at rest.</a:t>
            </a:r>
          </a:p>
          <a:p>
            <a:pPr marL="0" indent="0">
              <a:buNone/>
            </a:pPr>
            <a:r>
              <a:rPr lang="en-IN" dirty="0"/>
              <a:t>	- Storage cost for the objet is fairly high but very less charge for accessing</a:t>
            </a:r>
          </a:p>
          <a:p>
            <a:pPr marL="0" indent="0">
              <a:buNone/>
            </a:pPr>
            <a:r>
              <a:rPr lang="en-IN" dirty="0"/>
              <a:t>	- Largest object that can be uploaded in a single PUT is 5 GB.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000" b="1" u="sng" dirty="0"/>
              <a:t>2. Amazon S3 Standard -IA (Infrequent Access)</a:t>
            </a:r>
          </a:p>
          <a:p>
            <a:pPr marL="0" indent="0">
              <a:buNone/>
            </a:pPr>
            <a:r>
              <a:rPr lang="en-IN" dirty="0"/>
              <a:t>	- Used for less frequently accessed data but require instant access when needed</a:t>
            </a:r>
          </a:p>
          <a:p>
            <a:pPr marL="0" indent="0">
              <a:buNone/>
            </a:pPr>
            <a:r>
              <a:rPr lang="en-IN" dirty="0"/>
              <a:t>	- Durability is 99.999999999 %</a:t>
            </a:r>
          </a:p>
          <a:p>
            <a:pPr marL="0" indent="0">
              <a:buNone/>
            </a:pPr>
            <a:r>
              <a:rPr lang="en-IN" dirty="0"/>
              <a:t>	- Storage cost for the objet is less but very more charge for accessing</a:t>
            </a:r>
          </a:p>
          <a:p>
            <a:pPr marL="0" indent="0">
              <a:buNone/>
            </a:pPr>
            <a:r>
              <a:rPr lang="en-IN" dirty="0"/>
              <a:t>	- 99.9 % availability in a given year.</a:t>
            </a:r>
          </a:p>
          <a:p>
            <a:pPr marL="0" indent="0">
              <a:buNone/>
            </a:pPr>
            <a:r>
              <a:rPr lang="en-IN" dirty="0"/>
              <a:t>	- Support SSL for data in-transit &amp; encryption of data at rest.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65284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599"/>
            <a:ext cx="10683655" cy="1452113"/>
          </a:xfrm>
        </p:spPr>
        <p:txBody>
          <a:bodyPr>
            <a:normAutofit fontScale="90000"/>
          </a:bodyPr>
          <a:lstStyle/>
          <a:p>
            <a:r>
              <a:rPr lang="en-IN" sz="2200" b="1" u="sng" dirty="0">
                <a:solidFill>
                  <a:schemeClr val="tx1"/>
                </a:solidFill>
              </a:rPr>
              <a:t>3. Amazon S3 Intelligent Tiering</a:t>
            </a:r>
            <a:br>
              <a:rPr lang="en-IN" sz="1800" dirty="0">
                <a:solidFill>
                  <a:schemeClr val="tx1"/>
                </a:solidFill>
              </a:rPr>
            </a:br>
            <a:r>
              <a:rPr lang="en-IN" sz="1800" dirty="0">
                <a:solidFill>
                  <a:schemeClr val="tx1"/>
                </a:solidFill>
              </a:rPr>
              <a:t>	- </a:t>
            </a:r>
            <a:r>
              <a:rPr lang="en-IN" sz="2000" dirty="0">
                <a:solidFill>
                  <a:schemeClr val="tx1"/>
                </a:solidFill>
              </a:rPr>
              <a:t>Designed to optimize automatically by moving data to the most cost effective access-tier</a:t>
            </a:r>
            <a:br>
              <a:rPr lang="en-IN" sz="2000" dirty="0">
                <a:solidFill>
                  <a:schemeClr val="tx1"/>
                </a:solidFill>
              </a:rPr>
            </a:br>
            <a:r>
              <a:rPr lang="en-IN" sz="2000" dirty="0">
                <a:solidFill>
                  <a:schemeClr val="tx1"/>
                </a:solidFill>
              </a:rPr>
              <a:t>	- Durability is 99.999999999 %</a:t>
            </a:r>
            <a:br>
              <a:rPr lang="en-IN" sz="2000" dirty="0">
                <a:solidFill>
                  <a:schemeClr val="tx1"/>
                </a:solidFill>
              </a:rPr>
            </a:br>
            <a:r>
              <a:rPr lang="en-IN" sz="2000" dirty="0">
                <a:solidFill>
                  <a:schemeClr val="tx1"/>
                </a:solidFill>
              </a:rPr>
              <a:t>	- 99.9 % availability in a given year.</a:t>
            </a:r>
            <a:br>
              <a:rPr lang="en-IN" sz="1600" dirty="0">
                <a:solidFill>
                  <a:schemeClr val="tx1"/>
                </a:solidFill>
              </a:rPr>
            </a:b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733911"/>
            <a:ext cx="9967662" cy="47704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dirty="0"/>
              <a:t>	- It work by storing object into two access-tier</a:t>
            </a:r>
          </a:p>
          <a:p>
            <a:pPr marL="0" indent="0">
              <a:buNone/>
            </a:pPr>
            <a:r>
              <a:rPr lang="en-IN" dirty="0"/>
              <a:t>	- If an object in IA is accessed, it is automatically moved back to frequent access-tier</a:t>
            </a:r>
          </a:p>
          <a:p>
            <a:pPr marL="0" indent="0">
              <a:buNone/>
            </a:pPr>
            <a:r>
              <a:rPr lang="en-IN" dirty="0"/>
              <a:t>	- There is no rental fee for moving object between different access-tier</a:t>
            </a:r>
          </a:p>
          <a:p>
            <a:pPr marL="0" indent="0">
              <a:buNone/>
            </a:pPr>
            <a:r>
              <a:rPr lang="en-IN" dirty="0"/>
              <a:t>	- Object less than 128 KB can not be moved to IA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000" b="1" u="sng" dirty="0"/>
              <a:t>4. Amazon S3 One Zone IA</a:t>
            </a:r>
          </a:p>
          <a:p>
            <a:pPr marL="0" indent="0">
              <a:buNone/>
            </a:pPr>
            <a:r>
              <a:rPr lang="en-IN" dirty="0"/>
              <a:t>	- Used for less frequently accessed data but require instant access when needed</a:t>
            </a:r>
          </a:p>
          <a:p>
            <a:pPr marL="0" indent="0">
              <a:buNone/>
            </a:pPr>
            <a:r>
              <a:rPr lang="en-IN" dirty="0"/>
              <a:t>	- Ideal for those who want lower cost option of IA data</a:t>
            </a:r>
          </a:p>
          <a:p>
            <a:pPr marL="0" indent="0">
              <a:buNone/>
            </a:pPr>
            <a:r>
              <a:rPr lang="en-IN" dirty="0"/>
              <a:t>	- Data stored in a single AZ, so data is lost in the event of AZ destruction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>
                <a:solidFill>
                  <a:schemeClr val="tx1"/>
                </a:solidFill>
              </a:rPr>
              <a:t>- Durability is 99.999999999 %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	- 99.5 % availability in a given year.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	- Good choice for storing secondary backup of on premises data or easily re-creatable data</a:t>
            </a:r>
            <a:endParaRPr lang="en-IN" dirty="0"/>
          </a:p>
          <a:p>
            <a:pPr marL="0" indent="0">
              <a:buNone/>
            </a:pP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	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1507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434196"/>
          </a:xfrm>
        </p:spPr>
        <p:txBody>
          <a:bodyPr>
            <a:normAutofit/>
          </a:bodyPr>
          <a:lstStyle/>
          <a:p>
            <a:r>
              <a:rPr lang="en-IN" sz="2000" b="1" u="sng" dirty="0">
                <a:solidFill>
                  <a:schemeClr val="tx1"/>
                </a:solidFill>
              </a:rPr>
              <a:t>5.Amazon S3 Glacier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043797"/>
            <a:ext cx="8596668" cy="558991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	- It is a secure,durable &amp; low cost storage class for data archiving</a:t>
            </a:r>
          </a:p>
          <a:p>
            <a:pPr marL="0" indent="0">
              <a:buNone/>
            </a:pPr>
            <a:r>
              <a:rPr lang="en-IN" dirty="0"/>
              <a:t>	- It provide three retrieval option from a few minute to hours.</a:t>
            </a:r>
          </a:p>
          <a:p>
            <a:pPr marL="0" indent="0">
              <a:buNone/>
            </a:pPr>
            <a:r>
              <a:rPr lang="en-IN" dirty="0"/>
              <a:t>	- Durability is 99.999999999 %</a:t>
            </a:r>
          </a:p>
          <a:p>
            <a:pPr marL="0" indent="0">
              <a:buNone/>
            </a:pPr>
            <a:r>
              <a:rPr lang="en-IN" dirty="0"/>
              <a:t>	- 99.99 % availability in a given year.</a:t>
            </a:r>
          </a:p>
          <a:p>
            <a:pPr marL="0" indent="0">
              <a:buNone/>
            </a:pPr>
            <a:r>
              <a:rPr lang="en-IN" dirty="0"/>
              <a:t>	- You can upload object directly to Glacier or use Lifecycle policies</a:t>
            </a:r>
          </a:p>
          <a:p>
            <a:pPr marL="0" indent="0">
              <a:buNone/>
            </a:pPr>
            <a:r>
              <a:rPr lang="en-IN" dirty="0"/>
              <a:t>	- Support SSL for data in-transit &amp; encryption of data at rest.</a:t>
            </a:r>
          </a:p>
          <a:p>
            <a:pPr marL="0" indent="0">
              <a:buNone/>
            </a:pPr>
            <a:r>
              <a:rPr lang="en-IN" dirty="0"/>
              <a:t>	- You can retrieve 10 GB data per month from Glacier with free tier account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200" b="1" u="sng" dirty="0">
                <a:solidFill>
                  <a:schemeClr val="tx1"/>
                </a:solidFill>
              </a:rPr>
              <a:t>6.Amazon S3 Glacier Deep Archive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	- Cheapest storage option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	- Design to retain data for long period 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	- Objects are stored across at least three AZ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	</a:t>
            </a:r>
            <a:r>
              <a:rPr lang="en-IN" dirty="0"/>
              <a:t>- Durability is 99.999999999 %</a:t>
            </a:r>
          </a:p>
          <a:p>
            <a:pPr marL="0" indent="0">
              <a:buNone/>
            </a:pPr>
            <a:r>
              <a:rPr lang="en-IN" dirty="0"/>
              <a:t>	- 99.99 % availability in a given year.</a:t>
            </a:r>
          </a:p>
          <a:p>
            <a:pPr marL="0" indent="0">
              <a:buNone/>
            </a:pPr>
            <a:r>
              <a:rPr lang="en-IN" dirty="0"/>
              <a:t>	- Ideal for magnetic tape libraries</a:t>
            </a:r>
          </a:p>
          <a:p>
            <a:pPr marL="0" indent="0">
              <a:buNone/>
            </a:pPr>
            <a:r>
              <a:rPr lang="en-IN" dirty="0"/>
              <a:t>	- Retrieval time within 12 hrs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8983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67887-7CE2-8E07-AB8A-72FAE4B2C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2F22E-12DC-D813-BDDA-CC2CBE8A4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331" y="357809"/>
            <a:ext cx="11290852" cy="6215269"/>
          </a:xfrm>
        </p:spPr>
        <p:txBody>
          <a:bodyPr/>
          <a:lstStyle/>
          <a:p>
            <a:pPr marL="0" indent="0">
              <a:buNone/>
            </a:pPr>
            <a:endParaRPr lang="en-US" sz="2400" b="1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FF00"/>
                </a:solidFill>
              </a:rPr>
              <a:t>					How to connect S3 with local machine ?</a:t>
            </a:r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Create one bucket in each Mumbai Region &amp; Singapore Region.</a:t>
            </a:r>
          </a:p>
          <a:p>
            <a:pPr>
              <a:buFontTx/>
              <a:buChar char="-"/>
            </a:pPr>
            <a:r>
              <a:rPr lang="en-US" dirty="0"/>
              <a:t>Create replication between Mumbai &amp; Singapore bidirectionally.</a:t>
            </a:r>
          </a:p>
          <a:p>
            <a:pPr>
              <a:buFontTx/>
              <a:buChar char="-"/>
            </a:pPr>
            <a:r>
              <a:rPr lang="en-US" dirty="0"/>
              <a:t>Download TNT drive for S3 from google &amp; Install it.</a:t>
            </a:r>
          </a:p>
          <a:p>
            <a:pPr>
              <a:buFontTx/>
              <a:buChar char="-"/>
            </a:pPr>
            <a:r>
              <a:rPr lang="en-US" dirty="0"/>
              <a:t>Open TNT, Mount Bucket, Add some file &amp; Check on Cloud.</a:t>
            </a:r>
          </a:p>
        </p:txBody>
      </p:sp>
    </p:spTree>
    <p:extLst>
      <p:ext uri="{BB962C8B-B14F-4D97-AF65-F5344CB8AC3E}">
        <p14:creationId xmlns:p14="http://schemas.microsoft.com/office/powerpoint/2010/main" val="2114977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5132"/>
          </a:xfrm>
        </p:spPr>
        <p:txBody>
          <a:bodyPr>
            <a:normAutofit/>
          </a:bodyPr>
          <a:lstStyle/>
          <a:p>
            <a:r>
              <a:rPr lang="en-IN" sz="2800" b="1" u="sng" dirty="0"/>
              <a:t>EFS (Elastic File System)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16657"/>
            <a:ext cx="8596668" cy="4324705"/>
          </a:xfrm>
        </p:spPr>
        <p:txBody>
          <a:bodyPr>
            <a:normAutofit fontScale="92500" lnSpcReduction="10000"/>
          </a:bodyPr>
          <a:lstStyle/>
          <a:p>
            <a:pPr>
              <a:buFontTx/>
              <a:buChar char="-"/>
            </a:pPr>
            <a:r>
              <a:rPr lang="en-IN" dirty="0"/>
              <a:t>It provides simple &amp; scalable elastic file storage for use with AWS cloud services and on-premises resources.</a:t>
            </a:r>
          </a:p>
          <a:p>
            <a:pPr>
              <a:buFontTx/>
              <a:buChar char="-"/>
            </a:pPr>
            <a:r>
              <a:rPr lang="en-IN" dirty="0"/>
              <a:t>It is easy to use and offers a simple interface that allows to create and configure file system quickly.</a:t>
            </a:r>
          </a:p>
          <a:p>
            <a:pPr>
              <a:buFontTx/>
              <a:buChar char="-"/>
            </a:pPr>
            <a:r>
              <a:rPr lang="en-IN" dirty="0"/>
              <a:t>Unlimited storage, size grow or shrink automatically as we add or remove files</a:t>
            </a:r>
          </a:p>
          <a:p>
            <a:pPr>
              <a:buFontTx/>
              <a:buChar char="-"/>
            </a:pPr>
            <a:r>
              <a:rPr lang="en-IN" dirty="0"/>
              <a:t>As a regional service, EFS store data across multiple AZ for high availability and redundancy.</a:t>
            </a:r>
          </a:p>
          <a:p>
            <a:pPr>
              <a:buFontTx/>
              <a:buChar char="-"/>
            </a:pPr>
            <a:r>
              <a:rPr lang="en-IN" dirty="0"/>
              <a:t>It can be mounted to N no. of Instances.</a:t>
            </a:r>
          </a:p>
          <a:p>
            <a:pPr>
              <a:buFontTx/>
              <a:buChar char="-"/>
            </a:pPr>
            <a:r>
              <a:rPr lang="en-IN" dirty="0"/>
              <a:t>Amazon EC2 instance &amp; on-premises server both can access EFS file system at same time.</a:t>
            </a:r>
          </a:p>
          <a:p>
            <a:pPr>
              <a:buFontTx/>
              <a:buChar char="-"/>
            </a:pPr>
            <a:r>
              <a:rPr lang="en-IN" dirty="0"/>
              <a:t>This service is not available in all region.</a:t>
            </a:r>
          </a:p>
          <a:p>
            <a:pPr>
              <a:buFontTx/>
              <a:buChar char="-"/>
            </a:pPr>
            <a:r>
              <a:rPr lang="en-IN" dirty="0"/>
              <a:t>You pay for what you use, with no commitments and up-front fees.</a:t>
            </a:r>
          </a:p>
          <a:p>
            <a:pPr>
              <a:buFontTx/>
              <a:buChar char="-"/>
            </a:pPr>
            <a:r>
              <a:rPr lang="en-IN" dirty="0"/>
              <a:t>Price - $0.30/GB per month &amp; 5 GB under free tier account.</a:t>
            </a:r>
          </a:p>
        </p:txBody>
      </p:sp>
    </p:spTree>
    <p:extLst>
      <p:ext uri="{BB962C8B-B14F-4D97-AF65-F5344CB8AC3E}">
        <p14:creationId xmlns:p14="http://schemas.microsoft.com/office/powerpoint/2010/main" val="17457590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4476" y="488831"/>
            <a:ext cx="8596668" cy="554966"/>
          </a:xfrm>
        </p:spPr>
        <p:txBody>
          <a:bodyPr>
            <a:normAutofit/>
          </a:bodyPr>
          <a:lstStyle/>
          <a:p>
            <a:r>
              <a:rPr lang="en-IN" sz="2400" b="1" dirty="0"/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7658" y="341305"/>
            <a:ext cx="10096684" cy="617538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rgbClr val="FFC000"/>
                </a:solidFill>
              </a:rPr>
              <a:t>Lab : EFS with Linux EC2 Instance</a:t>
            </a:r>
            <a:endParaRPr lang="es-ES" sz="2400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Go to VPC,  Create a Security Group (EFS-SG), Add SSH &amp; NFS in Inbound Rule</a:t>
            </a:r>
          </a:p>
          <a:p>
            <a:pPr marL="0" indent="0">
              <a:buNone/>
            </a:pPr>
            <a:r>
              <a:rPr lang="es-ES" dirty="0"/>
              <a:t>Go to EFS, Create EFS (MYEFS)</a:t>
            </a:r>
          </a:p>
          <a:p>
            <a:pPr marL="0" indent="0">
              <a:buNone/>
            </a:pPr>
            <a:r>
              <a:rPr lang="es-ES" dirty="0"/>
              <a:t>Now launch two Linux EC2 </a:t>
            </a:r>
          </a:p>
          <a:p>
            <a:pPr>
              <a:buFontTx/>
              <a:buChar char="-"/>
            </a:pPr>
            <a:r>
              <a:rPr lang="es-ES" dirty="0"/>
              <a:t>Access 1st EC2 &amp; run the following command</a:t>
            </a:r>
          </a:p>
          <a:p>
            <a:pPr marL="0" indent="0">
              <a:buNone/>
            </a:pPr>
            <a:r>
              <a:rPr lang="es-ES" dirty="0"/>
              <a:t>		# yum -y update  </a:t>
            </a:r>
            <a:endParaRPr lang="en-IN" dirty="0"/>
          </a:p>
          <a:p>
            <a:pPr marL="0" indent="0">
              <a:buNone/>
            </a:pPr>
            <a:r>
              <a:rPr lang="es-ES" dirty="0"/>
              <a:t>		# yum -y install nfs-utils</a:t>
            </a:r>
            <a:endParaRPr lang="en-IN" dirty="0"/>
          </a:p>
          <a:p>
            <a:pPr marL="0" indent="0">
              <a:buNone/>
            </a:pPr>
            <a:r>
              <a:rPr lang="es-ES" dirty="0"/>
              <a:t>		# mkdir efs</a:t>
            </a:r>
          </a:p>
          <a:p>
            <a:pPr>
              <a:buFontTx/>
              <a:buChar char="-"/>
            </a:pPr>
            <a:endParaRPr lang="es-ES" dirty="0"/>
          </a:p>
          <a:p>
            <a:pPr>
              <a:buFontTx/>
              <a:buChar char="-"/>
            </a:pPr>
            <a:r>
              <a:rPr lang="es-ES" dirty="0"/>
              <a:t>Now go to efs, Click on the name, Attach, select via IP, Copy link and paste on EC2</a:t>
            </a:r>
          </a:p>
          <a:p>
            <a:pPr marL="0" indent="0" fontAlgn="base">
              <a:buNone/>
            </a:pPr>
            <a:endParaRPr lang="en-GB" dirty="0"/>
          </a:p>
          <a:p>
            <a:pPr fontAlgn="base">
              <a:buFontTx/>
              <a:buChar char="-"/>
            </a:pPr>
            <a:r>
              <a:rPr lang="en-GB" dirty="0"/>
              <a:t>#cd efs</a:t>
            </a:r>
          </a:p>
          <a:p>
            <a:pPr fontAlgn="base">
              <a:buFontTx/>
              <a:buChar char="-"/>
            </a:pPr>
            <a:r>
              <a:rPr lang="en-GB" dirty="0"/>
              <a:t>#touch file1	&amp;	#ls</a:t>
            </a:r>
          </a:p>
          <a:p>
            <a:pPr fontAlgn="base">
              <a:buFontTx/>
              <a:buChar char="-"/>
            </a:pPr>
            <a:endParaRPr lang="en-GB" dirty="0"/>
          </a:p>
          <a:p>
            <a:pPr marL="0" indent="0" fontAlgn="base">
              <a:buNone/>
            </a:pPr>
            <a:r>
              <a:rPr lang="en-GB" dirty="0"/>
              <a:t>Now access 2</a:t>
            </a:r>
            <a:r>
              <a:rPr lang="en-GB" baseline="30000" dirty="0"/>
              <a:t>nd</a:t>
            </a:r>
            <a:r>
              <a:rPr lang="en-GB" dirty="0"/>
              <a:t> EC2 &amp; repeat above task</a:t>
            </a:r>
          </a:p>
          <a:p>
            <a:pPr marL="0" indent="0" fontAlgn="base">
              <a:buNone/>
            </a:pP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397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63592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800" dirty="0"/>
              <a:t>EBS(Elastic Block Storage)</a:t>
            </a:r>
            <a:br>
              <a:rPr lang="en-IN" sz="2800" dirty="0"/>
            </a:b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87729"/>
            <a:ext cx="10882062" cy="50338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There are two types of block storage option available for EC2 instances :-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1. Elastic Block Storage (EBS backed EC2 Instance)</a:t>
            </a:r>
          </a:p>
          <a:p>
            <a:pPr marL="0" indent="0">
              <a:buNone/>
            </a:pPr>
            <a:r>
              <a:rPr lang="en-IN" dirty="0"/>
              <a:t>	- Persistent storage – Data is not deleted if EC2 stopped/rebooted</a:t>
            </a:r>
          </a:p>
          <a:p>
            <a:pPr marL="0" indent="0">
              <a:buNone/>
            </a:pPr>
            <a:r>
              <a:rPr lang="en-IN" dirty="0"/>
              <a:t>	- Network attached virtual drive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2. Instance store backed EC2</a:t>
            </a:r>
          </a:p>
          <a:p>
            <a:pPr marL="0" indent="0">
              <a:buNone/>
            </a:pPr>
            <a:r>
              <a:rPr lang="en-IN" dirty="0"/>
              <a:t>	- Virtual hard drive on the host allocated to EC2 instances</a:t>
            </a:r>
          </a:p>
          <a:p>
            <a:pPr marL="0" indent="0">
              <a:buNone/>
            </a:pPr>
            <a:r>
              <a:rPr lang="en-IN" dirty="0"/>
              <a:t>	- Limited to 10 GB storage per device</a:t>
            </a:r>
          </a:p>
          <a:p>
            <a:pPr marL="0" indent="0">
              <a:buNone/>
            </a:pPr>
            <a:r>
              <a:rPr lang="en-IN" dirty="0"/>
              <a:t>	- Non-persistent storage</a:t>
            </a:r>
          </a:p>
          <a:p>
            <a:pPr marL="0" indent="0">
              <a:buNone/>
            </a:pPr>
            <a:r>
              <a:rPr lang="en-IN" dirty="0"/>
              <a:t>	- Data will be deleted if EC2 instance is stopped or terminated but not in case of reboot</a:t>
            </a:r>
          </a:p>
        </p:txBody>
      </p:sp>
    </p:spTree>
    <p:extLst>
      <p:ext uri="{BB962C8B-B14F-4D97-AF65-F5344CB8AC3E}">
        <p14:creationId xmlns:p14="http://schemas.microsoft.com/office/powerpoint/2010/main" val="2309514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54966"/>
          </a:xfrm>
        </p:spPr>
        <p:txBody>
          <a:bodyPr>
            <a:normAutofit/>
          </a:bodyPr>
          <a:lstStyle/>
          <a:p>
            <a:r>
              <a:rPr lang="en-IN" sz="2800" dirty="0"/>
              <a:t>Types of EBS volume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45721"/>
            <a:ext cx="10916568" cy="4695641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1. SSD Backed Volume</a:t>
            </a:r>
          </a:p>
          <a:p>
            <a:pPr marL="0" indent="0">
              <a:buNone/>
            </a:pPr>
            <a:r>
              <a:rPr lang="en-IN" dirty="0"/>
              <a:t>	- It is of two type</a:t>
            </a:r>
          </a:p>
          <a:p>
            <a:pPr marL="0" indent="0">
              <a:buNone/>
            </a:pPr>
            <a:r>
              <a:rPr lang="en-IN" dirty="0"/>
              <a:t>		a.) General Purpose SSD (GP2)			b.) Provisioned IOPS SSD (io1)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2. HDD Backed Volume</a:t>
            </a:r>
          </a:p>
          <a:p>
            <a:pPr marL="0" indent="0">
              <a:buNone/>
            </a:pPr>
            <a:r>
              <a:rPr lang="en-IN" dirty="0"/>
              <a:t>	- It is of two type</a:t>
            </a:r>
          </a:p>
          <a:p>
            <a:pPr marL="0" indent="0">
              <a:buNone/>
            </a:pPr>
            <a:r>
              <a:rPr lang="en-IN" dirty="0"/>
              <a:t>		a.) Throughput Optimized HDD (st1)	b.) Cold HDD (sc1)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3. Magnetic Standard</a:t>
            </a:r>
          </a:p>
        </p:txBody>
      </p:sp>
    </p:spTree>
    <p:extLst>
      <p:ext uri="{BB962C8B-B14F-4D97-AF65-F5344CB8AC3E}">
        <p14:creationId xmlns:p14="http://schemas.microsoft.com/office/powerpoint/2010/main" val="1710673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63592"/>
          </a:xfrm>
        </p:spPr>
        <p:txBody>
          <a:bodyPr>
            <a:normAutofit fontScale="90000"/>
          </a:bodyPr>
          <a:lstStyle/>
          <a:p>
            <a:r>
              <a:rPr lang="en-IN" sz="2700" b="1" dirty="0"/>
              <a:t>1. SSD Backed Volume</a:t>
            </a:r>
            <a:br>
              <a:rPr lang="en-IN" sz="2000" dirty="0"/>
            </a:br>
            <a:endParaRPr lang="en-IN" sz="20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4310204"/>
              </p:ext>
            </p:extLst>
          </p:nvPr>
        </p:nvGraphicFramePr>
        <p:xfrm>
          <a:off x="677863" y="1570009"/>
          <a:ext cx="10562356" cy="47359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81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1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35900">
                <a:tc>
                  <a:txBody>
                    <a:bodyPr/>
                    <a:lstStyle/>
                    <a:p>
                      <a:pPr algn="ctr"/>
                      <a:r>
                        <a:rPr lang="en-IN" u="sng" dirty="0"/>
                        <a:t>General Purpose SSD (GP2)</a:t>
                      </a:r>
                    </a:p>
                    <a:p>
                      <a:pPr algn="ctr"/>
                      <a:endParaRPr lang="en-IN" u="sng" dirty="0"/>
                    </a:p>
                    <a:p>
                      <a:pPr marL="0" indent="0" algn="l">
                        <a:buNone/>
                      </a:pPr>
                      <a:r>
                        <a:rPr lang="en-IN" u="none" baseline="0" dirty="0"/>
                        <a:t>1. It is default EBS volume type.</a:t>
                      </a:r>
                    </a:p>
                    <a:p>
                      <a:pPr marL="0" indent="0" algn="l">
                        <a:buNone/>
                      </a:pPr>
                      <a:endParaRPr lang="en-IN" u="none" baseline="0" dirty="0"/>
                    </a:p>
                    <a:p>
                      <a:pPr marL="0" indent="0" algn="l">
                        <a:buNone/>
                      </a:pPr>
                      <a:r>
                        <a:rPr lang="en-IN" u="none" baseline="0" dirty="0"/>
                        <a:t>2. GP2 volumes are backed by SSD.</a:t>
                      </a:r>
                    </a:p>
                    <a:p>
                      <a:pPr marL="0" indent="0" algn="l">
                        <a:buNone/>
                      </a:pPr>
                      <a:endParaRPr lang="en-IN" u="none" baseline="0" dirty="0"/>
                    </a:p>
                    <a:p>
                      <a:pPr marL="0" indent="0" algn="l">
                        <a:buNone/>
                      </a:pPr>
                      <a:r>
                        <a:rPr lang="en-IN" u="none" baseline="0" dirty="0"/>
                        <a:t>3. Ratio of 3 IOPS/GB with upto 10000 IOPS.</a:t>
                      </a:r>
                    </a:p>
                    <a:p>
                      <a:pPr marL="0" indent="0" algn="l">
                        <a:buNone/>
                      </a:pPr>
                      <a:endParaRPr lang="en-IN" u="none" baseline="0" dirty="0"/>
                    </a:p>
                    <a:p>
                      <a:pPr marL="0" indent="0" algn="l">
                        <a:buNone/>
                      </a:pPr>
                      <a:r>
                        <a:rPr lang="en-IN" u="none" baseline="0" dirty="0"/>
                        <a:t>4. Volume Size = 1 GB to 16 TB</a:t>
                      </a:r>
                    </a:p>
                    <a:p>
                      <a:pPr marL="0" indent="0" algn="l">
                        <a:buNone/>
                      </a:pPr>
                      <a:endParaRPr lang="en-IN" u="none" baseline="0" dirty="0"/>
                    </a:p>
                    <a:p>
                      <a:pPr marL="0" indent="0" algn="l">
                        <a:buNone/>
                      </a:pPr>
                      <a:r>
                        <a:rPr lang="en-IN" u="none" baseline="0" dirty="0"/>
                        <a:t>5. Price = $0.10/month</a:t>
                      </a:r>
                    </a:p>
                    <a:p>
                      <a:pPr marL="0" indent="0" algn="l">
                        <a:buNone/>
                      </a:pPr>
                      <a:endParaRPr lang="en-IN" u="none" baseline="0" dirty="0"/>
                    </a:p>
                    <a:p>
                      <a:pPr marL="0" indent="0" algn="l">
                        <a:buNone/>
                      </a:pPr>
                      <a:r>
                        <a:rPr lang="en-IN" u="none" baseline="0" dirty="0"/>
                        <a:t>6. Can be used as Boot Volume.</a:t>
                      </a:r>
                    </a:p>
                    <a:p>
                      <a:pPr marL="342900" indent="-342900" algn="l">
                        <a:buAutoNum type="arabicPeriod"/>
                      </a:pPr>
                      <a:endParaRPr lang="en-IN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u="sng" dirty="0"/>
                        <a:t>Provisioned IOPS</a:t>
                      </a:r>
                      <a:r>
                        <a:rPr lang="en-IN" u="sng" baseline="0" dirty="0"/>
                        <a:t> SSD (io1)</a:t>
                      </a:r>
                    </a:p>
                    <a:p>
                      <a:pPr algn="ctr"/>
                      <a:endParaRPr lang="en-IN" u="sng" baseline="0" dirty="0"/>
                    </a:p>
                    <a:p>
                      <a:pPr marL="342900" indent="-342900" algn="l">
                        <a:buAutoNum type="arabicPeriod"/>
                      </a:pPr>
                      <a:r>
                        <a:rPr lang="en-IN" u="none" baseline="0" dirty="0"/>
                        <a:t>Ideal for both IOPS &amp; throughput intensive workloads that require extremely low latency.</a:t>
                      </a:r>
                    </a:p>
                    <a:p>
                      <a:pPr marL="342900" indent="-342900" algn="l">
                        <a:buAutoNum type="arabicPeriod"/>
                      </a:pPr>
                      <a:endParaRPr lang="en-IN" u="none" baseline="0" dirty="0"/>
                    </a:p>
                    <a:p>
                      <a:pPr marL="342900" indent="-342900" algn="l">
                        <a:buAutoNum type="arabicPeriod"/>
                      </a:pPr>
                      <a:r>
                        <a:rPr lang="en-IN" u="none" baseline="0" dirty="0"/>
                        <a:t>Use if you need more than 10000 IOPS.</a:t>
                      </a:r>
                    </a:p>
                    <a:p>
                      <a:pPr marL="342900" indent="-342900" algn="l">
                        <a:buAutoNum type="arabicPeriod"/>
                      </a:pPr>
                      <a:endParaRPr lang="en-IN" u="none" baseline="0" dirty="0"/>
                    </a:p>
                    <a:p>
                      <a:pPr marL="342900" indent="-342900" algn="l">
                        <a:buAutoNum type="arabicPeriod"/>
                      </a:pPr>
                      <a:r>
                        <a:rPr lang="en-IN" u="none" baseline="0" dirty="0"/>
                        <a:t>Can provision upto 32000 IOPS per volume.</a:t>
                      </a:r>
                    </a:p>
                    <a:p>
                      <a:pPr marL="342900" indent="-342900" algn="l">
                        <a:buAutoNum type="arabicPeriod"/>
                      </a:pPr>
                      <a:endParaRPr lang="en-IN" u="none" baseline="0" dirty="0"/>
                    </a:p>
                    <a:p>
                      <a:pPr marL="342900" indent="-342900" algn="l">
                        <a:buAutoNum type="arabicPeriod"/>
                      </a:pPr>
                      <a:r>
                        <a:rPr lang="en-IN" u="none" baseline="0" dirty="0"/>
                        <a:t>Volume Size = 4 GB to 16 TB</a:t>
                      </a:r>
                    </a:p>
                    <a:p>
                      <a:pPr marL="342900" indent="-342900" algn="l">
                        <a:buAutoNum type="arabicPeriod"/>
                      </a:pPr>
                      <a:endParaRPr lang="en-IN" u="none" baseline="0" dirty="0"/>
                    </a:p>
                    <a:p>
                      <a:pPr marL="342900" indent="-342900" algn="l">
                        <a:buAutoNum type="arabicPeriod"/>
                      </a:pPr>
                      <a:r>
                        <a:rPr lang="en-IN" u="none" baseline="0" dirty="0"/>
                        <a:t>Price = $0.125/GB/month</a:t>
                      </a:r>
                    </a:p>
                    <a:p>
                      <a:pPr marL="342900" indent="-342900" algn="l">
                        <a:buAutoNum type="arabicPeriod"/>
                      </a:pPr>
                      <a:endParaRPr lang="en-IN" u="none" baseline="0" dirty="0"/>
                    </a:p>
                    <a:p>
                      <a:pPr marL="342900" marR="0" lvl="0" indent="-3429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IN" u="none" baseline="0" dirty="0"/>
                        <a:t>Can be used as Boot Volume.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8921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49857"/>
          </a:xfrm>
        </p:spPr>
        <p:txBody>
          <a:bodyPr>
            <a:normAutofit fontScale="90000"/>
          </a:bodyPr>
          <a:lstStyle/>
          <a:p>
            <a:r>
              <a:rPr lang="en-IN" sz="2400" b="1" dirty="0"/>
              <a:t>2. HDD Backed Volume</a:t>
            </a:r>
            <a:br>
              <a:rPr lang="en-IN" sz="2400" b="1" dirty="0"/>
            </a:br>
            <a:endParaRPr lang="en-IN" sz="2400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9612849"/>
              </p:ext>
            </p:extLst>
          </p:nvPr>
        </p:nvGraphicFramePr>
        <p:xfrm>
          <a:off x="677863" y="1440611"/>
          <a:ext cx="10855654" cy="5003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7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78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3321">
                <a:tc>
                  <a:txBody>
                    <a:bodyPr/>
                    <a:lstStyle/>
                    <a:p>
                      <a:pPr algn="ctr"/>
                      <a:r>
                        <a:rPr lang="en-IN" u="sng" dirty="0"/>
                        <a:t>Throughput Optimized HDD (st1)</a:t>
                      </a:r>
                    </a:p>
                    <a:p>
                      <a:pPr algn="ctr"/>
                      <a:endParaRPr lang="en-IN" u="sng" dirty="0"/>
                    </a:p>
                    <a:p>
                      <a:pPr marL="342900" indent="-342900" algn="l">
                        <a:buAutoNum type="arabicPeriod"/>
                      </a:pPr>
                      <a:r>
                        <a:rPr lang="en-IN" u="none" dirty="0"/>
                        <a:t>Ideal for frequently accessed ,throughput intensive workloads with large datasets.</a:t>
                      </a:r>
                    </a:p>
                    <a:p>
                      <a:pPr marL="342900" indent="-342900" algn="l">
                        <a:buAutoNum type="arabicPeriod"/>
                      </a:pPr>
                      <a:endParaRPr lang="en-IN" u="none" dirty="0"/>
                    </a:p>
                    <a:p>
                      <a:pPr marL="342900" indent="-342900" algn="l">
                        <a:buAutoNum type="arabicPeriod"/>
                      </a:pPr>
                      <a:r>
                        <a:rPr lang="en-IN" u="none" dirty="0"/>
                        <a:t>Performance is measured in MB/s.</a:t>
                      </a:r>
                    </a:p>
                    <a:p>
                      <a:pPr marL="342900" indent="-342900" algn="l">
                        <a:buAutoNum type="arabicPeriod"/>
                      </a:pPr>
                      <a:endParaRPr lang="en-IN" u="none" dirty="0"/>
                    </a:p>
                    <a:p>
                      <a:pPr marL="342900" indent="-342900" algn="l">
                        <a:buAutoNum type="arabicPeriod"/>
                      </a:pPr>
                      <a:r>
                        <a:rPr lang="en-IN" u="none" dirty="0"/>
                        <a:t>Can</a:t>
                      </a:r>
                      <a:r>
                        <a:rPr lang="en-IN" u="none" baseline="0" dirty="0"/>
                        <a:t> not be used as Boot Volume.</a:t>
                      </a:r>
                    </a:p>
                    <a:p>
                      <a:pPr marL="342900" indent="-342900" algn="l">
                        <a:buAutoNum type="arabicPeriod"/>
                      </a:pPr>
                      <a:endParaRPr lang="en-IN" u="none" baseline="0" dirty="0"/>
                    </a:p>
                    <a:p>
                      <a:pPr marL="342900" indent="-342900" algn="l">
                        <a:buAutoNum type="arabicPeriod"/>
                      </a:pPr>
                      <a:r>
                        <a:rPr lang="en-IN" u="none" baseline="0" dirty="0"/>
                        <a:t>Can provision upto 500 IOPS per volume.</a:t>
                      </a:r>
                    </a:p>
                    <a:p>
                      <a:pPr marL="342900" indent="-342900" algn="l">
                        <a:buAutoNum type="arabicPeriod"/>
                      </a:pPr>
                      <a:endParaRPr lang="en-IN" u="none" baseline="0" dirty="0"/>
                    </a:p>
                    <a:p>
                      <a:pPr marL="342900" indent="-342900" algn="l">
                        <a:buAutoNum type="arabicPeriod"/>
                      </a:pPr>
                      <a:r>
                        <a:rPr lang="en-IN" u="none" baseline="0" dirty="0"/>
                        <a:t>Volume Size = 500 GB to 16 TB</a:t>
                      </a:r>
                    </a:p>
                    <a:p>
                      <a:pPr marL="342900" indent="-342900" algn="l">
                        <a:buAutoNum type="arabicPeriod"/>
                      </a:pPr>
                      <a:endParaRPr lang="en-IN" u="none" baseline="0" dirty="0"/>
                    </a:p>
                    <a:p>
                      <a:pPr marL="342900" indent="-342900" algn="l">
                        <a:buAutoNum type="arabicPeriod"/>
                      </a:pPr>
                      <a:r>
                        <a:rPr lang="en-IN" u="none" baseline="0" dirty="0"/>
                        <a:t>Price = $0.045/GB/month</a:t>
                      </a:r>
                      <a:endParaRPr lang="en-IN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u="sng" dirty="0"/>
                        <a:t>Cold HDD (sc1)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u="sng" dirty="0"/>
                    </a:p>
                    <a:p>
                      <a:pPr marL="342900" marR="0" lvl="0" indent="-3429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IN" u="none" dirty="0"/>
                        <a:t>Provide the lowest cost per GB in comparison to all available EBS volume types.</a:t>
                      </a:r>
                    </a:p>
                    <a:p>
                      <a:pPr marL="342900" marR="0" lvl="0" indent="-3429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IN" u="none" dirty="0"/>
                    </a:p>
                    <a:p>
                      <a:pPr marL="342900" marR="0" lvl="0" indent="-3429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IN" u="none" dirty="0"/>
                        <a:t>Used in file servers.</a:t>
                      </a:r>
                    </a:p>
                    <a:p>
                      <a:pPr marL="342900" marR="0" lvl="0" indent="-3429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IN" u="none" dirty="0"/>
                    </a:p>
                    <a:p>
                      <a:pPr marL="342900" marR="0" lvl="0" indent="-3429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IN" u="none" dirty="0"/>
                        <a:t>Can not be used as Boot</a:t>
                      </a:r>
                      <a:r>
                        <a:rPr lang="en-IN" u="none" baseline="0" dirty="0"/>
                        <a:t> Volume.</a:t>
                      </a:r>
                    </a:p>
                    <a:p>
                      <a:pPr marL="342900" marR="0" lvl="0" indent="-3429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IN" u="none" baseline="0" dirty="0"/>
                    </a:p>
                    <a:p>
                      <a:pPr marL="342900" marR="0" lvl="0" indent="-3429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IN" u="none" dirty="0"/>
                        <a:t>Can provision upto 250 IOPS per volume.</a:t>
                      </a:r>
                    </a:p>
                    <a:p>
                      <a:pPr marL="342900" marR="0" lvl="0" indent="-3429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IN" u="none" dirty="0"/>
                    </a:p>
                    <a:p>
                      <a:pPr marL="342900" marR="0" lvl="0" indent="-3429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IN" u="none" dirty="0"/>
                        <a:t>Volume Size = 500 GB to 16 TB</a:t>
                      </a:r>
                    </a:p>
                    <a:p>
                      <a:pPr marL="342900" marR="0" lvl="0" indent="-3429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IN" u="none" dirty="0"/>
                    </a:p>
                    <a:p>
                      <a:pPr marL="342900" marR="0" lvl="0" indent="-3429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IN" u="none" dirty="0"/>
                        <a:t>Price = $0.025/GB/month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1734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98098"/>
          </a:xfrm>
        </p:spPr>
        <p:txBody>
          <a:bodyPr>
            <a:normAutofit fontScale="90000"/>
          </a:bodyPr>
          <a:lstStyle/>
          <a:p>
            <a:r>
              <a:rPr lang="en-IN" sz="2400" b="1" dirty="0"/>
              <a:t>3. Magnetic Standard (Previously it was known as EBS Standard)</a:t>
            </a:r>
            <a:br>
              <a:rPr lang="en-IN" sz="2400" b="1" dirty="0"/>
            </a:br>
            <a:endParaRPr lang="en-IN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03389"/>
            <a:ext cx="8596668" cy="3880773"/>
          </a:xfrm>
        </p:spPr>
        <p:txBody>
          <a:bodyPr/>
          <a:lstStyle/>
          <a:p>
            <a:r>
              <a:rPr lang="en-IN" dirty="0"/>
              <a:t>Have lowest cost per GB among all EBS volume type that is bootable.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Ideal for workloads where data is accessed infrequently.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Price = $0.05/GB/month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Volume Size = 1 GB to 1 TB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Max. IOPS/volume = 40 to 200</a:t>
            </a:r>
          </a:p>
        </p:txBody>
      </p:sp>
    </p:spTree>
    <p:extLst>
      <p:ext uri="{BB962C8B-B14F-4D97-AF65-F5344CB8AC3E}">
        <p14:creationId xmlns:p14="http://schemas.microsoft.com/office/powerpoint/2010/main" val="27810525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20460"/>
          </a:xfrm>
        </p:spPr>
        <p:txBody>
          <a:bodyPr>
            <a:normAutofit/>
          </a:bodyPr>
          <a:lstStyle/>
          <a:p>
            <a:r>
              <a:rPr lang="en-IN" sz="2400" dirty="0"/>
              <a:t>EBS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397479"/>
            <a:ext cx="10847557" cy="5210355"/>
          </a:xfrm>
        </p:spPr>
        <p:txBody>
          <a:bodyPr>
            <a:normAutofit/>
          </a:bodyPr>
          <a:lstStyle/>
          <a:p>
            <a:r>
              <a:rPr lang="en-IN" dirty="0"/>
              <a:t>EBS snapshots are point-in-time image or copy of EBS volume.</a:t>
            </a:r>
          </a:p>
          <a:p>
            <a:r>
              <a:rPr lang="en-IN" dirty="0"/>
              <a:t>Any data written into the volume after snapshot process initiation, will not be included.</a:t>
            </a:r>
          </a:p>
          <a:p>
            <a:r>
              <a:rPr lang="en-GB" dirty="0"/>
              <a:t>It is just like an incremental backup, the first snapshot that is taken of a volume will contain a full copy of the volume.</a:t>
            </a:r>
            <a:endParaRPr lang="en-IN" dirty="0"/>
          </a:p>
          <a:p>
            <a:r>
              <a:rPr lang="en-IN" dirty="0"/>
              <a:t>5000 EBS volume can be created per AWS account.</a:t>
            </a:r>
          </a:p>
          <a:p>
            <a:r>
              <a:rPr lang="en-IN" dirty="0"/>
              <a:t>10000 EBS snapshot can be created per AWS account.</a:t>
            </a:r>
          </a:p>
          <a:p>
            <a:r>
              <a:rPr lang="en-IN" dirty="0"/>
              <a:t>EBS snapshots are stored in S3 but can’t be accessed directly.</a:t>
            </a:r>
          </a:p>
          <a:p>
            <a:r>
              <a:rPr lang="en-IN" dirty="0"/>
              <a:t>EBS volumes are AZ specific while snapshots are region specific.</a:t>
            </a:r>
          </a:p>
          <a:p>
            <a:r>
              <a:rPr lang="en-IN" dirty="0"/>
              <a:t>Any AZ in region can use snapshot to create EBS volume.</a:t>
            </a:r>
          </a:p>
          <a:p>
            <a:r>
              <a:rPr lang="en-IN" dirty="0"/>
              <a:t>To migrate EBS from one AZ to another, create a snapshot and then create an EBS volume from that snapshot in intended AZ.</a:t>
            </a:r>
          </a:p>
          <a:p>
            <a:r>
              <a:rPr lang="en-IN" dirty="0"/>
              <a:t>To take complete snapshot of non-root volume, stop or unmount the volume</a:t>
            </a:r>
          </a:p>
          <a:p>
            <a:r>
              <a:rPr lang="en-IN" dirty="0"/>
              <a:t> To take complete snapshot of root volume, stop the instance.</a:t>
            </a:r>
          </a:p>
        </p:txBody>
      </p:sp>
    </p:spTree>
    <p:extLst>
      <p:ext uri="{BB962C8B-B14F-4D97-AF65-F5344CB8AC3E}">
        <p14:creationId xmlns:p14="http://schemas.microsoft.com/office/powerpoint/2010/main" val="3406909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2385"/>
          </a:xfrm>
        </p:spPr>
        <p:txBody>
          <a:bodyPr>
            <a:normAutofit/>
          </a:bodyPr>
          <a:lstStyle/>
          <a:p>
            <a:r>
              <a:rPr lang="en-IN" sz="2800" b="1" u="sng" dirty="0"/>
              <a:t>Snowball &amp; Snowmobile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35503"/>
            <a:ext cx="10454492" cy="4505860"/>
          </a:xfrm>
        </p:spPr>
        <p:txBody>
          <a:bodyPr/>
          <a:lstStyle/>
          <a:p>
            <a:pPr>
              <a:buFontTx/>
              <a:buChar char="-"/>
            </a:pPr>
            <a:endParaRPr lang="en-IN" dirty="0"/>
          </a:p>
          <a:p>
            <a:pPr>
              <a:buFontTx/>
              <a:buChar char="-"/>
            </a:pPr>
            <a:endParaRPr lang="en-IN" dirty="0"/>
          </a:p>
          <a:p>
            <a:pPr>
              <a:buFontTx/>
              <a:buChar char="-"/>
            </a:pPr>
            <a:r>
              <a:rPr lang="en-IN" dirty="0"/>
              <a:t>AWS Import/Export Disk was used to move large amount of data from on-premises to AWS Cloud &amp; it was difficult for AWS to manage.</a:t>
            </a:r>
          </a:p>
          <a:p>
            <a:pPr>
              <a:buFontTx/>
              <a:buChar char="-"/>
            </a:pPr>
            <a:r>
              <a:rPr lang="en-IN" dirty="0"/>
              <a:t>Now a days Snowball &amp; Snowmobile is used to transfer large amount of data using physical storage appliances.</a:t>
            </a:r>
          </a:p>
        </p:txBody>
      </p:sp>
    </p:spTree>
    <p:extLst>
      <p:ext uri="{BB962C8B-B14F-4D97-AF65-F5344CB8AC3E}">
        <p14:creationId xmlns:p14="http://schemas.microsoft.com/office/powerpoint/2010/main" val="23448532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26" y="129396"/>
            <a:ext cx="11805947" cy="659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5012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9389692" cy="1320800"/>
          </a:xfrm>
        </p:spPr>
        <p:txBody>
          <a:bodyPr>
            <a:noAutofit/>
          </a:bodyPr>
          <a:lstStyle/>
          <a:p>
            <a:r>
              <a:rPr lang="en-IN" sz="2400" b="1" dirty="0">
                <a:solidFill>
                  <a:schemeClr val="tx1"/>
                </a:solidFill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323" y="384313"/>
            <a:ext cx="10840278" cy="5657049"/>
          </a:xfrm>
        </p:spPr>
        <p:txBody>
          <a:bodyPr/>
          <a:lstStyle/>
          <a:p>
            <a:pPr marL="0" indent="0">
              <a:buNone/>
            </a:pPr>
            <a:r>
              <a:rPr lang="en-IN" sz="2800" dirty="0">
                <a:solidFill>
                  <a:srgbClr val="FFFF00"/>
                </a:solidFill>
              </a:rPr>
              <a:t>  </a:t>
            </a:r>
            <a:r>
              <a:rPr lang="en-IN" sz="2800" b="1" u="sng" dirty="0">
                <a:solidFill>
                  <a:srgbClr val="FFFF00"/>
                </a:solidFill>
              </a:rPr>
              <a:t>Snowmobile</a:t>
            </a:r>
            <a:br>
              <a:rPr lang="en-IN" sz="2000" b="1" u="sng" dirty="0">
                <a:solidFill>
                  <a:schemeClr val="tx1"/>
                </a:solidFill>
              </a:rPr>
            </a:br>
            <a:br>
              <a:rPr lang="en-IN" sz="1800" b="1" dirty="0">
                <a:solidFill>
                  <a:schemeClr val="tx1"/>
                </a:solidFill>
              </a:rPr>
            </a:br>
            <a:r>
              <a:rPr lang="en-IN" sz="1800" b="1" dirty="0">
                <a:solidFill>
                  <a:schemeClr val="tx1"/>
                </a:solidFill>
              </a:rPr>
              <a:t>- It is an Exabyte-scale data transfer service used to move extremely large amount of data.</a:t>
            </a:r>
            <a:br>
              <a:rPr lang="en-IN" sz="1800" b="1" dirty="0">
                <a:solidFill>
                  <a:schemeClr val="tx1"/>
                </a:solidFill>
              </a:rPr>
            </a:br>
            <a:r>
              <a:rPr lang="en-IN" sz="1800" b="1" dirty="0">
                <a:solidFill>
                  <a:schemeClr val="tx1"/>
                </a:solidFill>
              </a:rPr>
              <a:t>- You can transfer 100PB per snowmobile.</a:t>
            </a:r>
            <a:br>
              <a:rPr lang="en-IN" sz="1800" b="1" dirty="0">
                <a:solidFill>
                  <a:schemeClr val="tx1"/>
                </a:solidFill>
              </a:rPr>
            </a:br>
            <a:r>
              <a:rPr lang="en-IN" sz="1800" b="1" dirty="0">
                <a:solidFill>
                  <a:schemeClr val="tx1"/>
                </a:solidFill>
              </a:rPr>
              <a:t>- Transferring data with snowmobile is secure, fast and cost-effective.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895" y="2604052"/>
            <a:ext cx="8134709" cy="386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2649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09267"/>
            <a:ext cx="8596668" cy="606725"/>
          </a:xfrm>
        </p:spPr>
        <p:txBody>
          <a:bodyPr>
            <a:normAutofit/>
          </a:bodyPr>
          <a:lstStyle/>
          <a:p>
            <a:r>
              <a:rPr lang="en-IN" sz="2800" b="1" u="sng" dirty="0"/>
              <a:t>Storage Gateway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715993"/>
            <a:ext cx="8596668" cy="2518914"/>
          </a:xfrm>
        </p:spPr>
        <p:txBody>
          <a:bodyPr/>
          <a:lstStyle/>
          <a:p>
            <a:pPr>
              <a:buFontTx/>
              <a:buChar char="-"/>
            </a:pPr>
            <a:r>
              <a:rPr lang="en-IN" dirty="0"/>
              <a:t>It is used transfer data directly from on-premises to AWS cloud storage.</a:t>
            </a:r>
          </a:p>
          <a:p>
            <a:pPr>
              <a:buFontTx/>
              <a:buChar char="-"/>
            </a:pPr>
            <a:r>
              <a:rPr lang="en-GB" dirty="0"/>
              <a:t>AWS Storage Gateway’s software appliance is downloaded as VM image &amp; installed on a host in datacentre.</a:t>
            </a:r>
          </a:p>
          <a:p>
            <a:pPr>
              <a:buFontTx/>
              <a:buChar char="-"/>
            </a:pPr>
            <a:r>
              <a:rPr lang="en-GB" dirty="0"/>
              <a:t>Then it is integrated with AWS.</a:t>
            </a:r>
          </a:p>
          <a:p>
            <a:pPr>
              <a:buFontTx/>
              <a:buChar char="-"/>
            </a:pPr>
            <a:r>
              <a:rPr lang="en-GB" dirty="0"/>
              <a:t>It support either VMware ESXi or Microsoft Hyper-V</a:t>
            </a:r>
            <a:endParaRPr lang="en-IN" dirty="0"/>
          </a:p>
          <a:p>
            <a:pPr>
              <a:buFontTx/>
              <a:buChar char="-"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3444456"/>
            <a:ext cx="10847107" cy="332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08986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3584</TotalTime>
  <Words>2784</Words>
  <Application>Microsoft Office PowerPoint</Application>
  <PresentationFormat>Widescreen</PresentationFormat>
  <Paragraphs>323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Arial Black</vt:lpstr>
      <vt:lpstr>Trebuchet MS</vt:lpstr>
      <vt:lpstr>Wingdings 3</vt:lpstr>
      <vt:lpstr>Facet</vt:lpstr>
      <vt:lpstr>AWS Storage</vt:lpstr>
      <vt:lpstr>Difference between Block level storage &amp; Object level storage</vt:lpstr>
      <vt:lpstr>S3 &amp; S3 Bucket Naming Rules </vt:lpstr>
      <vt:lpstr>S3 Bucket – Sub-resources</vt:lpstr>
      <vt:lpstr>S3 Object</vt:lpstr>
      <vt:lpstr>Lab 1 :- How to create bucket graphically  Lab 2 :- How to create bucket using CLI (install AWS CLI)</vt:lpstr>
      <vt:lpstr>  </vt:lpstr>
      <vt:lpstr>Types  of AWS S3 storage :-</vt:lpstr>
      <vt:lpstr>1. Amazon S3 – Standard </vt:lpstr>
      <vt:lpstr>3. Amazon S3 Intelligent Tiering  - Designed to optimize automatically by moving data to the most cost effective access-tier  - Durability is 99.999999999 %  - 99.9 % availability in a given year. </vt:lpstr>
      <vt:lpstr>5.Amazon S3 Glacier</vt:lpstr>
      <vt:lpstr>  </vt:lpstr>
      <vt:lpstr>EFS (Elastic File System)</vt:lpstr>
      <vt:lpstr>  </vt:lpstr>
      <vt:lpstr>EBS(Elastic Block Storage) </vt:lpstr>
      <vt:lpstr>Types of EBS volume</vt:lpstr>
      <vt:lpstr>1. SSD Backed Volume </vt:lpstr>
      <vt:lpstr>2. HDD Backed Volume </vt:lpstr>
      <vt:lpstr>3. Magnetic Standard (Previously it was known as EBS Standard) </vt:lpstr>
      <vt:lpstr>EBS Snapshot</vt:lpstr>
      <vt:lpstr>Snowball &amp; Snowmobile</vt:lpstr>
      <vt:lpstr>  </vt:lpstr>
      <vt:lpstr>  </vt:lpstr>
      <vt:lpstr>Storage Gateway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Storage</dc:title>
  <dc:creator>Pawan Kumar</dc:creator>
  <cp:lastModifiedBy>TB</cp:lastModifiedBy>
  <cp:revision>126</cp:revision>
  <dcterms:created xsi:type="dcterms:W3CDTF">2019-08-26T14:58:22Z</dcterms:created>
  <dcterms:modified xsi:type="dcterms:W3CDTF">2022-09-14T06:25:12Z</dcterms:modified>
</cp:coreProperties>
</file>