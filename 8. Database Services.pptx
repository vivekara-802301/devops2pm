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2"/>
  </p:notesMasterIdLst>
  <p:sldIdLst>
    <p:sldId id="257" r:id="rId2"/>
    <p:sldId id="258" r:id="rId3"/>
    <p:sldId id="261" r:id="rId4"/>
    <p:sldId id="270" r:id="rId5"/>
    <p:sldId id="262" r:id="rId6"/>
    <p:sldId id="271" r:id="rId7"/>
    <p:sldId id="260" r:id="rId8"/>
    <p:sldId id="268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35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64204D-D14D-4478-9859-BA2071A8E2ED}" type="datetimeFigureOut">
              <a:rPr lang="en-IN" smtClean="0"/>
              <a:t>10-09-2022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12A3F0-1684-4AF6-9E3D-B88467F171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42735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12A3F0-1684-4AF6-9E3D-B88467F171A4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99995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0E91D-41AD-4553-AAD1-ECA2742DE993}" type="datetimeFigureOut">
              <a:rPr lang="en-IN" smtClean="0"/>
              <a:t>10-09-2022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855DC-03A7-40C2-92E4-C22E863893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61898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0E91D-41AD-4553-AAD1-ECA2742DE993}" type="datetimeFigureOut">
              <a:rPr lang="en-IN" smtClean="0"/>
              <a:t>10-09-2022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855DC-03A7-40C2-92E4-C22E863893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0830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0E91D-41AD-4553-AAD1-ECA2742DE993}" type="datetimeFigureOut">
              <a:rPr lang="en-IN" smtClean="0"/>
              <a:t>10-09-2022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855DC-03A7-40C2-92E4-C22E863893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76860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0E91D-41AD-4553-AAD1-ECA2742DE993}" type="datetimeFigureOut">
              <a:rPr lang="en-IN" smtClean="0"/>
              <a:t>10-09-2022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855DC-03A7-40C2-92E4-C22E863893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13398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0E91D-41AD-4553-AAD1-ECA2742DE993}" type="datetimeFigureOut">
              <a:rPr lang="en-IN" smtClean="0"/>
              <a:t>10-09-2022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855DC-03A7-40C2-92E4-C22E863893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0079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0E91D-41AD-4553-AAD1-ECA2742DE993}" type="datetimeFigureOut">
              <a:rPr lang="en-IN" smtClean="0"/>
              <a:t>10-09-2022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855DC-03A7-40C2-92E4-C22E863893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30103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0E91D-41AD-4553-AAD1-ECA2742DE993}" type="datetimeFigureOut">
              <a:rPr lang="en-IN" smtClean="0"/>
              <a:t>10-09-2022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855DC-03A7-40C2-92E4-C22E863893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69679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0E91D-41AD-4553-AAD1-ECA2742DE993}" type="datetimeFigureOut">
              <a:rPr lang="en-IN" smtClean="0"/>
              <a:t>10-09-2022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855DC-03A7-40C2-92E4-C22E863893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65608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0E91D-41AD-4553-AAD1-ECA2742DE993}" type="datetimeFigureOut">
              <a:rPr lang="en-IN" smtClean="0"/>
              <a:t>10-09-2022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855DC-03A7-40C2-92E4-C22E863893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3113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0E91D-41AD-4553-AAD1-ECA2742DE993}" type="datetimeFigureOut">
              <a:rPr lang="en-IN" smtClean="0"/>
              <a:t>10-09-2022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855DC-03A7-40C2-92E4-C22E863893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51786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0E91D-41AD-4553-AAD1-ECA2742DE993}" type="datetimeFigureOut">
              <a:rPr lang="en-IN" smtClean="0"/>
              <a:t>10-09-2022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855DC-03A7-40C2-92E4-C22E86389313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357760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0E91D-41AD-4553-AAD1-ECA2742DE993}" type="datetimeFigureOut">
              <a:rPr lang="en-IN" smtClean="0"/>
              <a:t>10-09-2022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855DC-03A7-40C2-92E4-C22E863893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60238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0E91D-41AD-4553-AAD1-ECA2742DE993}" type="datetimeFigureOut">
              <a:rPr lang="en-IN" smtClean="0"/>
              <a:t>10-09-2022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855DC-03A7-40C2-92E4-C22E86389313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727140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0E91D-41AD-4553-AAD1-ECA2742DE993}" type="datetimeFigureOut">
              <a:rPr lang="en-IN" smtClean="0"/>
              <a:t>10-09-2022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855DC-03A7-40C2-92E4-C22E863893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94771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0E91D-41AD-4553-AAD1-ECA2742DE993}" type="datetimeFigureOut">
              <a:rPr lang="en-IN" smtClean="0"/>
              <a:t>10-09-2022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855DC-03A7-40C2-92E4-C22E863893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12163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0E91D-41AD-4553-AAD1-ECA2742DE993}" type="datetimeFigureOut">
              <a:rPr lang="en-IN" smtClean="0"/>
              <a:t>10-09-2022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855DC-03A7-40C2-92E4-C22E863893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9142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0E91D-41AD-4553-AAD1-ECA2742DE993}" type="datetimeFigureOut">
              <a:rPr lang="en-IN" smtClean="0"/>
              <a:t>10-09-2022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355855DC-03A7-40C2-92E4-C22E863893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46028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590" y="783336"/>
            <a:ext cx="8596668" cy="1210056"/>
          </a:xfrm>
        </p:spPr>
        <p:txBody>
          <a:bodyPr>
            <a:normAutofit/>
          </a:bodyPr>
          <a:lstStyle/>
          <a:p>
            <a:r>
              <a:rPr lang="en-IN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7625" y="323556"/>
            <a:ext cx="11633981" cy="635859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2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What is data ?  </a:t>
            </a:r>
          </a:p>
          <a:p>
            <a:pPr marL="0" indent="0">
              <a:buNone/>
            </a:pPr>
            <a:r>
              <a:rPr lang="en-IN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- In simple word, Data</a:t>
            </a:r>
            <a:r>
              <a:rPr lang="en-IN" sz="1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is fact related to any object.</a:t>
            </a:r>
          </a:p>
          <a:p>
            <a:pPr marL="0" indent="0">
              <a:buNone/>
            </a:pPr>
            <a:r>
              <a:rPr lang="en-US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		For e.g: your age, job, house no, contact no., name, places are some data related to you. </a:t>
            </a:r>
            <a:br>
              <a:rPr lang="en-IN" sz="1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br>
              <a:rPr lang="en-IN" sz="1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IN" sz="2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What is Database ? </a:t>
            </a:r>
          </a:p>
          <a:p>
            <a:pPr marL="0" indent="0">
              <a:buNone/>
            </a:pPr>
            <a:r>
              <a:rPr lang="en-IN" sz="1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- It is systematic collection of data.</a:t>
            </a:r>
          </a:p>
          <a:p>
            <a:pPr marL="0" indent="0">
              <a:buNone/>
            </a:pPr>
            <a:r>
              <a:rPr lang="en-US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		e.g : facebook, telecom companies, amazon.com </a:t>
            </a:r>
          </a:p>
          <a:p>
            <a:pPr marL="0" indent="0">
              <a:buNone/>
            </a:pPr>
            <a:r>
              <a:rPr lang="en-US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	- Databases supports storage and manipulation of data. </a:t>
            </a:r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IN" sz="2400" b="1" dirty="0"/>
              <a:t>What is DBMS (Database Management System) ?</a:t>
            </a:r>
          </a:p>
          <a:p>
            <a:pPr marL="0" indent="0">
              <a:buNone/>
            </a:pPr>
            <a:r>
              <a:rPr lang="en-IN" b="1" dirty="0"/>
              <a:t>	- It is collection of program enable users to access, create, update, administer and manipulate data.</a:t>
            </a:r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IN" sz="2400" b="1" dirty="0"/>
              <a:t>Types of DBMS :-</a:t>
            </a:r>
          </a:p>
          <a:p>
            <a:pPr marL="0" indent="0">
              <a:buNone/>
            </a:pPr>
            <a:r>
              <a:rPr lang="en-IN" b="1" dirty="0"/>
              <a:t>		1. Hierarchical			2. Network</a:t>
            </a:r>
          </a:p>
          <a:p>
            <a:pPr marL="0" indent="0">
              <a:buNone/>
            </a:pPr>
            <a:r>
              <a:rPr lang="en-IN" b="1" dirty="0"/>
              <a:t>		3. Relational			       4. Object Oriented</a:t>
            </a:r>
          </a:p>
        </p:txBody>
      </p:sp>
    </p:spTree>
    <p:extLst>
      <p:ext uri="{BB962C8B-B14F-4D97-AF65-F5344CB8AC3E}">
        <p14:creationId xmlns:p14="http://schemas.microsoft.com/office/powerpoint/2010/main" val="18153936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0632" y="320041"/>
            <a:ext cx="11372248" cy="57213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b="1" u="sng" dirty="0"/>
              <a:t>Relational Database</a:t>
            </a:r>
          </a:p>
          <a:p>
            <a:pPr marL="0" indent="0">
              <a:buNone/>
            </a:pPr>
            <a:endParaRPr lang="en-GB" sz="2000" b="1" u="sng" dirty="0"/>
          </a:p>
          <a:p>
            <a:pPr>
              <a:buFontTx/>
              <a:buChar char="-"/>
            </a:pPr>
            <a:r>
              <a:rPr lang="en-GB" b="1" dirty="0"/>
              <a:t>Relational Databases are the databases that what most of us are all used to. It has been around since the 70's.</a:t>
            </a:r>
          </a:p>
          <a:p>
            <a:pPr>
              <a:buFontTx/>
              <a:buChar char="-"/>
            </a:pPr>
            <a:r>
              <a:rPr lang="en-GB" b="1" dirty="0"/>
              <a:t>Relational Database is like a spreadsheet such as Excel, etc.</a:t>
            </a:r>
          </a:p>
          <a:p>
            <a:pPr>
              <a:buFontTx/>
              <a:buChar char="-"/>
            </a:pPr>
            <a:r>
              <a:rPr lang="en-GB" b="1" dirty="0"/>
              <a:t>A Database consists of tables. For example, Excel is a spreadsheet that consists of a workbook, and inside the workbook, you have different sheets and these sheets are made up of rows and columns.</a:t>
            </a:r>
          </a:p>
          <a:p>
            <a:pPr>
              <a:buFontTx/>
              <a:buChar char="-"/>
            </a:pPr>
            <a:r>
              <a:rPr lang="en-GB" b="1" dirty="0"/>
              <a:t>A row of table is called record.</a:t>
            </a:r>
          </a:p>
          <a:p>
            <a:pPr>
              <a:buFontTx/>
              <a:buChar char="-"/>
            </a:pPr>
            <a:r>
              <a:rPr lang="en-GB" b="1" dirty="0"/>
              <a:t>Each table has its own Primary Key.</a:t>
            </a:r>
          </a:p>
          <a:p>
            <a:pPr>
              <a:buFontTx/>
              <a:buChar char="-"/>
            </a:pPr>
            <a:r>
              <a:rPr lang="en-GB" b="1" dirty="0"/>
              <a:t>A schema (Design of database) is used to define table, columns &amp; relation between table.</a:t>
            </a:r>
          </a:p>
          <a:p>
            <a:pPr>
              <a:buFontTx/>
              <a:buChar char="-"/>
            </a:pPr>
            <a:r>
              <a:rPr lang="en-GB" b="1" dirty="0"/>
              <a:t>Best suited for online transaction processing.</a:t>
            </a:r>
          </a:p>
          <a:p>
            <a:pPr>
              <a:buFontTx/>
              <a:buChar char="-"/>
            </a:pPr>
            <a:r>
              <a:rPr lang="en-GB" b="1" dirty="0"/>
              <a:t>Relational DB are SQL, MySQL, Oracle, PostgreSQL, Aurora etc.</a:t>
            </a:r>
          </a:p>
          <a:p>
            <a:pPr>
              <a:buFontTx/>
              <a:buChar char="-"/>
            </a:pPr>
            <a:r>
              <a:rPr lang="en-GB" b="1" dirty="0"/>
              <a:t>It is usually used in Enterprise Application (except MySQL – for Web Apps)</a:t>
            </a:r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5308234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7285" y="228600"/>
            <a:ext cx="11479237" cy="651967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i="0" u="sng" dirty="0">
                <a:solidFill>
                  <a:srgbClr val="16191F"/>
                </a:solidFill>
                <a:effectLst/>
                <a:latin typeface="Amazon Ember"/>
              </a:rPr>
              <a:t>Amazon RDS currently supports the following database </a:t>
            </a:r>
            <a:r>
              <a:rPr lang="en-IN" sz="2400" b="1" u="sng" dirty="0">
                <a:solidFill>
                  <a:srgbClr val="16191F"/>
                </a:solidFill>
                <a:latin typeface="Amazon Ember"/>
              </a:rPr>
              <a:t>engine :</a:t>
            </a:r>
          </a:p>
          <a:p>
            <a:pPr marL="0" indent="0">
              <a:buNone/>
            </a:pPr>
            <a:r>
              <a:rPr lang="en-US" sz="2000" b="1" i="0" dirty="0">
                <a:solidFill>
                  <a:srgbClr val="16191F"/>
                </a:solidFill>
                <a:effectLst/>
                <a:latin typeface="Amazon Ember"/>
              </a:rPr>
              <a:t>A </a:t>
            </a:r>
            <a:r>
              <a:rPr lang="en-US" sz="2000" b="1" i="1" dirty="0">
                <a:solidFill>
                  <a:srgbClr val="16191F"/>
                </a:solidFill>
                <a:effectLst/>
                <a:latin typeface="Amazon Ember"/>
              </a:rPr>
              <a:t>DB engine</a:t>
            </a:r>
            <a:r>
              <a:rPr lang="en-US" sz="2000" b="1" i="0" dirty="0">
                <a:solidFill>
                  <a:srgbClr val="16191F"/>
                </a:solidFill>
                <a:effectLst/>
                <a:latin typeface="Amazon Ember"/>
              </a:rPr>
              <a:t> is the specific relational database software that runs on your DB instance. </a:t>
            </a:r>
            <a:endParaRPr lang="en-IN" sz="2000" b="1" u="sng" dirty="0">
              <a:solidFill>
                <a:srgbClr val="16191F"/>
              </a:solidFill>
              <a:latin typeface="Amazon Ember"/>
            </a:endParaRPr>
          </a:p>
          <a:p>
            <a:pPr marL="0" indent="0">
              <a:buNone/>
            </a:pPr>
            <a:endParaRPr lang="en-IN" sz="2400" u="sng" dirty="0"/>
          </a:p>
          <a:p>
            <a:pPr marL="0" indent="0">
              <a:buNone/>
            </a:pPr>
            <a:endParaRPr lang="en-IN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49972A-75E8-4DD0-8CC4-1ADEB4E34B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" y="1448976"/>
            <a:ext cx="10552557" cy="524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7386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64442-6ED9-DEB2-2510-2F5F536F1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150F8E-E703-A87A-7E0E-323D541563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746" y="253219"/>
            <a:ext cx="11915334" cy="630232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sz="2600" b="1" dirty="0"/>
              <a:t>Templates available in RDS :-</a:t>
            </a:r>
          </a:p>
          <a:p>
            <a:pPr>
              <a:buAutoNum type="arabicPeriod"/>
            </a:pPr>
            <a:r>
              <a:rPr lang="en-IN" sz="2200" b="1" dirty="0"/>
              <a:t>Production – Use default for high availability, fast &amp; consistent performance.</a:t>
            </a:r>
          </a:p>
          <a:p>
            <a:pPr>
              <a:buAutoNum type="arabicPeriod"/>
            </a:pPr>
            <a:r>
              <a:rPr lang="en-IN" sz="2200" b="1" dirty="0"/>
              <a:t>Development / Testing – This instance is intended for development use outside of a production 							 environment.</a:t>
            </a:r>
          </a:p>
          <a:p>
            <a:pPr>
              <a:buAutoNum type="arabicPeriod"/>
            </a:pPr>
            <a:r>
              <a:rPr lang="en-IN" sz="2200" b="1" dirty="0"/>
              <a:t>Free Tier – For free tier AWS account.</a:t>
            </a:r>
          </a:p>
          <a:p>
            <a:pPr marL="0" indent="0">
              <a:buNone/>
            </a:pPr>
            <a:endParaRPr lang="en-IN" sz="2800" b="1" dirty="0"/>
          </a:p>
          <a:p>
            <a:pPr marL="0" indent="0">
              <a:buNone/>
            </a:pPr>
            <a:r>
              <a:rPr lang="en-IN" sz="2600" b="1" dirty="0"/>
              <a:t>DB Instance Class Types :-</a:t>
            </a:r>
          </a:p>
          <a:p>
            <a:pPr>
              <a:buFontTx/>
              <a:buChar char="-"/>
            </a:pPr>
            <a:r>
              <a:rPr lang="en-US" sz="2200" b="1" i="0" dirty="0">
                <a:solidFill>
                  <a:srgbClr val="16191F"/>
                </a:solidFill>
                <a:effectLst/>
                <a:latin typeface="Amazon Ember"/>
              </a:rPr>
              <a:t>A </a:t>
            </a:r>
            <a:r>
              <a:rPr lang="en-US" sz="2200" b="1" i="1" dirty="0">
                <a:solidFill>
                  <a:srgbClr val="16191F"/>
                </a:solidFill>
                <a:effectLst/>
                <a:latin typeface="Amazon Ember"/>
              </a:rPr>
              <a:t>DB instance</a:t>
            </a:r>
            <a:r>
              <a:rPr lang="en-US" sz="2200" b="1" i="0" dirty="0">
                <a:solidFill>
                  <a:srgbClr val="16191F"/>
                </a:solidFill>
                <a:effectLst/>
                <a:latin typeface="Amazon Ember"/>
              </a:rPr>
              <a:t> is an isolated database environment in the AWS Cloud. The basic building block of Amazon RDS is the DB instance.</a:t>
            </a:r>
            <a:endParaRPr lang="en-IN" sz="2200" b="1" dirty="0"/>
          </a:p>
          <a:p>
            <a:pPr>
              <a:buFontTx/>
              <a:buChar char="-"/>
            </a:pPr>
            <a:r>
              <a:rPr lang="en-US" sz="2200" b="1" i="0" dirty="0">
                <a:solidFill>
                  <a:srgbClr val="16191F"/>
                </a:solidFill>
                <a:effectLst/>
                <a:latin typeface="Amazon Ember"/>
              </a:rPr>
              <a:t>The DB instance class determines the computation and memory capacity of an Amazon RDS DB instance.</a:t>
            </a:r>
          </a:p>
          <a:p>
            <a:pPr marL="0" indent="0">
              <a:buNone/>
            </a:pPr>
            <a:endParaRPr lang="en-IN" sz="2400" b="1" dirty="0"/>
          </a:p>
          <a:p>
            <a:pPr marL="0" indent="0">
              <a:buNone/>
            </a:pPr>
            <a:r>
              <a:rPr lang="en-US" sz="2600" b="1" i="0" dirty="0">
                <a:solidFill>
                  <a:srgbClr val="16191F"/>
                </a:solidFill>
                <a:effectLst/>
                <a:latin typeface="Amazon Ember"/>
              </a:rPr>
              <a:t>Amazon RDS supports three types of instance classes :-</a:t>
            </a:r>
            <a:endParaRPr lang="en-IN" sz="2600" b="1" dirty="0"/>
          </a:p>
          <a:p>
            <a:pPr marL="0" indent="0">
              <a:buNone/>
            </a:pPr>
            <a:r>
              <a:rPr lang="en-IN" sz="2100" b="1" dirty="0"/>
              <a:t>	1. Standard Class – M Series [vCPU – 96, RAM-384GB, EBS Througput-14000Mbps</a:t>
            </a:r>
          </a:p>
          <a:p>
            <a:pPr marL="0" indent="0">
              <a:buNone/>
            </a:pPr>
            <a:r>
              <a:rPr lang="en-IN" sz="2100" b="1" dirty="0"/>
              <a:t>	2. Memory Optimized Class – R &amp; X Series [vCPU – 96, RAM-768GB, EBS Througput-14000Mbps]</a:t>
            </a:r>
          </a:p>
          <a:p>
            <a:pPr marL="0" indent="0">
              <a:buNone/>
            </a:pPr>
            <a:r>
              <a:rPr lang="en-IN" sz="2100" b="1" dirty="0"/>
              <a:t>	3. Burstable Class – T Series [vCPU – 8, RAM-32GB, EBS Througput-1500Mbps</a:t>
            </a:r>
            <a:r>
              <a:rPr lang="en-IN" sz="2400" b="1" dirty="0"/>
              <a:t>]</a:t>
            </a:r>
          </a:p>
          <a:p>
            <a:pPr marL="0" indent="0">
              <a:buNone/>
            </a:pPr>
            <a:endParaRPr lang="en-IN" sz="2300" b="1" u="sng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9649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9489" y="267286"/>
            <a:ext cx="11535508" cy="63023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u="sng" dirty="0"/>
              <a:t>RDBS Instance Storage comes in the following types :-</a:t>
            </a:r>
          </a:p>
          <a:p>
            <a:pPr marL="0" indent="0">
              <a:buNone/>
            </a:pPr>
            <a:r>
              <a:rPr lang="en-IN" sz="1900" b="1" dirty="0"/>
              <a:t>		1. General Purpose – Use for DB workloads with moderate I/O requirements.</a:t>
            </a:r>
          </a:p>
          <a:p>
            <a:pPr marL="0" indent="0">
              <a:buNone/>
            </a:pPr>
            <a:r>
              <a:rPr lang="en-IN" sz="1900" b="1" dirty="0"/>
              <a:t>							Min.- 20GB		Max. – 16384GB</a:t>
            </a:r>
          </a:p>
          <a:p>
            <a:pPr marL="0" indent="0">
              <a:buNone/>
            </a:pPr>
            <a:r>
              <a:rPr lang="en-IN" sz="1900" b="1" dirty="0"/>
              <a:t>		2. Provisional IOPS – Use for high performance like OLTP workloads.</a:t>
            </a:r>
          </a:p>
          <a:p>
            <a:pPr marL="0" indent="0">
              <a:buNone/>
            </a:pPr>
            <a:r>
              <a:rPr lang="en-IN" sz="1900" b="1" dirty="0"/>
              <a:t>							Min. – 100GB	Max.- 16384GB</a:t>
            </a:r>
          </a:p>
          <a:p>
            <a:pPr marL="0" indent="0">
              <a:buNone/>
            </a:pPr>
            <a:endParaRPr lang="en-IN" sz="2300" b="1" u="sng" dirty="0"/>
          </a:p>
          <a:p>
            <a:pPr marL="0" indent="0">
              <a:buNone/>
            </a:pPr>
            <a:r>
              <a:rPr lang="en-IN" sz="2300" b="1" u="sng" dirty="0"/>
              <a:t>There are two types of licensing option :-</a:t>
            </a:r>
          </a:p>
          <a:p>
            <a:pPr marL="0" indent="0">
              <a:buNone/>
            </a:pPr>
            <a:r>
              <a:rPr lang="en-IN" sz="1900" b="1" dirty="0"/>
              <a:t>		1. BYOL (Bring Your Own License) – If you have already license</a:t>
            </a:r>
          </a:p>
          <a:p>
            <a:pPr marL="0" indent="0">
              <a:buNone/>
            </a:pPr>
            <a:r>
              <a:rPr lang="en-IN" sz="1900" b="1" dirty="0"/>
              <a:t>		2. License from AWS [Charge Hourly]</a:t>
            </a:r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IN" sz="2400" b="1" u="sng" dirty="0"/>
              <a:t>RDS Limits :</a:t>
            </a:r>
          </a:p>
          <a:p>
            <a:pPr>
              <a:buFontTx/>
              <a:buChar char="-"/>
            </a:pPr>
            <a:r>
              <a:rPr lang="en-IN" sz="1900" b="1" dirty="0"/>
              <a:t>Maximum 40 DB instance can be created per account.</a:t>
            </a:r>
          </a:p>
          <a:p>
            <a:pPr>
              <a:buFontTx/>
              <a:buChar char="-"/>
            </a:pPr>
            <a:r>
              <a:rPr lang="en-IN" sz="1900" b="1" dirty="0"/>
              <a:t>10 out of 40 can be Oracle or MySQL Server under License included model </a:t>
            </a:r>
          </a:p>
          <a:p>
            <a:pPr>
              <a:buFontTx/>
              <a:buChar char="-"/>
            </a:pPr>
            <a:r>
              <a:rPr lang="en-IN" sz="1900" b="1" dirty="0"/>
              <a:t> Under BYOL model, all 40 can be any DB engine you need</a:t>
            </a:r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762529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8888F-4BDC-5C4D-9079-9E764ADD0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89640B-5561-1ECE-2802-C7A6C1DD94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2874" y="309489"/>
            <a:ext cx="10044332" cy="6274191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endParaRPr lang="en-US" sz="2400" b="1" dirty="0">
              <a:solidFill>
                <a:srgbClr val="16191F"/>
              </a:solidFill>
              <a:latin typeface="Amazon Ember"/>
            </a:endParaRPr>
          </a:p>
          <a:p>
            <a:pPr marL="0" indent="0" algn="l">
              <a:buNone/>
            </a:pPr>
            <a:r>
              <a:rPr lang="en-US" sz="2400" b="1" i="0" dirty="0">
                <a:solidFill>
                  <a:srgbClr val="16191F"/>
                </a:solidFill>
                <a:effectLst/>
                <a:latin typeface="Amazon Ember"/>
              </a:rPr>
              <a:t>Amazon RDS provides the following purchasing options :</a:t>
            </a:r>
          </a:p>
          <a:p>
            <a:pPr marL="0" indent="0" algn="l">
              <a:buNone/>
            </a:pPr>
            <a:endParaRPr lang="en-US" sz="2400" b="1" i="0" dirty="0">
              <a:solidFill>
                <a:srgbClr val="16191F"/>
              </a:solidFill>
              <a:effectLst/>
              <a:latin typeface="Amazon Ember"/>
            </a:endParaRPr>
          </a:p>
          <a:p>
            <a:pPr marL="0" indent="0" algn="l">
              <a:buNone/>
            </a:pPr>
            <a:r>
              <a:rPr lang="en-US" sz="2000" b="1" i="0" dirty="0">
                <a:solidFill>
                  <a:srgbClr val="16191F"/>
                </a:solidFill>
                <a:effectLst/>
                <a:latin typeface="Amazon Ember"/>
              </a:rPr>
              <a:t>1. On-Demand Instances</a:t>
            </a:r>
            <a:r>
              <a:rPr lang="en-US" sz="2000" b="0" i="0" dirty="0">
                <a:solidFill>
                  <a:srgbClr val="16191F"/>
                </a:solidFill>
                <a:effectLst/>
                <a:latin typeface="Amazon Ember"/>
              </a:rPr>
              <a:t> –</a:t>
            </a:r>
          </a:p>
          <a:p>
            <a:pPr algn="l">
              <a:buFontTx/>
              <a:buChar char="-"/>
            </a:pPr>
            <a:r>
              <a:rPr lang="en-US" sz="2000" b="0" i="0" dirty="0">
                <a:solidFill>
                  <a:srgbClr val="16191F"/>
                </a:solidFill>
                <a:effectLst/>
                <a:latin typeface="Amazon Ember"/>
              </a:rPr>
              <a:t>Pay by the hour for the DB instance hours that you use. </a:t>
            </a:r>
          </a:p>
          <a:p>
            <a:pPr algn="l">
              <a:buFontTx/>
              <a:buChar char="-"/>
            </a:pPr>
            <a:r>
              <a:rPr lang="en-US" sz="2000" b="0" i="0" dirty="0">
                <a:solidFill>
                  <a:srgbClr val="16191F"/>
                </a:solidFill>
                <a:effectLst/>
                <a:latin typeface="Amazon Ember"/>
              </a:rPr>
              <a:t>Pricing is listed on per-hour basis, but bills are calculated down to the second and show times in decimal form. </a:t>
            </a:r>
          </a:p>
          <a:p>
            <a:pPr algn="l">
              <a:buFontTx/>
              <a:buChar char="-"/>
            </a:pPr>
            <a:r>
              <a:rPr lang="en-US" sz="2000" b="0" i="0" dirty="0">
                <a:solidFill>
                  <a:srgbClr val="16191F"/>
                </a:solidFill>
                <a:effectLst/>
                <a:latin typeface="Amazon Ember"/>
              </a:rPr>
              <a:t>RDS usage is now billed in one second increments, with a minimum of 10 minutes.</a:t>
            </a:r>
          </a:p>
          <a:p>
            <a:pPr marL="0" indent="0" algn="l">
              <a:buNone/>
            </a:pPr>
            <a:r>
              <a:rPr lang="en-US" sz="2000" b="1" i="0" dirty="0">
                <a:solidFill>
                  <a:srgbClr val="16191F"/>
                </a:solidFill>
                <a:effectLst/>
                <a:latin typeface="Amazon Ember"/>
              </a:rPr>
              <a:t>2. Reserved Instances</a:t>
            </a:r>
            <a:r>
              <a:rPr lang="en-US" sz="2000" b="0" i="0" dirty="0">
                <a:solidFill>
                  <a:srgbClr val="16191F"/>
                </a:solidFill>
                <a:effectLst/>
                <a:latin typeface="Amazon Ember"/>
              </a:rPr>
              <a:t> –</a:t>
            </a:r>
          </a:p>
          <a:p>
            <a:pPr algn="l">
              <a:buFontTx/>
              <a:buChar char="-"/>
            </a:pPr>
            <a:r>
              <a:rPr lang="en-US" sz="2000" b="0" i="0" dirty="0">
                <a:solidFill>
                  <a:srgbClr val="16191F"/>
                </a:solidFill>
                <a:effectLst/>
                <a:latin typeface="Amazon Ember"/>
              </a:rPr>
              <a:t>Reserve a DB instance for a one-year or three-year term and get a significant discount compared to the on-demand DB instance pricing. </a:t>
            </a:r>
          </a:p>
          <a:p>
            <a:pPr algn="l">
              <a:buFontTx/>
              <a:buChar char="-"/>
            </a:pPr>
            <a:r>
              <a:rPr lang="en-US" sz="2000" b="0" i="0" dirty="0">
                <a:solidFill>
                  <a:srgbClr val="16191F"/>
                </a:solidFill>
                <a:effectLst/>
                <a:latin typeface="Amazon Ember"/>
              </a:rPr>
              <a:t>With Reserved Instance usage, you can launch, delete, start, or stop multiple instances within an hour.</a:t>
            </a:r>
          </a:p>
          <a:p>
            <a:pPr marL="0" indent="0" algn="l">
              <a:buNone/>
            </a:pPr>
            <a:endParaRPr lang="en-US" sz="2000" b="0" i="0" dirty="0">
              <a:solidFill>
                <a:srgbClr val="16191F"/>
              </a:solidFill>
              <a:effectLst/>
              <a:latin typeface="Amazon Ember"/>
            </a:endParaRPr>
          </a:p>
          <a:p>
            <a:pPr marL="0" indent="0" algn="l">
              <a:buNone/>
            </a:pPr>
            <a:endParaRPr lang="en-US" sz="2000" b="0" i="0" dirty="0">
              <a:solidFill>
                <a:srgbClr val="16191F"/>
              </a:solidFill>
              <a:effectLst/>
              <a:latin typeface="Amazon Ember"/>
            </a:endParaRPr>
          </a:p>
          <a:p>
            <a:pPr marL="0" indent="0" algn="l">
              <a:buNone/>
            </a:pPr>
            <a:endParaRPr lang="en-US" sz="2000" b="0" i="0" dirty="0">
              <a:solidFill>
                <a:srgbClr val="16191F"/>
              </a:solidFill>
              <a:effectLst/>
              <a:latin typeface="Amazon Ember"/>
            </a:endParaRPr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5181094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98576"/>
          </a:xfrm>
        </p:spPr>
        <p:txBody>
          <a:bodyPr>
            <a:normAutofit/>
          </a:bodyPr>
          <a:lstStyle/>
          <a:p>
            <a:r>
              <a:rPr lang="en-IN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97839" y="733982"/>
            <a:ext cx="9481650" cy="53900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 an AWS fully managed Relational DB engine services, AWS is responsible for :-</a:t>
            </a:r>
            <a:endParaRPr lang="en-IN" b="1" dirty="0"/>
          </a:p>
          <a:p>
            <a:pPr marL="0" indent="0">
              <a:buNone/>
            </a:pPr>
            <a:endParaRPr lang="en-IN" b="1" dirty="0"/>
          </a:p>
          <a:p>
            <a:pPr>
              <a:buFontTx/>
              <a:buChar char="-"/>
            </a:pPr>
            <a:r>
              <a:rPr lang="en-IN" b="1" dirty="0"/>
              <a:t>Security, Patching &amp; Automated Back-Up</a:t>
            </a:r>
          </a:p>
          <a:p>
            <a:pPr>
              <a:buFontTx/>
              <a:buChar char="-"/>
            </a:pPr>
            <a:r>
              <a:rPr lang="en-IN" b="1" dirty="0"/>
              <a:t>Software update for the DB engine</a:t>
            </a:r>
          </a:p>
          <a:p>
            <a:pPr>
              <a:buFontTx/>
              <a:buChar char="-"/>
            </a:pPr>
            <a:r>
              <a:rPr lang="en-IN" b="1" dirty="0"/>
              <a:t>By default, Every DB has weekly maintenance window. [Range = 1 to 35 days]</a:t>
            </a:r>
          </a:p>
          <a:p>
            <a:pPr>
              <a:buFontTx/>
              <a:buChar char="-"/>
            </a:pPr>
            <a:r>
              <a:rPr lang="en-IN" b="1" dirty="0"/>
              <a:t>Automatic failover if Multi-AZ is selected with Synchronous Replication between     the active and Standby DB instances.</a:t>
            </a:r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IN" sz="2000" b="1" dirty="0"/>
              <a:t>Setting Managed by User </a:t>
            </a:r>
            <a:r>
              <a:rPr lang="en-IN" b="1" dirty="0"/>
              <a:t>:-</a:t>
            </a:r>
          </a:p>
          <a:p>
            <a:pPr>
              <a:buFontTx/>
              <a:buChar char="-"/>
            </a:pPr>
            <a:r>
              <a:rPr lang="en-IN" b="1" dirty="0"/>
              <a:t>Managing DB setting</a:t>
            </a:r>
          </a:p>
          <a:p>
            <a:pPr>
              <a:buFontTx/>
              <a:buChar char="-"/>
            </a:pPr>
            <a:r>
              <a:rPr lang="en-IN" b="1" dirty="0"/>
              <a:t>Creating Relational DB Schema</a:t>
            </a:r>
          </a:p>
          <a:p>
            <a:pPr>
              <a:buFontTx/>
              <a:buChar char="-"/>
            </a:pPr>
            <a:r>
              <a:rPr lang="en-IN" b="1" dirty="0"/>
              <a:t>Database Performance Tuning</a:t>
            </a:r>
          </a:p>
        </p:txBody>
      </p:sp>
    </p:spTree>
    <p:extLst>
      <p:ext uri="{BB962C8B-B14F-4D97-AF65-F5344CB8AC3E}">
        <p14:creationId xmlns:p14="http://schemas.microsoft.com/office/powerpoint/2010/main" val="37346045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588264"/>
          </a:xfrm>
        </p:spPr>
        <p:txBody>
          <a:bodyPr>
            <a:normAutofit/>
          </a:bodyPr>
          <a:lstStyle/>
          <a:p>
            <a:r>
              <a:rPr lang="en-IN" sz="2400" b="1" u="sng" dirty="0">
                <a:solidFill>
                  <a:schemeClr val="tx2"/>
                </a:solidFill>
              </a:rPr>
              <a:t> 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380745"/>
            <a:ext cx="9637098" cy="46606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b="1" u="sng" dirty="0">
                <a:solidFill>
                  <a:schemeClr val="tx2"/>
                </a:solidFill>
              </a:rPr>
              <a:t>RDS Billing :</a:t>
            </a:r>
            <a:endParaRPr lang="en-IN" b="1" dirty="0"/>
          </a:p>
          <a:p>
            <a:pPr>
              <a:buFontTx/>
              <a:buChar char="-"/>
            </a:pPr>
            <a:r>
              <a:rPr lang="en-IN" b="1" dirty="0"/>
              <a:t>No up front cost.</a:t>
            </a:r>
          </a:p>
          <a:p>
            <a:pPr>
              <a:buFontTx/>
              <a:buChar char="-"/>
            </a:pPr>
            <a:r>
              <a:rPr lang="en-IN" b="1" dirty="0"/>
              <a:t>You have to pay only for :</a:t>
            </a:r>
          </a:p>
          <a:p>
            <a:pPr marL="0" indent="0">
              <a:buNone/>
            </a:pPr>
            <a:r>
              <a:rPr lang="en-IN" b="1" dirty="0"/>
              <a:t>		&gt; DB Instance			&gt; Storage GB/month</a:t>
            </a:r>
          </a:p>
          <a:p>
            <a:pPr marL="0" indent="0">
              <a:buNone/>
            </a:pPr>
            <a:r>
              <a:rPr lang="en-IN" b="1" dirty="0"/>
              <a:t>		&gt; Backup Storage (S3)	&gt; Internet data transfer</a:t>
            </a:r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IN" b="1" u="sng" dirty="0"/>
              <a:t>AWS also charge for :</a:t>
            </a:r>
          </a:p>
          <a:p>
            <a:pPr>
              <a:buFontTx/>
              <a:buChar char="-"/>
            </a:pPr>
            <a:r>
              <a:rPr lang="en-IN" b="1" dirty="0"/>
              <a:t>Multi-AZ DB hourly</a:t>
            </a:r>
          </a:p>
          <a:p>
            <a:pPr>
              <a:buFontTx/>
              <a:buChar char="-"/>
            </a:pPr>
            <a:r>
              <a:rPr lang="en-IN" b="1" dirty="0"/>
              <a:t>Provisioned storage (Multi-AZ)</a:t>
            </a:r>
          </a:p>
          <a:p>
            <a:pPr>
              <a:buFontTx/>
              <a:buChar char="-"/>
            </a:pPr>
            <a:r>
              <a:rPr lang="en-IN" b="1" dirty="0"/>
              <a:t>You are not charged for DB data transfer during replication from primary to standby.</a:t>
            </a:r>
          </a:p>
        </p:txBody>
      </p:sp>
    </p:spTree>
    <p:extLst>
      <p:ext uri="{BB962C8B-B14F-4D97-AF65-F5344CB8AC3E}">
        <p14:creationId xmlns:p14="http://schemas.microsoft.com/office/powerpoint/2010/main" val="40064421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70104"/>
            <a:ext cx="9993714" cy="533400"/>
          </a:xfrm>
        </p:spPr>
        <p:txBody>
          <a:bodyPr>
            <a:normAutofit/>
          </a:bodyPr>
          <a:lstStyle/>
          <a:p>
            <a:r>
              <a:rPr lang="en-IN" sz="2800" b="1" dirty="0"/>
              <a:t>Lab1 : How to access MySQL DB instance from Linux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584" y="896112"/>
            <a:ext cx="11951208" cy="5757906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en-IN" dirty="0"/>
              <a:t>Go to Services &gt; Search RDS &gt; Create Database</a:t>
            </a:r>
          </a:p>
          <a:p>
            <a:pPr>
              <a:buFontTx/>
              <a:buChar char="-"/>
            </a:pPr>
            <a:r>
              <a:rPr lang="en-IN" dirty="0"/>
              <a:t>DB creation method – Standard create,	Engine option – MySQL</a:t>
            </a:r>
          </a:p>
          <a:p>
            <a:pPr>
              <a:buFontTx/>
              <a:buChar char="-"/>
            </a:pPr>
            <a:r>
              <a:rPr lang="en-IN" dirty="0"/>
              <a:t>Template – Free-tier,		Set master password – abc123456</a:t>
            </a:r>
          </a:p>
          <a:p>
            <a:pPr>
              <a:buFontTx/>
              <a:buChar char="-"/>
            </a:pPr>
            <a:r>
              <a:rPr lang="en-IN" dirty="0"/>
              <a:t>DB Instance Size – Burstable class,	Storage – General Purpose</a:t>
            </a:r>
          </a:p>
          <a:p>
            <a:pPr>
              <a:buFontTx/>
              <a:buChar char="-"/>
            </a:pPr>
            <a:r>
              <a:rPr lang="en-IN" dirty="0"/>
              <a:t>Uncheck Storage Autoscaling,	Multi-AZ- No	</a:t>
            </a:r>
          </a:p>
          <a:p>
            <a:pPr>
              <a:buFontTx/>
              <a:buChar char="-"/>
            </a:pPr>
            <a:r>
              <a:rPr lang="en-IN" b="1" dirty="0"/>
              <a:t>Select Default VPC, Publicly Access – Yes, Create New Security Group (RDS-SG)</a:t>
            </a:r>
          </a:p>
          <a:p>
            <a:pPr>
              <a:buFontTx/>
              <a:buChar char="-"/>
            </a:pPr>
            <a:r>
              <a:rPr lang="en-IN" dirty="0"/>
              <a:t>Click on Additional Configuration &gt; Enter DB Name</a:t>
            </a:r>
          </a:p>
          <a:p>
            <a:pPr>
              <a:buFontTx/>
              <a:buChar char="-"/>
            </a:pPr>
            <a:r>
              <a:rPr lang="en-IN" dirty="0"/>
              <a:t>Disable Backup &gt; Disable Delete Protection &gt; Create DB</a:t>
            </a:r>
          </a:p>
          <a:p>
            <a:pPr>
              <a:buFontTx/>
              <a:buChar char="-"/>
            </a:pPr>
            <a:r>
              <a:rPr lang="en-IN" dirty="0"/>
              <a:t>Click on DB &gt; Go to Security Group &gt; Inbound Rule &gt; Edit Inbound Rule &gt; Add Rule &gt; </a:t>
            </a:r>
            <a:r>
              <a:rPr lang="en-IN" b="1" dirty="0"/>
              <a:t>Allow Port SSH</a:t>
            </a:r>
          </a:p>
          <a:p>
            <a:pPr>
              <a:buFontTx/>
              <a:buChar char="-"/>
            </a:pPr>
            <a:r>
              <a:rPr lang="en-IN" b="1" dirty="0"/>
              <a:t>Launch Linux EC2 Instance [Select Security Group that was created at the time of RDS] &gt; Access EC2</a:t>
            </a:r>
          </a:p>
          <a:p>
            <a:pPr>
              <a:buFontTx/>
              <a:buChar char="-"/>
            </a:pPr>
            <a:r>
              <a:rPr lang="en-IN" b="1" dirty="0"/>
              <a:t>Login as : ec2-user &amp; then enter – sudo su –</a:t>
            </a:r>
          </a:p>
          <a:p>
            <a:pPr>
              <a:buFontTx/>
              <a:buChar char="-"/>
            </a:pPr>
            <a:r>
              <a:rPr lang="en-IN" b="1" dirty="0"/>
              <a:t>Now, dnf install mysql    [Go to RDS, copy Endpoint from RDS &amp; paste after mysql –h]</a:t>
            </a:r>
          </a:p>
          <a:p>
            <a:pPr>
              <a:buFontTx/>
              <a:buChar char="-"/>
            </a:pPr>
            <a:r>
              <a:rPr lang="en-IN" b="1" dirty="0"/>
              <a:t>         </a:t>
            </a:r>
            <a:r>
              <a:rPr lang="en-IN" sz="1600" b="1" dirty="0"/>
              <a:t>mysql -h database-1.cnqdy3woque0.us-east-1.rds.amazonaws.com -u admin(Master Username) -p db1(DB Name)</a:t>
            </a:r>
          </a:p>
          <a:p>
            <a:pPr marL="914400" lvl="2" indent="0">
              <a:buNone/>
            </a:pPr>
            <a:r>
              <a:rPr lang="en-IN" sz="1200" b="1" dirty="0"/>
              <a:t> </a:t>
            </a:r>
            <a:r>
              <a:rPr lang="en-IN" b="1" dirty="0"/>
              <a:t>Enter password</a:t>
            </a:r>
          </a:p>
          <a:p>
            <a:pPr>
              <a:buFontTx/>
              <a:buChar char="-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041937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022" y="573024"/>
            <a:ext cx="10194882" cy="588264"/>
          </a:xfrm>
        </p:spPr>
        <p:txBody>
          <a:bodyPr>
            <a:normAutofit/>
          </a:bodyPr>
          <a:lstStyle/>
          <a:p>
            <a:r>
              <a:rPr lang="en-IN" sz="2400" b="1" dirty="0"/>
              <a:t>Lab2 : How to access MySQL DB instance from Windows Server</a:t>
            </a:r>
            <a:endParaRPr lang="en-IN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6304" y="1490472"/>
            <a:ext cx="11951208" cy="4818887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en-IN" dirty="0"/>
              <a:t>Follow the previous step to create database.</a:t>
            </a:r>
          </a:p>
          <a:p>
            <a:pPr>
              <a:buFontTx/>
              <a:buChar char="-"/>
            </a:pPr>
            <a:r>
              <a:rPr lang="en-IN" dirty="0"/>
              <a:t>Allow HTTP, HTTPS &amp; RDP in security group.</a:t>
            </a:r>
          </a:p>
          <a:p>
            <a:pPr>
              <a:buFontTx/>
              <a:buChar char="-"/>
            </a:pPr>
            <a:r>
              <a:rPr lang="en-IN" dirty="0"/>
              <a:t>Launch EC2 &amp; take RDP.</a:t>
            </a:r>
          </a:p>
          <a:p>
            <a:pPr>
              <a:buFontTx/>
              <a:buChar char="-"/>
            </a:pPr>
            <a:r>
              <a:rPr lang="en-IN" dirty="0"/>
              <a:t>Go to Server Manager &gt; Local Server</a:t>
            </a:r>
          </a:p>
          <a:p>
            <a:pPr>
              <a:buFontTx/>
              <a:buChar char="-"/>
            </a:pPr>
            <a:r>
              <a:rPr lang="en-IN" dirty="0"/>
              <a:t>Turn Off ‘Windows Defender Firewall’ &amp; ‘IE Enhanced Security Configuration’</a:t>
            </a:r>
          </a:p>
          <a:p>
            <a:pPr>
              <a:buFontTx/>
              <a:buChar char="-"/>
            </a:pPr>
            <a:r>
              <a:rPr lang="en-IN" dirty="0"/>
              <a:t> Go to Internet Explorer &gt; Google &gt; Install Web Platform Installer</a:t>
            </a:r>
          </a:p>
          <a:p>
            <a:pPr>
              <a:buFontTx/>
              <a:buChar char="-"/>
            </a:pPr>
            <a:r>
              <a:rPr lang="en-IN" dirty="0"/>
              <a:t>Start &gt; MS Web Platform Installer &gt; Application &gt; Search MySQL &gt; Add</a:t>
            </a:r>
          </a:p>
          <a:p>
            <a:pPr>
              <a:buFontTx/>
              <a:buChar char="-"/>
            </a:pPr>
            <a:r>
              <a:rPr lang="en-IN" dirty="0"/>
              <a:t>Enter Password &gt;  I Accept &gt; Install &gt; Finish &gt; Exit</a:t>
            </a:r>
          </a:p>
          <a:p>
            <a:pPr>
              <a:buFontTx/>
              <a:buChar char="-"/>
            </a:pPr>
            <a:r>
              <a:rPr lang="en-IN" dirty="0"/>
              <a:t>Go to CMD –  </a:t>
            </a:r>
            <a:r>
              <a:rPr lang="en-IN" b="1" dirty="0"/>
              <a:t>[Copy Endpoint from RDS &amp; paste after mysql –h]</a:t>
            </a:r>
            <a:endParaRPr lang="en-IN" dirty="0"/>
          </a:p>
          <a:p>
            <a:pPr marL="0" indent="0">
              <a:buNone/>
            </a:pPr>
            <a:r>
              <a:rPr lang="en-IN" b="1" dirty="0"/>
              <a:t>		 </a:t>
            </a:r>
            <a:r>
              <a:rPr lang="en-IN" sz="1600" b="1" dirty="0"/>
              <a:t>mysql -h database-1.cnqdy3woque0.us-east-1.rds.amazonaws.com -u admin(Master Username) -p db1(DB Name)</a:t>
            </a:r>
          </a:p>
          <a:p>
            <a:pPr marL="914400" lvl="2" indent="0">
              <a:buNone/>
            </a:pPr>
            <a:r>
              <a:rPr lang="en-IN" sz="1200" b="1" dirty="0"/>
              <a:t> </a:t>
            </a:r>
            <a:r>
              <a:rPr lang="en-IN" b="1" dirty="0"/>
              <a:t>Enter password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63486817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1150</TotalTime>
  <Words>1241</Words>
  <Application>Microsoft Office PowerPoint</Application>
  <PresentationFormat>Widescreen</PresentationFormat>
  <Paragraphs>123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Amazon Ember</vt:lpstr>
      <vt:lpstr>Arial</vt:lpstr>
      <vt:lpstr>Calibri</vt:lpstr>
      <vt:lpstr>Times New Roman</vt:lpstr>
      <vt:lpstr>Trebuchet MS</vt:lpstr>
      <vt:lpstr>Wingdings 3</vt:lpstr>
      <vt:lpstr>Facet</vt:lpstr>
      <vt:lpstr>  </vt:lpstr>
      <vt:lpstr>  </vt:lpstr>
      <vt:lpstr>  </vt:lpstr>
      <vt:lpstr>  </vt:lpstr>
      <vt:lpstr>  </vt:lpstr>
      <vt:lpstr>   </vt:lpstr>
      <vt:lpstr>  </vt:lpstr>
      <vt:lpstr>   </vt:lpstr>
      <vt:lpstr>Lab1 : How to access MySQL DB instance from Linux</vt:lpstr>
      <vt:lpstr>Lab2 : How to access MySQL DB instance from Windows Server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Pawan Kumar</dc:creator>
  <cp:lastModifiedBy>TB</cp:lastModifiedBy>
  <cp:revision>60</cp:revision>
  <dcterms:created xsi:type="dcterms:W3CDTF">2020-04-28T10:53:42Z</dcterms:created>
  <dcterms:modified xsi:type="dcterms:W3CDTF">2022-09-10T10:19:56Z</dcterms:modified>
</cp:coreProperties>
</file>