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1"/>
  </p:sldMasterIdLst>
  <p:sldIdLst>
    <p:sldId id="256" r:id="rId2"/>
    <p:sldId id="263" r:id="rId3"/>
    <p:sldId id="264" r:id="rId4"/>
    <p:sldId id="265" r:id="rId5"/>
    <p:sldId id="266" r:id="rId6"/>
    <p:sldId id="259" r:id="rId7"/>
    <p:sldId id="260" r:id="rId8"/>
    <p:sldId id="262" r:id="rId9"/>
    <p:sldId id="267" r:id="rId10"/>
    <p:sldId id="26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34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94AC9-D561-4554-AA30-637BB8B96F57}" type="datetimeFigureOut">
              <a:rPr lang="en-IN" smtClean="0"/>
              <a:t>15-09-2022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21B81-E9C2-4B28-9EBE-7DA53656F7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416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94AC9-D561-4554-AA30-637BB8B96F57}" type="datetimeFigureOut">
              <a:rPr lang="en-IN" smtClean="0"/>
              <a:t>15-09-2022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21B81-E9C2-4B28-9EBE-7DA53656F7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9420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94AC9-D561-4554-AA30-637BB8B96F57}" type="datetimeFigureOut">
              <a:rPr lang="en-IN" smtClean="0"/>
              <a:t>15-09-2022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21B81-E9C2-4B28-9EBE-7DA53656F7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3888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94AC9-D561-4554-AA30-637BB8B96F57}" type="datetimeFigureOut">
              <a:rPr lang="en-IN" smtClean="0"/>
              <a:t>15-09-2022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21B81-E9C2-4B28-9EBE-7DA53656F7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105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94AC9-D561-4554-AA30-637BB8B96F57}" type="datetimeFigureOut">
              <a:rPr lang="en-IN" smtClean="0"/>
              <a:t>15-09-2022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21B81-E9C2-4B28-9EBE-7DA53656F7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7030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94AC9-D561-4554-AA30-637BB8B96F57}" type="datetimeFigureOut">
              <a:rPr lang="en-IN" smtClean="0"/>
              <a:t>15-09-2022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21B81-E9C2-4B28-9EBE-7DA53656F7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2806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94AC9-D561-4554-AA30-637BB8B96F57}" type="datetimeFigureOut">
              <a:rPr lang="en-IN" smtClean="0"/>
              <a:t>15-09-2022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21B81-E9C2-4B28-9EBE-7DA53656F7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3355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94AC9-D561-4554-AA30-637BB8B96F57}" type="datetimeFigureOut">
              <a:rPr lang="en-IN" smtClean="0"/>
              <a:t>15-09-2022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21B81-E9C2-4B28-9EBE-7DA53656F7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9748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94AC9-D561-4554-AA30-637BB8B96F57}" type="datetimeFigureOut">
              <a:rPr lang="en-IN" smtClean="0"/>
              <a:t>15-09-2022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21B81-E9C2-4B28-9EBE-7DA53656F7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8096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94AC9-D561-4554-AA30-637BB8B96F57}" type="datetimeFigureOut">
              <a:rPr lang="en-IN" smtClean="0"/>
              <a:t>15-09-2022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21B81-E9C2-4B28-9EBE-7DA53656F7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3848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94AC9-D561-4554-AA30-637BB8B96F57}" type="datetimeFigureOut">
              <a:rPr lang="en-IN" smtClean="0"/>
              <a:t>15-09-2022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21B81-E9C2-4B28-9EBE-7DA53656F747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187819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94AC9-D561-4554-AA30-637BB8B96F57}" type="datetimeFigureOut">
              <a:rPr lang="en-IN" smtClean="0"/>
              <a:t>15-09-2022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21B81-E9C2-4B28-9EBE-7DA53656F7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61836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94AC9-D561-4554-AA30-637BB8B96F57}" type="datetimeFigureOut">
              <a:rPr lang="en-IN" smtClean="0"/>
              <a:t>15-09-2022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21B81-E9C2-4B28-9EBE-7DA53656F747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169012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94AC9-D561-4554-AA30-637BB8B96F57}" type="datetimeFigureOut">
              <a:rPr lang="en-IN" smtClean="0"/>
              <a:t>15-09-2022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21B81-E9C2-4B28-9EBE-7DA53656F7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87355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94AC9-D561-4554-AA30-637BB8B96F57}" type="datetimeFigureOut">
              <a:rPr lang="en-IN" smtClean="0"/>
              <a:t>15-09-2022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21B81-E9C2-4B28-9EBE-7DA53656F7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26326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94AC9-D561-4554-AA30-637BB8B96F57}" type="datetimeFigureOut">
              <a:rPr lang="en-IN" smtClean="0"/>
              <a:t>15-09-2022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21B81-E9C2-4B28-9EBE-7DA53656F7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9862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694AC9-D561-4554-AA30-637BB8B96F57}" type="datetimeFigureOut">
              <a:rPr lang="en-IN" smtClean="0"/>
              <a:t>15-09-2022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D2721B81-E9C2-4B28-9EBE-7DA53656F7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1480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  <p:sldLayoutId id="2147483762" r:id="rId14"/>
    <p:sldLayoutId id="2147483763" r:id="rId15"/>
    <p:sldLayoutId id="21474837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0936" y="155447"/>
            <a:ext cx="11000232" cy="657035"/>
          </a:xfrm>
        </p:spPr>
        <p:txBody>
          <a:bodyPr/>
          <a:lstStyle/>
          <a:p>
            <a:pPr algn="ctr"/>
            <a:r>
              <a:rPr lang="en-IN" sz="3200" b="1" u="sng" dirty="0"/>
              <a:t>IAM (Identity &amp; Access Management)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1015" y="1124712"/>
            <a:ext cx="11732456" cy="5559552"/>
          </a:xfrm>
        </p:spPr>
        <p:txBody>
          <a:bodyPr>
            <a:normAutofit/>
          </a:bodyPr>
          <a:lstStyle/>
          <a:p>
            <a:pPr marL="285750" indent="-285750" algn="l">
              <a:buFontTx/>
              <a:buChar char="-"/>
            </a:pPr>
            <a:r>
              <a:rPr lang="en-GB" sz="1800" b="1" dirty="0">
                <a:solidFill>
                  <a:schemeClr val="tx1"/>
                </a:solidFill>
              </a:rPr>
              <a:t>AWS Identity and Access Management (IAM) is a web service that helps you securely control access to AWS  resources. </a:t>
            </a:r>
          </a:p>
          <a:p>
            <a:pPr marL="285750" indent="-285750" algn="l">
              <a:buFontTx/>
              <a:buChar char="-"/>
            </a:pPr>
            <a:r>
              <a:rPr lang="en-GB" sz="1800" b="1" dirty="0">
                <a:solidFill>
                  <a:schemeClr val="tx1"/>
                </a:solidFill>
              </a:rPr>
              <a:t>You use IAM to control who is authenticated (signed in) and authorized (has permissions) to use resources</a:t>
            </a:r>
          </a:p>
          <a:p>
            <a:pPr marL="285750" indent="-285750" algn="l">
              <a:buFontTx/>
              <a:buChar char="-"/>
            </a:pPr>
            <a:r>
              <a:rPr lang="en-GB" b="1" dirty="0">
                <a:solidFill>
                  <a:schemeClr val="tx1"/>
                </a:solidFill>
              </a:rPr>
              <a:t>When you first create an AWS account, you begin with a single sign-in identity that has complete access to all AWS services and resources in the account.</a:t>
            </a:r>
          </a:p>
          <a:p>
            <a:pPr marL="285750" indent="-285750" algn="l">
              <a:buFontTx/>
              <a:buChar char="-"/>
            </a:pPr>
            <a:r>
              <a:rPr lang="en-GB" b="1" dirty="0">
                <a:solidFill>
                  <a:schemeClr val="tx1"/>
                </a:solidFill>
              </a:rPr>
              <a:t>This identity is called the AWS account </a:t>
            </a:r>
            <a:r>
              <a:rPr lang="en-GB" b="1" i="1" dirty="0">
                <a:solidFill>
                  <a:schemeClr val="tx1"/>
                </a:solidFill>
              </a:rPr>
              <a:t>root user</a:t>
            </a:r>
            <a:r>
              <a:rPr lang="en-GB" b="1" dirty="0">
                <a:solidFill>
                  <a:schemeClr val="tx1"/>
                </a:solidFill>
              </a:rPr>
              <a:t> and is accessed by signing in with the email address and password that you used to create the account.</a:t>
            </a:r>
          </a:p>
          <a:p>
            <a:pPr marL="285750" indent="-285750" algn="l">
              <a:buFontTx/>
              <a:buChar char="-"/>
            </a:pPr>
            <a:r>
              <a:rPr lang="en-GB" sz="1800" b="1" dirty="0">
                <a:solidFill>
                  <a:schemeClr val="tx1"/>
                </a:solidFill>
              </a:rPr>
              <a:t>You are limited to 5000 </a:t>
            </a:r>
            <a:r>
              <a:rPr lang="en-GB" b="1" dirty="0">
                <a:solidFill>
                  <a:schemeClr val="tx1"/>
                </a:solidFill>
              </a:rPr>
              <a:t>IAM user </a:t>
            </a:r>
            <a:r>
              <a:rPr lang="en-GB" sz="1800" b="1" dirty="0">
                <a:solidFill>
                  <a:schemeClr val="tx1"/>
                </a:solidFill>
              </a:rPr>
              <a:t>per AWS account &amp; maximum 10 users can be added at a time.</a:t>
            </a:r>
          </a:p>
          <a:p>
            <a:pPr marL="285750" indent="-285750" algn="l">
              <a:buFontTx/>
              <a:buChar char="-"/>
            </a:pPr>
            <a:r>
              <a:rPr lang="en-GB" b="1" dirty="0">
                <a:solidFill>
                  <a:schemeClr val="tx1"/>
                </a:solidFill>
              </a:rPr>
              <a:t>Maximum 300 groups can be created per AWS account.</a:t>
            </a:r>
          </a:p>
          <a:p>
            <a:pPr marL="285750" indent="-285750" algn="l">
              <a:buFontTx/>
              <a:buChar char="-"/>
            </a:pPr>
            <a:r>
              <a:rPr lang="en-GB" sz="1800" b="1" dirty="0">
                <a:solidFill>
                  <a:schemeClr val="tx1"/>
                </a:solidFill>
              </a:rPr>
              <a:t>You are limited to 1000 IAM role under AWS account.</a:t>
            </a:r>
          </a:p>
          <a:p>
            <a:pPr marL="285750" indent="-285750" algn="l">
              <a:buFontTx/>
              <a:buChar char="-"/>
            </a:pPr>
            <a:r>
              <a:rPr lang="en-GB" b="1" dirty="0">
                <a:solidFill>
                  <a:schemeClr val="tx1"/>
                </a:solidFill>
              </a:rPr>
              <a:t>You can add 10 managed policies to user, role or group.</a:t>
            </a:r>
          </a:p>
          <a:p>
            <a:pPr marL="285750" indent="-285750" algn="l">
              <a:buFontTx/>
              <a:buChar char="-"/>
            </a:pPr>
            <a:r>
              <a:rPr lang="en-GB" sz="1800" b="1" dirty="0">
                <a:solidFill>
                  <a:schemeClr val="tx1"/>
                </a:solidFill>
              </a:rPr>
              <a:t>An IAM user can be member of 10 group.</a:t>
            </a:r>
          </a:p>
          <a:p>
            <a:pPr marL="285750" indent="-285750" algn="l">
              <a:buFontTx/>
              <a:buChar char="-"/>
            </a:pPr>
            <a:r>
              <a:rPr lang="en-GB" b="1" dirty="0">
                <a:solidFill>
                  <a:schemeClr val="tx1"/>
                </a:solidFill>
              </a:rPr>
              <a:t>We can assign two access key to an IAM user.</a:t>
            </a:r>
            <a:endParaRPr lang="en-IN" sz="1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1676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" y="124968"/>
            <a:ext cx="9063690" cy="496824"/>
          </a:xfrm>
        </p:spPr>
        <p:txBody>
          <a:bodyPr>
            <a:normAutofit/>
          </a:bodyPr>
          <a:lstStyle/>
          <a:p>
            <a:r>
              <a:rPr lang="en-IN" sz="2400" b="1" dirty="0"/>
              <a:t> 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0312" y="621792"/>
            <a:ext cx="11329416" cy="6117336"/>
          </a:xfrm>
        </p:spPr>
        <p:txBody>
          <a:bodyPr/>
          <a:lstStyle/>
          <a:p>
            <a:pPr marL="0" indent="0">
              <a:buNone/>
            </a:pP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IAM Identities </a:t>
            </a:r>
          </a:p>
          <a:p>
            <a:pPr marL="0" indent="0">
              <a:buNone/>
            </a:pPr>
            <a:r>
              <a:rPr lang="en-IN" b="1" dirty="0"/>
              <a:t>It is created to provide authentication for people and process in AWS account.</a:t>
            </a:r>
          </a:p>
          <a:p>
            <a:pPr marL="0" indent="0">
              <a:buNone/>
            </a:pPr>
            <a:endParaRPr lang="en-IN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148" y="2133600"/>
            <a:ext cx="7916778" cy="3569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073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896" y="609601"/>
            <a:ext cx="11128248" cy="543176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2400" b="1" u="sng" dirty="0">
                <a:solidFill>
                  <a:srgbClr val="FF0000"/>
                </a:solidFill>
              </a:rPr>
              <a:t>IAM Users</a:t>
            </a:r>
          </a:p>
          <a:p>
            <a:pPr marL="0" indent="0">
              <a:buNone/>
            </a:pPr>
            <a:endParaRPr lang="en-GB" b="1" dirty="0"/>
          </a:p>
          <a:p>
            <a:pPr>
              <a:buFontTx/>
              <a:buChar char="-"/>
            </a:pPr>
            <a:r>
              <a:rPr lang="en-GB" b="1" dirty="0"/>
              <a:t>An IAM User is an entity created in AWS that provides a way to interact with AWS resources.</a:t>
            </a:r>
          </a:p>
          <a:p>
            <a:pPr>
              <a:buFontTx/>
              <a:buChar char="-"/>
            </a:pPr>
            <a:r>
              <a:rPr lang="en-GB" b="1" dirty="0"/>
              <a:t>The main purpose of IAM Users is that they can sign in to the AWS Management Console and can make requests to the AWS services.</a:t>
            </a:r>
          </a:p>
          <a:p>
            <a:pPr>
              <a:buFontTx/>
              <a:buChar char="-"/>
            </a:pPr>
            <a:r>
              <a:rPr lang="en-GB" b="1" dirty="0"/>
              <a:t>The newly created IAM users have no password and no access key.</a:t>
            </a:r>
          </a:p>
          <a:p>
            <a:pPr marL="0" indent="0">
              <a:buNone/>
            </a:pPr>
            <a:r>
              <a:rPr lang="en-GB" b="1" dirty="0"/>
              <a:t>			&gt; If a user wants to use the AWS resources using the AWS Management Console, you need 			to create the user password.</a:t>
            </a:r>
          </a:p>
          <a:p>
            <a:pPr marL="0" indent="0">
              <a:buNone/>
            </a:pPr>
            <a:r>
              <a:rPr lang="en-GB" b="1" dirty="0"/>
              <a:t>			&gt; If a user wants to interact using the AWS programmatically (using the CLI), you need to 			create the access key for that user.</a:t>
            </a:r>
          </a:p>
          <a:p>
            <a:pPr>
              <a:buFontTx/>
              <a:buChar char="-"/>
            </a:pPr>
            <a:r>
              <a:rPr lang="en-GB" b="1" dirty="0"/>
              <a:t>The newly created IAM Users do not have permissions, i.e., they are not authorized to access the AWS resources.</a:t>
            </a:r>
          </a:p>
          <a:p>
            <a:pPr>
              <a:buFontTx/>
              <a:buChar char="-"/>
            </a:pPr>
            <a:r>
              <a:rPr lang="en-GB" b="1" dirty="0"/>
              <a:t>Each IAM User is associated with one and only one AWS account.</a:t>
            </a:r>
          </a:p>
          <a:p>
            <a:pPr>
              <a:buFontTx/>
              <a:buChar char="-"/>
            </a:pPr>
            <a:r>
              <a:rPr lang="en-GB" b="1" dirty="0"/>
              <a:t>The security of the user's credentials can be enhanced by using the feature, i.e., Multi-Factor Authentication.</a:t>
            </a:r>
          </a:p>
        </p:txBody>
      </p:sp>
    </p:spTree>
    <p:extLst>
      <p:ext uri="{BB962C8B-B14F-4D97-AF65-F5344CB8AC3E}">
        <p14:creationId xmlns:p14="http://schemas.microsoft.com/office/powerpoint/2010/main" val="275171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429768"/>
            <a:ext cx="10661226" cy="5802629"/>
          </a:xfrm>
        </p:spPr>
        <p:txBody>
          <a:bodyPr/>
          <a:lstStyle/>
          <a:p>
            <a:pPr marL="0" indent="0">
              <a:buNone/>
            </a:pPr>
            <a:r>
              <a:rPr lang="en-IN" sz="2400" b="1" u="sng" dirty="0">
                <a:solidFill>
                  <a:srgbClr val="FF0000"/>
                </a:solidFill>
              </a:rPr>
              <a:t>IAM Groups</a:t>
            </a:r>
          </a:p>
          <a:p>
            <a:pPr>
              <a:buFontTx/>
              <a:buChar char="-"/>
            </a:pPr>
            <a:r>
              <a:rPr lang="en-GB" b="1" dirty="0"/>
              <a:t>A group is a collection of users and a user can also belong to multiple groups.</a:t>
            </a:r>
          </a:p>
          <a:p>
            <a:pPr>
              <a:buFontTx/>
              <a:buChar char="-"/>
            </a:pPr>
            <a:r>
              <a:rPr lang="en-GB" b="1" dirty="0"/>
              <a:t>Groups cannot be nested, i.e. a group cannot contain another group.</a:t>
            </a:r>
          </a:p>
          <a:p>
            <a:pPr>
              <a:buFontTx/>
              <a:buChar char="-"/>
            </a:pPr>
            <a:r>
              <a:rPr lang="en-GB" b="1" dirty="0"/>
              <a:t>No default group that automatically includes the users in AWS account. If you want a group, create a group first and then add the users in that group.</a:t>
            </a:r>
          </a:p>
          <a:p>
            <a:pPr>
              <a:buFontTx/>
              <a:buChar char="-"/>
            </a:pPr>
            <a:r>
              <a:rPr lang="en-GB" b="1" dirty="0"/>
              <a:t>5 users can be created at a time</a:t>
            </a:r>
            <a:endParaRPr lang="en-IN" b="1" dirty="0"/>
          </a:p>
          <a:p>
            <a:pPr marL="0" indent="0">
              <a:buNone/>
            </a:pPr>
            <a:endParaRPr lang="en-IN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536" y="3072384"/>
            <a:ext cx="6848855" cy="3160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977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80" y="438913"/>
            <a:ext cx="11283696" cy="56024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u="sng" dirty="0">
                <a:solidFill>
                  <a:srgbClr val="FF0000"/>
                </a:solidFill>
              </a:rPr>
              <a:t>IAM Role</a:t>
            </a:r>
          </a:p>
          <a:p>
            <a:pPr marL="0" indent="0">
              <a:buNone/>
            </a:pPr>
            <a:endParaRPr lang="en-IN" b="1" dirty="0"/>
          </a:p>
          <a:p>
            <a:pPr>
              <a:buFontTx/>
              <a:buChar char="-"/>
            </a:pPr>
            <a:r>
              <a:rPr lang="en-GB" b="1" dirty="0"/>
              <a:t>A role is a set of permissions that grant access to actions and resources in AWS. These permissions  are attached to the role, not to an IAM User or a group.</a:t>
            </a:r>
          </a:p>
          <a:p>
            <a:pPr>
              <a:buFontTx/>
              <a:buChar char="-"/>
            </a:pPr>
            <a:r>
              <a:rPr lang="en-GB" b="1" dirty="0"/>
              <a:t>An IAM User can use a role in the same AWS account or a different account.</a:t>
            </a:r>
          </a:p>
          <a:p>
            <a:pPr>
              <a:buFontTx/>
              <a:buChar char="-"/>
            </a:pPr>
            <a:r>
              <a:rPr lang="en-GB" b="1" dirty="0"/>
              <a:t>Role is also an AWS identity with permission policies that determine what the identity can and cannot do in AWS.</a:t>
            </a:r>
          </a:p>
          <a:p>
            <a:pPr>
              <a:buFontTx/>
              <a:buChar char="-"/>
            </a:pPr>
            <a:r>
              <a:rPr lang="en-GB" b="1" dirty="0"/>
              <a:t>A role is not uniquely associated with a single person; it can be used by anyone who needs it.</a:t>
            </a:r>
          </a:p>
          <a:p>
            <a:pPr>
              <a:buFontTx/>
              <a:buChar char="-"/>
            </a:pPr>
            <a:r>
              <a:rPr lang="en-GB" b="1" dirty="0"/>
              <a:t>A role does not have long term security credential, i.e., password or security key. Instead, if the user uses a role, temporarily security credentials are created and provided to the user.</a:t>
            </a:r>
          </a:p>
          <a:p>
            <a:pPr>
              <a:buFontTx/>
              <a:buChar char="-"/>
            </a:pPr>
            <a:r>
              <a:rPr lang="en-GB" b="1" dirty="0"/>
              <a:t>You can use the roles to delegate access to users, applications or services that generally do not have access to your AWS resources.</a:t>
            </a:r>
          </a:p>
          <a:p>
            <a:pPr>
              <a:buFontTx/>
              <a:buChar char="-"/>
            </a:pPr>
            <a:r>
              <a:rPr lang="en-GB" b="1" dirty="0"/>
              <a:t>It can be used to grant access to the AWS resources which have identities outside of AWS.</a:t>
            </a:r>
          </a:p>
          <a:p>
            <a:pPr>
              <a:buFontTx/>
              <a:buChar char="-"/>
            </a:pPr>
            <a:r>
              <a:rPr lang="en-GB" b="1" dirty="0"/>
              <a:t>It can be used when you want to grant the users to access the AWS resources in your or in another  AWS account.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605026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24256"/>
          </a:xfrm>
        </p:spPr>
        <p:txBody>
          <a:bodyPr>
            <a:normAutofit/>
          </a:bodyPr>
          <a:lstStyle/>
          <a:p>
            <a:r>
              <a:rPr lang="en-IN" sz="2400" b="1" dirty="0"/>
              <a:t>Lab1 : How to create IAM user and assign policies.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057401"/>
            <a:ext cx="8596668" cy="3209543"/>
          </a:xfrm>
        </p:spPr>
        <p:txBody>
          <a:bodyPr/>
          <a:lstStyle/>
          <a:p>
            <a:r>
              <a:rPr lang="en-IN" b="1" dirty="0"/>
              <a:t>Enable dashboard options (security status).</a:t>
            </a:r>
          </a:p>
          <a:p>
            <a:r>
              <a:rPr lang="en-IN" b="1" dirty="0"/>
              <a:t>Create user (user1), login with user1 &amp; try to create EC2.</a:t>
            </a:r>
          </a:p>
          <a:p>
            <a:r>
              <a:rPr lang="en-IN" b="1" dirty="0"/>
              <a:t>Now assign permission to user1 (EC2 full Access) &amp; again try to create EC2.</a:t>
            </a:r>
          </a:p>
          <a:p>
            <a:r>
              <a:rPr lang="en-IN" b="1" dirty="0"/>
              <a:t>Create one more user (user2) and copy user1 permission to user2.</a:t>
            </a:r>
          </a:p>
          <a:p>
            <a:pPr marL="0" indent="0">
              <a:buNone/>
            </a:pPr>
            <a:endParaRPr lang="en-IN" b="1" dirty="0"/>
          </a:p>
          <a:p>
            <a:r>
              <a:rPr lang="en-IN" b="1" dirty="0"/>
              <a:t>Create a group (group1) and add user1 to this group.</a:t>
            </a:r>
          </a:p>
          <a:p>
            <a:r>
              <a:rPr lang="en-IN" b="1" dirty="0"/>
              <a:t>Delete user &amp; group.</a:t>
            </a:r>
          </a:p>
        </p:txBody>
      </p:sp>
    </p:spTree>
    <p:extLst>
      <p:ext uri="{BB962C8B-B14F-4D97-AF65-F5344CB8AC3E}">
        <p14:creationId xmlns:p14="http://schemas.microsoft.com/office/powerpoint/2010/main" val="2654232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702" y="106680"/>
            <a:ext cx="11514666" cy="560832"/>
          </a:xfrm>
        </p:spPr>
        <p:txBody>
          <a:bodyPr>
            <a:normAutofit/>
          </a:bodyPr>
          <a:lstStyle/>
          <a:p>
            <a:r>
              <a:rPr lang="en-IN" sz="2400" b="1" dirty="0"/>
              <a:t>Lab2 : How to create group, billing dashboard for IAM user &amp; Inline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2702" y="740664"/>
            <a:ext cx="8855667" cy="590702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- Create two user (user1 &amp; user2) &amp; one group (group1).</a:t>
            </a:r>
          </a:p>
          <a:p>
            <a:pPr marL="0" indent="0">
              <a:buNone/>
            </a:pPr>
            <a:r>
              <a:rPr lang="en-IN" b="1" dirty="0"/>
              <a:t>- Attach policy (S3 full access) to group1.</a:t>
            </a:r>
          </a:p>
          <a:p>
            <a:pPr marL="0" indent="0">
              <a:buNone/>
            </a:pPr>
            <a:r>
              <a:rPr lang="en-IN" b="1" dirty="0"/>
              <a:t>	- Open group1 &gt; Permission &gt; Add permission &gt; Attach Policy &gt; S3fullaccess</a:t>
            </a:r>
          </a:p>
          <a:p>
            <a:pPr marL="0" indent="0">
              <a:buNone/>
            </a:pPr>
            <a:r>
              <a:rPr lang="en-IN" b="1" dirty="0"/>
              <a:t>- Add both user to a group1, login with user1 &amp; create a bucket.</a:t>
            </a:r>
          </a:p>
          <a:p>
            <a:pPr marL="0" indent="0">
              <a:buNone/>
            </a:pPr>
            <a:r>
              <a:rPr lang="en-IN" b="1" dirty="0"/>
              <a:t>- Remove policy from group1 &amp; again try to create bucket.</a:t>
            </a:r>
          </a:p>
          <a:p>
            <a:pPr marL="0" indent="0">
              <a:buNone/>
            </a:pPr>
            <a:r>
              <a:rPr lang="en-IN" b="1" dirty="0"/>
              <a:t>- Delete user &amp; group.</a:t>
            </a:r>
          </a:p>
          <a:p>
            <a:pPr marL="0" indent="0">
              <a:buNone/>
            </a:pPr>
            <a:r>
              <a:rPr lang="en-IN" b="1" dirty="0"/>
              <a:t>---------------------------------------------------------------------------------------------------------</a:t>
            </a:r>
          </a:p>
          <a:p>
            <a:pPr marL="0" indent="0">
              <a:buNone/>
            </a:pPr>
            <a:r>
              <a:rPr lang="en-IN" b="1" dirty="0"/>
              <a:t>- Now create a group (bill1) and assign permission (billing).</a:t>
            </a:r>
          </a:p>
          <a:p>
            <a:pPr marL="0" indent="0">
              <a:buNone/>
            </a:pPr>
            <a:r>
              <a:rPr lang="en-IN" b="1" dirty="0"/>
              <a:t>- Create a user (user1) &amp; add this user to group.</a:t>
            </a:r>
          </a:p>
          <a:p>
            <a:pPr marL="0" indent="0">
              <a:buNone/>
            </a:pPr>
            <a:r>
              <a:rPr lang="en-IN" b="1" dirty="0"/>
              <a:t>- Login with user1 and try to view billing information</a:t>
            </a:r>
          </a:p>
          <a:p>
            <a:pPr marL="0" indent="0">
              <a:buNone/>
            </a:pPr>
            <a:r>
              <a:rPr lang="en-IN" b="1" dirty="0"/>
              <a:t>		- Go to root user &amp; click on Account, Go to IAM user &amp; role</a:t>
            </a:r>
          </a:p>
          <a:p>
            <a:pPr marL="0" indent="0">
              <a:buNone/>
            </a:pPr>
            <a:r>
              <a:rPr lang="en-IN" b="1" dirty="0"/>
              <a:t>		- Check Activate IAM Access &amp; click on Update 	</a:t>
            </a:r>
          </a:p>
          <a:p>
            <a:pPr marL="0" indent="0">
              <a:buNone/>
            </a:pPr>
            <a:r>
              <a:rPr lang="en-IN" b="1" dirty="0"/>
              <a:t>----------------------------------------------------------------------------------------------------------</a:t>
            </a:r>
          </a:p>
          <a:p>
            <a:pPr marL="0" indent="0">
              <a:buNone/>
            </a:pPr>
            <a:r>
              <a:rPr lang="en-IN" b="1" dirty="0"/>
              <a:t>- Go to user1 &amp; click on Add Inline Policy</a:t>
            </a:r>
          </a:p>
          <a:p>
            <a:pPr marL="0" indent="0">
              <a:buNone/>
            </a:pPr>
            <a:r>
              <a:rPr lang="en-IN" b="1" dirty="0"/>
              <a:t>- Choose EC2 services, Click on write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- Go to user1 &amp; click on Security Credential [If user forgot password] </a:t>
            </a:r>
          </a:p>
        </p:txBody>
      </p:sp>
    </p:spTree>
    <p:extLst>
      <p:ext uri="{BB962C8B-B14F-4D97-AF65-F5344CB8AC3E}">
        <p14:creationId xmlns:p14="http://schemas.microsoft.com/office/powerpoint/2010/main" val="984363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9630" y="321219"/>
            <a:ext cx="8596668" cy="560832"/>
          </a:xfrm>
        </p:spPr>
        <p:txBody>
          <a:bodyPr>
            <a:normAutofit/>
          </a:bodyPr>
          <a:lstStyle/>
          <a:p>
            <a:r>
              <a:rPr lang="en-IN" sz="2800" b="1" dirty="0"/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168812"/>
            <a:ext cx="11392747" cy="65428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</a:rPr>
              <a:t>Lab3 : Cross account S3 bucket access using IAM role.</a:t>
            </a:r>
          </a:p>
          <a:p>
            <a:pPr marL="0" indent="0">
              <a:buNone/>
            </a:pPr>
            <a:endParaRPr lang="en-IN" b="1" dirty="0"/>
          </a:p>
          <a:p>
            <a:pPr>
              <a:buFontTx/>
              <a:buChar char="-"/>
            </a:pPr>
            <a:r>
              <a:rPr lang="en-IN" b="1" dirty="0">
                <a:solidFill>
                  <a:srgbClr val="0070C0"/>
                </a:solidFill>
              </a:rPr>
              <a:t>Need two AWS Account. Firstly, Login as Account 1.</a:t>
            </a:r>
          </a:p>
          <a:p>
            <a:pPr>
              <a:buFontTx/>
              <a:buChar char="-"/>
            </a:pPr>
            <a:r>
              <a:rPr lang="en-IN" b="1" dirty="0">
                <a:solidFill>
                  <a:srgbClr val="0070C0"/>
                </a:solidFill>
              </a:rPr>
              <a:t>Create one group(group1), two user(user1 &amp; user2), add users in group &amp; assign policy     	(EC2ReadOnlyAccess) to group.</a:t>
            </a:r>
          </a:p>
          <a:p>
            <a:pPr>
              <a:buFontTx/>
              <a:buChar char="-"/>
            </a:pPr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Login with Account 2 &amp; create a S3 bucket.</a:t>
            </a:r>
          </a:p>
          <a:p>
            <a:pPr>
              <a:buFontTx/>
              <a:buChar char="-"/>
            </a:pPr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Create a Role &gt; Select Another AWS Account &gt; Insert Account ID of A/C 1 &gt; Attach Policy (S3ReadOnlyAccess) &gt; Role Name (s3read), Create Role, Copy Role ARN</a:t>
            </a:r>
          </a:p>
          <a:p>
            <a:pPr>
              <a:buFontTx/>
              <a:buChar char="-"/>
            </a:pPr>
            <a:r>
              <a:rPr lang="en-IN" b="1" dirty="0">
                <a:solidFill>
                  <a:srgbClr val="0070C0"/>
                </a:solidFill>
              </a:rPr>
              <a:t>Now, login with Account 1 &gt; Go to Group &gt; Add Permission &gt; Create Inline Policy &gt; Service (sts)               &gt; Action - Write (AssumeRole) &gt; Resources (Add ARN – any any) &gt; Create</a:t>
            </a:r>
          </a:p>
          <a:p>
            <a:pPr>
              <a:buFontTx/>
              <a:buChar char="-"/>
            </a:pPr>
            <a:r>
              <a:rPr lang="en-IN" b="1" dirty="0"/>
              <a:t>Login as IAM user1, Access EC2 &amp; Own S3 or IAM &amp; user2 one by one from Account 1</a:t>
            </a:r>
          </a:p>
          <a:p>
            <a:pPr>
              <a:buFontTx/>
              <a:buChar char="-"/>
            </a:pPr>
            <a:r>
              <a:rPr lang="en-IN" b="1" dirty="0"/>
              <a:t>Click on My Account &gt; Switch Role &gt; Enter Account ID of Account 2. [Both user can see s3 bucket]</a:t>
            </a:r>
          </a:p>
          <a:p>
            <a:pPr marL="0" indent="0">
              <a:buNone/>
            </a:pPr>
            <a:r>
              <a:rPr lang="en-IN" b="1" dirty="0"/>
              <a:t>---------------------------------------------------------------------------------------------------------------------------------</a:t>
            </a:r>
          </a:p>
          <a:p>
            <a:pPr marL="0" indent="0">
              <a:buNone/>
            </a:pPr>
            <a:r>
              <a:rPr lang="en-IN" b="1" dirty="0"/>
              <a:t>Only user1 should view s3 bucket</a:t>
            </a:r>
          </a:p>
          <a:p>
            <a:pPr>
              <a:buFontTx/>
              <a:buChar char="-"/>
            </a:pPr>
            <a:r>
              <a:rPr lang="en-IN" b="1" dirty="0"/>
              <a:t>Login with Account 2 &gt; Role &gt; Trusted Relationship &gt; Edit &gt; Paste ARN of user1 &gt; Save Policy</a:t>
            </a:r>
          </a:p>
          <a:p>
            <a:pPr>
              <a:buFontTx/>
              <a:buChar char="-"/>
            </a:pPr>
            <a:r>
              <a:rPr lang="en-IN" b="1" dirty="0"/>
              <a:t>Login with IAM user1 &gt; switch role = You see s3 bucket</a:t>
            </a:r>
          </a:p>
          <a:p>
            <a:pPr>
              <a:buFontTx/>
              <a:buChar char="-"/>
            </a:pPr>
            <a:r>
              <a:rPr lang="en-IN" b="1" dirty="0"/>
              <a:t>Login with IAM user2 &gt; switch role = You can’t see s3 bucket</a:t>
            </a:r>
          </a:p>
        </p:txBody>
      </p:sp>
    </p:spTree>
    <p:extLst>
      <p:ext uri="{BB962C8B-B14F-4D97-AF65-F5344CB8AC3E}">
        <p14:creationId xmlns:p14="http://schemas.microsoft.com/office/powerpoint/2010/main" val="3351848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72" y="134112"/>
            <a:ext cx="9061026" cy="432816"/>
          </a:xfrm>
        </p:spPr>
        <p:txBody>
          <a:bodyPr>
            <a:normAutofit/>
          </a:bodyPr>
          <a:lstStyle/>
          <a:p>
            <a:r>
              <a:rPr lang="en-IN" sz="2000" b="1" dirty="0"/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872" y="566928"/>
            <a:ext cx="11969496" cy="619048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400" b="1" dirty="0"/>
              <a:t>Lab 4 : How to connect Windows AD server to AWS</a:t>
            </a:r>
          </a:p>
          <a:p>
            <a:pPr marL="0" indent="0">
              <a:buNone/>
            </a:pPr>
            <a:endParaRPr lang="en-IN" b="1" dirty="0"/>
          </a:p>
          <a:p>
            <a:pPr>
              <a:buFontTx/>
              <a:buChar char="-"/>
            </a:pPr>
            <a:r>
              <a:rPr lang="en-IN" b="1" dirty="0"/>
              <a:t>Launch a EC2 instance (Server) , Access it &amp; Change Admin password. </a:t>
            </a:r>
          </a:p>
          <a:p>
            <a:pPr>
              <a:buFontTx/>
              <a:buChar char="-"/>
            </a:pPr>
            <a:r>
              <a:rPr lang="en-IN" b="1" dirty="0"/>
              <a:t>Open Server Manager, Click Add roles, Install AD DS &amp; </a:t>
            </a:r>
          </a:p>
          <a:p>
            <a:pPr>
              <a:buFontTx/>
              <a:buChar char="-"/>
            </a:pPr>
            <a:r>
              <a:rPr lang="en-IN" b="1" dirty="0"/>
              <a:t>After installing ADDS, click on notification seen &amp; click on promote this server </a:t>
            </a:r>
          </a:p>
          <a:p>
            <a:pPr>
              <a:buFontTx/>
              <a:buChar char="-"/>
            </a:pPr>
            <a:r>
              <a:rPr lang="en-IN" b="1" dirty="0"/>
              <a:t>Add a new forest &gt; Domain (xyz.in), create a password</a:t>
            </a:r>
          </a:p>
          <a:p>
            <a:pPr marL="0" indent="0">
              <a:buNone/>
            </a:pPr>
            <a:endParaRPr lang="en-IN" b="1" dirty="0"/>
          </a:p>
          <a:p>
            <a:pPr>
              <a:buFontTx/>
              <a:buChar char="-"/>
            </a:pPr>
            <a:r>
              <a:rPr lang="en-IN" b="1" dirty="0"/>
              <a:t>Go to server manager &gt; Tools &gt; DNS &gt; Reverse look up zone &gt; Right click &amp; select New Zone  (enter server private IP address).</a:t>
            </a:r>
          </a:p>
          <a:p>
            <a:pPr marL="0" indent="0">
              <a:buNone/>
            </a:pPr>
            <a:endParaRPr lang="en-IN" b="1" dirty="0"/>
          </a:p>
          <a:p>
            <a:pPr>
              <a:buFontTx/>
              <a:buChar char="-"/>
            </a:pPr>
            <a:r>
              <a:rPr lang="en-IN" b="1" dirty="0"/>
              <a:t>Now expand Forward look up zone &amp; click on your domain name &gt; Right click on server &amp; check mark Update Associated Pointer &gt; Apply</a:t>
            </a:r>
          </a:p>
          <a:p>
            <a:pPr marL="0" indent="0">
              <a:buNone/>
            </a:pPr>
            <a:endParaRPr lang="en-IN" b="1" dirty="0"/>
          </a:p>
          <a:p>
            <a:pPr>
              <a:buFontTx/>
              <a:buChar char="-"/>
            </a:pPr>
            <a:r>
              <a:rPr lang="en-IN" b="1" dirty="0"/>
              <a:t>Press Win + R &gt; ncpa.cpl &gt; Enter Server Private IP Add in Preferred DNS Server.</a:t>
            </a:r>
          </a:p>
          <a:p>
            <a:pPr marL="0" indent="0">
              <a:buNone/>
            </a:pPr>
            <a:endParaRPr lang="en-IN" b="1" dirty="0"/>
          </a:p>
          <a:p>
            <a:pPr>
              <a:buFontTx/>
              <a:buChar char="-"/>
            </a:pPr>
            <a:r>
              <a:rPr lang="en-IN" b="1" dirty="0"/>
              <a:t>Go to Server Manager &gt; Tools &gt;AD User &amp; Computer</a:t>
            </a:r>
          </a:p>
          <a:p>
            <a:pPr>
              <a:buFontTx/>
              <a:buChar char="-"/>
            </a:pPr>
            <a:r>
              <a:rPr lang="en-IN" b="1" dirty="0"/>
              <a:t>Create two user i.e. user1 &amp; user2 and set password – user@123</a:t>
            </a:r>
          </a:p>
        </p:txBody>
      </p:sp>
    </p:spTree>
    <p:extLst>
      <p:ext uri="{BB962C8B-B14F-4D97-AF65-F5344CB8AC3E}">
        <p14:creationId xmlns:p14="http://schemas.microsoft.com/office/powerpoint/2010/main" val="3095939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10E7D-6429-67F5-1A40-6FF0124CA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F9FEF-16D8-F64F-5362-E6DE94725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3" y="422031"/>
            <a:ext cx="11732455" cy="5619331"/>
          </a:xfrm>
        </p:spPr>
        <p:txBody>
          <a:bodyPr>
            <a:normAutofit lnSpcReduction="10000"/>
          </a:bodyPr>
          <a:lstStyle/>
          <a:p>
            <a:pPr>
              <a:buFontTx/>
              <a:buChar char="-"/>
            </a:pPr>
            <a:r>
              <a:rPr lang="en-IN" b="1" dirty="0"/>
              <a:t>Now Go to AWS Console &gt; Search ‘Directory Services’ &gt;Set Up Directory &gt; AD Connector &gt; Small</a:t>
            </a:r>
          </a:p>
          <a:p>
            <a:pPr>
              <a:buFontTx/>
              <a:buChar char="-"/>
            </a:pPr>
            <a:r>
              <a:rPr lang="en-IN" b="1" dirty="0"/>
              <a:t>Directory DNS Name – xyz.in, DNS IP Add – Private IP Add of AD Server</a:t>
            </a:r>
          </a:p>
          <a:p>
            <a:pPr marL="0" indent="0">
              <a:buNone/>
            </a:pPr>
            <a:r>
              <a:rPr lang="en-IN" b="1" dirty="0"/>
              <a:t>     Username – Administrator, Password – AD Server Password</a:t>
            </a:r>
          </a:p>
          <a:p>
            <a:pPr marL="0" indent="0">
              <a:buNone/>
            </a:pPr>
            <a:endParaRPr lang="en-IN" b="1" dirty="0"/>
          </a:p>
          <a:p>
            <a:pPr>
              <a:buFontTx/>
              <a:buChar char="-"/>
            </a:pPr>
            <a:r>
              <a:rPr lang="en-IN" b="1" dirty="0"/>
              <a:t>Go to IAM &gt; Role &gt;Select Directory Services &gt;Assign Permission EC2FullAccess &gt;Name-ec2full1&gt; Create Role (Make sure IAM role is activated under Account)</a:t>
            </a:r>
          </a:p>
          <a:p>
            <a:pPr>
              <a:buFontTx/>
              <a:buChar char="-"/>
            </a:pPr>
            <a:r>
              <a:rPr lang="en-IN" b="1" dirty="0"/>
              <a:t>Create one more Role for Billing [Name-bill1]</a:t>
            </a:r>
          </a:p>
          <a:p>
            <a:pPr marL="0" indent="0">
              <a:buNone/>
            </a:pPr>
            <a:endParaRPr lang="en-IN" b="1" dirty="0"/>
          </a:p>
          <a:p>
            <a:pPr>
              <a:buFontTx/>
              <a:buChar char="-"/>
            </a:pPr>
            <a:r>
              <a:rPr lang="en-IN" b="1" dirty="0"/>
              <a:t>Go to Directory Services &gt; Create Application access URL &gt; Enter domain name (</a:t>
            </a:r>
            <a:r>
              <a:rPr lang="en-IN" b="1" dirty="0" err="1"/>
              <a:t>xyz</a:t>
            </a:r>
            <a:r>
              <a:rPr lang="en-IN" b="1" dirty="0"/>
              <a:t>)&gt; Create</a:t>
            </a:r>
          </a:p>
          <a:p>
            <a:pPr>
              <a:buFontTx/>
              <a:buChar char="-"/>
            </a:pPr>
            <a:r>
              <a:rPr lang="en-IN" b="1" dirty="0"/>
              <a:t>Enable AWS Management Console [ You will see both Role i.e. ec2full1 &amp; bill1]</a:t>
            </a:r>
          </a:p>
          <a:p>
            <a:pPr>
              <a:buFontTx/>
              <a:buChar char="-"/>
            </a:pPr>
            <a:r>
              <a:rPr lang="en-IN" b="1" dirty="0"/>
              <a:t>Click on bill1 and add user1   &amp;   now click on bill1 and add user2.</a:t>
            </a:r>
          </a:p>
          <a:p>
            <a:pPr>
              <a:buFontTx/>
              <a:buChar char="-"/>
            </a:pPr>
            <a:r>
              <a:rPr lang="en-IN" b="1" dirty="0"/>
              <a:t>Go to directories &gt; copy URL from Application Access URL &gt; Open in browser (add /console with URL)</a:t>
            </a:r>
          </a:p>
          <a:p>
            <a:pPr>
              <a:buFontTx/>
              <a:buChar char="-"/>
            </a:pPr>
            <a:r>
              <a:rPr lang="en-IN" b="1" dirty="0"/>
              <a:t>Copy the URL and open in Incognito Tab.</a:t>
            </a:r>
          </a:p>
          <a:p>
            <a:pPr marL="0" indent="0">
              <a:buNone/>
            </a:pPr>
            <a:r>
              <a:rPr lang="en-IN" b="1" dirty="0"/>
              <a:t>		- Delete user from role under Directory Services     - Disable AWS Management Console &gt; Delete AD 		  Connector &gt; Enter Domain Name &gt; Delete Role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6401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2218</TotalTime>
  <Words>1524</Words>
  <Application>Microsoft Office PowerPoint</Application>
  <PresentationFormat>Widescreen</PresentationFormat>
  <Paragraphs>113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IAM (Identity &amp; Access Management)</vt:lpstr>
      <vt:lpstr>   </vt:lpstr>
      <vt:lpstr>  </vt:lpstr>
      <vt:lpstr> </vt:lpstr>
      <vt:lpstr>  </vt:lpstr>
      <vt:lpstr>Lab1 : How to create IAM user and assign policies.</vt:lpstr>
      <vt:lpstr>Lab2 : How to create group, billing dashboard for IAM user &amp; Inline Policy</vt:lpstr>
      <vt:lpstr>  </vt:lpstr>
      <vt:lpstr>  </vt:lpstr>
      <vt:lpstr>   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IAM (Identity &amp; Access Management)</dc:title>
  <dc:creator>Pawan Kumar</dc:creator>
  <cp:lastModifiedBy>TB</cp:lastModifiedBy>
  <cp:revision>71</cp:revision>
  <dcterms:created xsi:type="dcterms:W3CDTF">2019-09-17T11:24:17Z</dcterms:created>
  <dcterms:modified xsi:type="dcterms:W3CDTF">2022-09-15T06:32:36Z</dcterms:modified>
</cp:coreProperties>
</file>