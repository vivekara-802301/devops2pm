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97" r:id="rId1"/>
  </p:sldMasterIdLst>
  <p:sldIdLst>
    <p:sldId id="266" r:id="rId2"/>
    <p:sldId id="267" r:id="rId3"/>
    <p:sldId id="268" r:id="rId4"/>
    <p:sldId id="271" r:id="rId5"/>
    <p:sldId id="273" r:id="rId6"/>
    <p:sldId id="275" r:id="rId7"/>
    <p:sldId id="276" r:id="rId8"/>
    <p:sldId id="277" r:id="rId9"/>
    <p:sldId id="272" r:id="rId10"/>
    <p:sldId id="282" r:id="rId11"/>
    <p:sldId id="281" r:id="rId12"/>
    <p:sldId id="283" r:id="rId13"/>
    <p:sldId id="286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336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2D06BD-F932-4DB8-ABBE-C13A157A5D1D}" type="datetimeFigureOut">
              <a:rPr lang="en-IN" smtClean="0"/>
              <a:t>17-09-2022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61D484-C60B-4983-810F-DF6B9DE784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039030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2D06BD-F932-4DB8-ABBE-C13A157A5D1D}" type="datetimeFigureOut">
              <a:rPr lang="en-IN" smtClean="0"/>
              <a:t>17-09-2022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61D484-C60B-4983-810F-DF6B9DE784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908078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2D06BD-F932-4DB8-ABBE-C13A157A5D1D}" type="datetimeFigureOut">
              <a:rPr lang="en-IN" smtClean="0"/>
              <a:t>17-09-2022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61D484-C60B-4983-810F-DF6B9DE784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057148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2D06BD-F932-4DB8-ABBE-C13A157A5D1D}" type="datetimeFigureOut">
              <a:rPr lang="en-IN" smtClean="0"/>
              <a:t>17-09-2022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61D484-C60B-4983-810F-DF6B9DE784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651316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2D06BD-F932-4DB8-ABBE-C13A157A5D1D}" type="datetimeFigureOut">
              <a:rPr lang="en-IN" smtClean="0"/>
              <a:t>17-09-2022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61D484-C60B-4983-810F-DF6B9DE784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213165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2D06BD-F932-4DB8-ABBE-C13A157A5D1D}" type="datetimeFigureOut">
              <a:rPr lang="en-IN" smtClean="0"/>
              <a:t>17-09-2022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61D484-C60B-4983-810F-DF6B9DE784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44195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2D06BD-F932-4DB8-ABBE-C13A157A5D1D}" type="datetimeFigureOut">
              <a:rPr lang="en-IN" smtClean="0"/>
              <a:t>17-09-2022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61D484-C60B-4983-810F-DF6B9DE784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232858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2D06BD-F932-4DB8-ABBE-C13A157A5D1D}" type="datetimeFigureOut">
              <a:rPr lang="en-IN" smtClean="0"/>
              <a:t>17-09-2022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61D484-C60B-4983-810F-DF6B9DE784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655065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2D06BD-F932-4DB8-ABBE-C13A157A5D1D}" type="datetimeFigureOut">
              <a:rPr lang="en-IN" smtClean="0"/>
              <a:t>17-09-2022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61D484-C60B-4983-810F-DF6B9DE784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330279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2D06BD-F932-4DB8-ABBE-C13A157A5D1D}" type="datetimeFigureOut">
              <a:rPr lang="en-IN" smtClean="0"/>
              <a:t>17-09-2022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61D484-C60B-4983-810F-DF6B9DE784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966849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2D06BD-F932-4DB8-ABBE-C13A157A5D1D}" type="datetimeFigureOut">
              <a:rPr lang="en-IN" smtClean="0"/>
              <a:t>17-09-2022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61D484-C60B-4983-810F-DF6B9DE784B1}" type="slidenum">
              <a:rPr lang="en-IN" smtClean="0"/>
              <a:t>‹#›</a:t>
            </a:fld>
            <a:endParaRPr lang="en-IN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58890893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2D06BD-F932-4DB8-ABBE-C13A157A5D1D}" type="datetimeFigureOut">
              <a:rPr lang="en-IN" smtClean="0"/>
              <a:t>17-09-2022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61D484-C60B-4983-810F-DF6B9DE784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1681067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2D06BD-F932-4DB8-ABBE-C13A157A5D1D}" type="datetimeFigureOut">
              <a:rPr lang="en-IN" smtClean="0"/>
              <a:t>17-09-2022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61D484-C60B-4983-810F-DF6B9DE784B1}" type="slidenum">
              <a:rPr lang="en-IN" smtClean="0"/>
              <a:t>‹#›</a:t>
            </a:fld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56527654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2D06BD-F932-4DB8-ABBE-C13A157A5D1D}" type="datetimeFigureOut">
              <a:rPr lang="en-IN" smtClean="0"/>
              <a:t>17-09-2022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61D484-C60B-4983-810F-DF6B9DE784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1602568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2D06BD-F932-4DB8-ABBE-C13A157A5D1D}" type="datetimeFigureOut">
              <a:rPr lang="en-IN" smtClean="0"/>
              <a:t>17-09-2022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61D484-C60B-4983-810F-DF6B9DE784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2427775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2D06BD-F932-4DB8-ABBE-C13A157A5D1D}" type="datetimeFigureOut">
              <a:rPr lang="en-IN" smtClean="0"/>
              <a:t>17-09-2022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61D484-C60B-4983-810F-DF6B9DE784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09860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2D06BD-F932-4DB8-ABBE-C13A157A5D1D}" type="datetimeFigureOut">
              <a:rPr lang="en-IN" smtClean="0"/>
              <a:t>17-09-2022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3561D484-C60B-4983-810F-DF6B9DE784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0960710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98" r:id="rId1"/>
    <p:sldLayoutId id="2147483799" r:id="rId2"/>
    <p:sldLayoutId id="2147483800" r:id="rId3"/>
    <p:sldLayoutId id="2147483801" r:id="rId4"/>
    <p:sldLayoutId id="2147483802" r:id="rId5"/>
    <p:sldLayoutId id="2147483803" r:id="rId6"/>
    <p:sldLayoutId id="2147483804" r:id="rId7"/>
    <p:sldLayoutId id="2147483805" r:id="rId8"/>
    <p:sldLayoutId id="2147483806" r:id="rId9"/>
    <p:sldLayoutId id="2147483807" r:id="rId10"/>
    <p:sldLayoutId id="2147483808" r:id="rId11"/>
    <p:sldLayoutId id="2147483809" r:id="rId12"/>
    <p:sldLayoutId id="2147483810" r:id="rId13"/>
    <p:sldLayoutId id="2147483811" r:id="rId14"/>
    <p:sldLayoutId id="2147483812" r:id="rId15"/>
    <p:sldLayoutId id="2147483813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77637"/>
            <a:ext cx="10515600" cy="836763"/>
          </a:xfrm>
        </p:spPr>
        <p:txBody>
          <a:bodyPr>
            <a:normAutofit/>
          </a:bodyPr>
          <a:lstStyle/>
          <a:p>
            <a:r>
              <a:rPr lang="en-IN" sz="2400" u="sng" dirty="0">
                <a:solidFill>
                  <a:srgbClr val="FF0000"/>
                </a:solidFill>
                <a:latin typeface="Arial Black" panose="020B0A04020102020204" pitchFamily="34" charset="0"/>
              </a:rPr>
              <a:t>EC2 – Elastic Compute Cloud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816333"/>
            <a:ext cx="10515600" cy="5843259"/>
          </a:xfrm>
        </p:spPr>
        <p:txBody>
          <a:bodyPr>
            <a:normAutofit/>
          </a:bodyPr>
          <a:lstStyle/>
          <a:p>
            <a:pPr marL="0" indent="0">
              <a:spcBef>
                <a:spcPts val="0"/>
              </a:spcBef>
              <a:buNone/>
            </a:pPr>
            <a:endParaRPr lang="en-IN" sz="2000" b="1" dirty="0"/>
          </a:p>
          <a:p>
            <a:pPr marL="0" indent="0">
              <a:spcBef>
                <a:spcPts val="0"/>
              </a:spcBef>
              <a:buNone/>
            </a:pPr>
            <a:endParaRPr lang="en-IN" sz="2000" b="1" dirty="0"/>
          </a:p>
          <a:p>
            <a:pPr>
              <a:spcBef>
                <a:spcPts val="0"/>
              </a:spcBef>
            </a:pPr>
            <a:r>
              <a:rPr lang="en-IN" sz="2000" b="1" dirty="0"/>
              <a:t>It provide scalable computing capacity in AWS cloud.</a:t>
            </a:r>
          </a:p>
          <a:p>
            <a:pPr marL="0" indent="0">
              <a:spcBef>
                <a:spcPts val="0"/>
              </a:spcBef>
              <a:buNone/>
            </a:pPr>
            <a:endParaRPr lang="en-IN" sz="2000" b="1" dirty="0"/>
          </a:p>
          <a:p>
            <a:pPr>
              <a:spcBef>
                <a:spcPts val="0"/>
              </a:spcBef>
            </a:pPr>
            <a:r>
              <a:rPr lang="en-IN" sz="2000" b="1" dirty="0"/>
              <a:t>You can use amazon EC2 to launch as many or as few virtual server as you need,configure security and networking and manage storage.</a:t>
            </a:r>
          </a:p>
          <a:p>
            <a:pPr marL="0" indent="0">
              <a:spcBef>
                <a:spcPts val="0"/>
              </a:spcBef>
              <a:buNone/>
            </a:pPr>
            <a:endParaRPr lang="en-IN" sz="2000" b="1" dirty="0"/>
          </a:p>
          <a:p>
            <a:pPr>
              <a:spcBef>
                <a:spcPts val="0"/>
              </a:spcBef>
            </a:pPr>
            <a:r>
              <a:rPr lang="en-IN" sz="2000" b="1" dirty="0"/>
              <a:t>It enable to scale up or scale down the instances.</a:t>
            </a:r>
          </a:p>
          <a:p>
            <a:pPr marL="0" indent="0">
              <a:spcBef>
                <a:spcPts val="0"/>
              </a:spcBef>
              <a:buNone/>
            </a:pPr>
            <a:endParaRPr lang="en-IN" sz="2000" b="1" dirty="0"/>
          </a:p>
          <a:p>
            <a:pPr>
              <a:spcBef>
                <a:spcPts val="0"/>
              </a:spcBef>
            </a:pPr>
            <a:r>
              <a:rPr lang="en-IN" sz="2000" b="1" dirty="0"/>
              <a:t>It has two storage option i.e EBS &amp; instances store</a:t>
            </a:r>
          </a:p>
          <a:p>
            <a:pPr marL="0" indent="0">
              <a:spcBef>
                <a:spcPts val="0"/>
              </a:spcBef>
              <a:buNone/>
            </a:pPr>
            <a:endParaRPr lang="en-IN" sz="2000" b="1" dirty="0"/>
          </a:p>
          <a:p>
            <a:pPr>
              <a:spcBef>
                <a:spcPts val="0"/>
              </a:spcBef>
            </a:pPr>
            <a:r>
              <a:rPr lang="en-IN" sz="2000" b="1" dirty="0"/>
              <a:t>Preconfigured available templates are known as AMI (Amazon Machine Image).</a:t>
            </a:r>
          </a:p>
          <a:p>
            <a:pPr marL="0" indent="0">
              <a:spcBef>
                <a:spcPts val="0"/>
              </a:spcBef>
              <a:buNone/>
            </a:pPr>
            <a:endParaRPr lang="en-IN" sz="2000" b="1" dirty="0"/>
          </a:p>
          <a:p>
            <a:pPr>
              <a:spcBef>
                <a:spcPts val="0"/>
              </a:spcBef>
            </a:pPr>
            <a:r>
              <a:rPr lang="en-IN" sz="2000" b="1" dirty="0"/>
              <a:t>Maximum 20 EC2 instances can be created in a region.</a:t>
            </a:r>
          </a:p>
          <a:p>
            <a:pPr marL="0" indent="0">
              <a:buNone/>
            </a:pPr>
            <a:endParaRPr lang="en-IN" sz="2000" dirty="0"/>
          </a:p>
          <a:p>
            <a:pPr marL="0" indent="0">
              <a:spcBef>
                <a:spcPts val="0"/>
              </a:spcBef>
              <a:buNone/>
            </a:pPr>
            <a:endParaRPr lang="en-IN" sz="2000" b="1" dirty="0"/>
          </a:p>
          <a:p>
            <a:pPr marL="0" indent="0">
              <a:spcBef>
                <a:spcPts val="0"/>
              </a:spcBef>
              <a:buNone/>
            </a:pPr>
            <a:endParaRPr lang="en-IN" sz="2000" b="1" dirty="0"/>
          </a:p>
          <a:p>
            <a:pPr marL="0" indent="0">
              <a:spcBef>
                <a:spcPts val="0"/>
              </a:spcBef>
              <a:buNone/>
            </a:pPr>
            <a:endParaRPr lang="en-IN" sz="2000" b="1" dirty="0"/>
          </a:p>
          <a:p>
            <a:pPr marL="0" indent="0">
              <a:spcBef>
                <a:spcPts val="0"/>
              </a:spcBef>
              <a:buNone/>
            </a:pPr>
            <a:endParaRPr lang="en-IN" sz="2000" b="1" dirty="0"/>
          </a:p>
        </p:txBody>
      </p:sp>
    </p:spTree>
    <p:extLst>
      <p:ext uri="{BB962C8B-B14F-4D97-AF65-F5344CB8AC3E}">
        <p14:creationId xmlns:p14="http://schemas.microsoft.com/office/powerpoint/2010/main" val="42266032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8296" y="60385"/>
            <a:ext cx="11608904" cy="6631963"/>
          </a:xfrm>
        </p:spPr>
        <p:txBody>
          <a:bodyPr>
            <a:normAutofit/>
          </a:bodyPr>
          <a:lstStyle/>
          <a:p>
            <a:pPr>
              <a:spcBef>
                <a:spcPts val="0"/>
              </a:spcBef>
            </a:pPr>
            <a:r>
              <a:rPr lang="en-IN" sz="2400" b="1" dirty="0">
                <a:solidFill>
                  <a:srgbClr val="FFFF00"/>
                </a:solidFill>
              </a:rPr>
              <a:t>Types of EC2 instances :-</a:t>
            </a:r>
            <a:br>
              <a:rPr lang="en-IN" sz="1800" b="1" u="sng" dirty="0">
                <a:solidFill>
                  <a:srgbClr val="FF0000"/>
                </a:solidFill>
                <a:latin typeface="+mn-lt"/>
              </a:rPr>
            </a:br>
            <a:br>
              <a:rPr lang="en-IN" sz="1800" b="1" u="sng" dirty="0">
                <a:solidFill>
                  <a:srgbClr val="FF0000"/>
                </a:solidFill>
                <a:latin typeface="+mn-lt"/>
              </a:rPr>
            </a:br>
            <a:r>
              <a:rPr lang="en-IN" sz="1800" b="1" dirty="0">
                <a:solidFill>
                  <a:srgbClr val="FF0000"/>
                </a:solidFill>
                <a:latin typeface="+mn-lt"/>
              </a:rPr>
              <a:t>1. </a:t>
            </a:r>
            <a:r>
              <a:rPr lang="en-IN" sz="1800" b="1" u="sng" dirty="0">
                <a:solidFill>
                  <a:srgbClr val="FF0000"/>
                </a:solidFill>
                <a:latin typeface="+mn-lt"/>
              </a:rPr>
              <a:t>General Purpose Instances</a:t>
            </a:r>
            <a:r>
              <a:rPr lang="en-IN" sz="1800" b="1" dirty="0">
                <a:solidFill>
                  <a:srgbClr val="FF0000"/>
                </a:solidFill>
                <a:latin typeface="+mn-lt"/>
              </a:rPr>
              <a:t> : </a:t>
            </a:r>
            <a:r>
              <a:rPr lang="en-IN" sz="1800" b="1" dirty="0">
                <a:solidFill>
                  <a:srgbClr val="0070C0"/>
                </a:solidFill>
                <a:latin typeface="+mn-lt"/>
              </a:rPr>
              <a:t>Balanced CPU, RAM &amp; Memory </a:t>
            </a:r>
            <a:br>
              <a:rPr lang="en-IN" sz="1800" b="1" u="sng" dirty="0">
                <a:solidFill>
                  <a:srgbClr val="FF0000"/>
                </a:solidFill>
                <a:latin typeface="+mn-lt"/>
              </a:rPr>
            </a:br>
            <a:br>
              <a:rPr lang="en-IN" sz="1800" b="1" u="sng" dirty="0">
                <a:solidFill>
                  <a:srgbClr val="FF0000"/>
                </a:solidFill>
                <a:latin typeface="+mn-lt"/>
              </a:rPr>
            </a:br>
            <a:r>
              <a:rPr lang="en-IN" sz="1800" b="1" dirty="0">
                <a:solidFill>
                  <a:srgbClr val="FF0000"/>
                </a:solidFill>
                <a:latin typeface="+mn-lt"/>
              </a:rPr>
              <a:t>		</a:t>
            </a:r>
            <a:r>
              <a:rPr lang="en-IN" sz="1800" dirty="0"/>
              <a:t>Three series</a:t>
            </a:r>
            <a:br>
              <a:rPr lang="en-IN" sz="1800" dirty="0"/>
            </a:br>
            <a:r>
              <a:rPr lang="en-IN" sz="1800" dirty="0"/>
              <a:t>			1. A series – A1</a:t>
            </a:r>
            <a:br>
              <a:rPr lang="en-IN" sz="1800" dirty="0"/>
            </a:br>
            <a:r>
              <a:rPr lang="en-IN" sz="1800" dirty="0"/>
              <a:t>			2. M series – M4, M5, M5a, M5ad, M5d</a:t>
            </a:r>
            <a:br>
              <a:rPr lang="en-IN" sz="1800" dirty="0"/>
            </a:br>
            <a:r>
              <a:rPr lang="en-IN" sz="1800" dirty="0"/>
              <a:t>			3. T Series – T3, T3a, T2 for free account</a:t>
            </a:r>
            <a:br>
              <a:rPr lang="en-IN" sz="1800" dirty="0"/>
            </a:br>
            <a:br>
              <a:rPr lang="en-IN" sz="1800" dirty="0"/>
            </a:br>
            <a:br>
              <a:rPr lang="en-IN" sz="1800" dirty="0"/>
            </a:br>
            <a:r>
              <a:rPr lang="en-IN" sz="1800" b="1" dirty="0">
                <a:solidFill>
                  <a:srgbClr val="FF0000"/>
                </a:solidFill>
              </a:rPr>
              <a:t>2. </a:t>
            </a:r>
            <a:r>
              <a:rPr lang="en-IN" sz="1800" b="1" u="sng" dirty="0">
                <a:solidFill>
                  <a:srgbClr val="FF0000"/>
                </a:solidFill>
              </a:rPr>
              <a:t>Compute Optimized Instance</a:t>
            </a:r>
            <a:r>
              <a:rPr lang="en-IN" sz="1800" b="1" dirty="0">
                <a:solidFill>
                  <a:srgbClr val="FF0000"/>
                </a:solidFill>
              </a:rPr>
              <a:t> : </a:t>
            </a:r>
            <a:r>
              <a:rPr lang="en-IN" sz="1800" b="1" dirty="0">
                <a:solidFill>
                  <a:srgbClr val="0070C0"/>
                </a:solidFill>
              </a:rPr>
              <a:t>More CPU</a:t>
            </a:r>
            <a:br>
              <a:rPr lang="en-IN" sz="1800" b="1" u="sng" dirty="0">
                <a:solidFill>
                  <a:srgbClr val="FF0000"/>
                </a:solidFill>
              </a:rPr>
            </a:br>
            <a:br>
              <a:rPr lang="en-IN" sz="1800" b="1" u="sng" dirty="0">
                <a:solidFill>
                  <a:srgbClr val="FF0000"/>
                </a:solidFill>
              </a:rPr>
            </a:br>
            <a:r>
              <a:rPr lang="en-IN" sz="1800" b="1" dirty="0">
                <a:solidFill>
                  <a:srgbClr val="FF0000"/>
                </a:solidFill>
              </a:rPr>
              <a:t>		</a:t>
            </a:r>
            <a:r>
              <a:rPr lang="en-IN" sz="1050" dirty="0"/>
              <a:t> </a:t>
            </a:r>
            <a:r>
              <a:rPr lang="en-IN" sz="1800" dirty="0"/>
              <a:t>There are  only one series i.e.</a:t>
            </a:r>
            <a:br>
              <a:rPr lang="en-IN" sz="1800" dirty="0"/>
            </a:br>
            <a:r>
              <a:rPr lang="en-IN" sz="1800" dirty="0"/>
              <a:t>			C - It consist of C4, C5, C5n</a:t>
            </a:r>
            <a:br>
              <a:rPr lang="en-IN" sz="1800" dirty="0"/>
            </a:br>
            <a:br>
              <a:rPr lang="en-IN" sz="1800" dirty="0"/>
            </a:br>
            <a:br>
              <a:rPr lang="en-IN" sz="1800" dirty="0"/>
            </a:br>
            <a:r>
              <a:rPr lang="en-IN" sz="1800" b="1" dirty="0">
                <a:solidFill>
                  <a:srgbClr val="FF0000"/>
                </a:solidFill>
                <a:latin typeface="+mn-lt"/>
              </a:rPr>
              <a:t>3. </a:t>
            </a:r>
            <a:r>
              <a:rPr lang="en-IN" sz="1800" b="1" u="sng" dirty="0">
                <a:solidFill>
                  <a:srgbClr val="FF0000"/>
                </a:solidFill>
                <a:latin typeface="+mn-lt"/>
              </a:rPr>
              <a:t>Memory Optimized Instances</a:t>
            </a:r>
            <a:r>
              <a:rPr lang="en-IN" sz="1800" b="1" dirty="0">
                <a:solidFill>
                  <a:srgbClr val="FF0000"/>
                </a:solidFill>
                <a:latin typeface="+mn-lt"/>
              </a:rPr>
              <a:t> : </a:t>
            </a:r>
            <a:r>
              <a:rPr lang="en-IN" sz="1800" b="1" dirty="0">
                <a:solidFill>
                  <a:srgbClr val="0070C0"/>
                </a:solidFill>
                <a:latin typeface="+mn-lt"/>
              </a:rPr>
              <a:t>Better RAM</a:t>
            </a:r>
            <a:br>
              <a:rPr lang="en-IN" sz="1800" dirty="0"/>
            </a:br>
            <a:br>
              <a:rPr lang="en-IN" sz="1800" dirty="0"/>
            </a:br>
            <a:r>
              <a:rPr lang="en-IN" sz="1800" dirty="0"/>
              <a:t>		Three series</a:t>
            </a:r>
            <a:br>
              <a:rPr lang="en-IN" sz="1800" dirty="0"/>
            </a:br>
            <a:r>
              <a:rPr lang="en-IN" sz="1800" dirty="0"/>
              <a:t>			1. R series : R4, R5, R5a, R5ad, R5d</a:t>
            </a:r>
            <a:br>
              <a:rPr lang="en-IN" sz="1800" dirty="0"/>
            </a:br>
            <a:r>
              <a:rPr lang="en-IN" sz="1800" dirty="0"/>
              <a:t>			2. X series : X1, X1e</a:t>
            </a:r>
            <a:br>
              <a:rPr lang="en-IN" sz="1800" dirty="0"/>
            </a:br>
            <a:r>
              <a:rPr lang="en-IN" sz="1800" dirty="0"/>
              <a:t>			3. Z series : Z1d</a:t>
            </a:r>
            <a:br>
              <a:rPr lang="en-IN" sz="1800" dirty="0"/>
            </a:br>
            <a:endParaRPr lang="en-IN" sz="1800" u="sng" dirty="0">
              <a:latin typeface="+mn-lt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C2E40AD-543E-B10D-B4DB-C2C83EC7DE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      </a:t>
            </a:r>
          </a:p>
        </p:txBody>
      </p:sp>
    </p:spTree>
    <p:extLst>
      <p:ext uri="{BB962C8B-B14F-4D97-AF65-F5344CB8AC3E}">
        <p14:creationId xmlns:p14="http://schemas.microsoft.com/office/powerpoint/2010/main" val="23057764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321" y="796446"/>
            <a:ext cx="10515600" cy="713177"/>
          </a:xfrm>
        </p:spPr>
        <p:txBody>
          <a:bodyPr>
            <a:normAutofit/>
          </a:bodyPr>
          <a:lstStyle/>
          <a:p>
            <a:r>
              <a:rPr lang="en-IN" sz="2400" b="1" dirty="0">
                <a:solidFill>
                  <a:schemeClr val="tx1"/>
                </a:solidFill>
              </a:rPr>
              <a:t>  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81332" y="238539"/>
            <a:ext cx="10515600" cy="6424679"/>
          </a:xfrm>
        </p:spPr>
        <p:txBody>
          <a:bodyPr>
            <a:normAutofit/>
          </a:bodyPr>
          <a:lstStyle/>
          <a:p>
            <a:pPr marL="0" indent="0">
              <a:spcBef>
                <a:spcPts val="0"/>
              </a:spcBef>
              <a:buNone/>
            </a:pPr>
            <a:endParaRPr lang="en-IN" sz="2000" b="1" u="sng" dirty="0">
              <a:solidFill>
                <a:srgbClr val="FF0000"/>
              </a:solidFill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IN" sz="2000" b="1" dirty="0">
                <a:solidFill>
                  <a:srgbClr val="FF0000"/>
                </a:solidFill>
              </a:rPr>
              <a:t>4. </a:t>
            </a:r>
            <a:r>
              <a:rPr lang="en-IN" sz="2000" b="1" u="sng" dirty="0">
                <a:solidFill>
                  <a:srgbClr val="FF0000"/>
                </a:solidFill>
              </a:rPr>
              <a:t>Storage Optimized Instances :</a:t>
            </a:r>
            <a:r>
              <a:rPr lang="en-IN" sz="2000" b="1" dirty="0">
                <a:solidFill>
                  <a:srgbClr val="FF0000"/>
                </a:solidFill>
              </a:rPr>
              <a:t> </a:t>
            </a:r>
            <a:r>
              <a:rPr lang="en-IN" sz="2000" b="1" dirty="0">
                <a:solidFill>
                  <a:srgbClr val="0070C0"/>
                </a:solidFill>
              </a:rPr>
              <a:t>More Storage</a:t>
            </a:r>
          </a:p>
          <a:p>
            <a:pPr marL="0" indent="0">
              <a:spcBef>
                <a:spcPts val="0"/>
              </a:spcBef>
              <a:buNone/>
            </a:pPr>
            <a:endParaRPr lang="en-IN" sz="2000" dirty="0"/>
          </a:p>
          <a:p>
            <a:pPr marL="0" indent="0">
              <a:spcBef>
                <a:spcPts val="0"/>
              </a:spcBef>
              <a:buNone/>
            </a:pPr>
            <a:r>
              <a:rPr lang="en-IN" sz="2000" dirty="0"/>
              <a:t>			Three series :-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IN" sz="2000" dirty="0"/>
              <a:t>				1. I series – I 3 &amp; I 3 en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IN" sz="2000" dirty="0"/>
              <a:t>				2. D series – D2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IN" sz="2000" dirty="0"/>
              <a:t>				3. H series – H1</a:t>
            </a:r>
          </a:p>
          <a:p>
            <a:pPr marL="457200" indent="-457200">
              <a:spcBef>
                <a:spcPts val="0"/>
              </a:spcBef>
              <a:buAutoNum type="arabicPeriod" startAt="3"/>
            </a:pPr>
            <a:endParaRPr lang="en-IN" sz="2000" dirty="0"/>
          </a:p>
          <a:p>
            <a:pPr marL="457200" indent="-457200">
              <a:spcBef>
                <a:spcPts val="0"/>
              </a:spcBef>
              <a:buAutoNum type="arabicPeriod" startAt="3"/>
            </a:pPr>
            <a:endParaRPr lang="en-IN" sz="2000" dirty="0"/>
          </a:p>
          <a:p>
            <a:pPr marL="0" indent="0">
              <a:buNone/>
            </a:pPr>
            <a:r>
              <a:rPr lang="en-IN" sz="2000" b="1" dirty="0">
                <a:solidFill>
                  <a:srgbClr val="FF0000"/>
                </a:solidFill>
              </a:rPr>
              <a:t>5. </a:t>
            </a:r>
            <a:r>
              <a:rPr lang="en-IN" sz="2000" b="1" u="sng" dirty="0">
                <a:solidFill>
                  <a:srgbClr val="FF0000"/>
                </a:solidFill>
              </a:rPr>
              <a:t>Accelerated Computing Instances :</a:t>
            </a:r>
            <a:r>
              <a:rPr lang="en-IN" sz="2000" b="1" dirty="0">
                <a:solidFill>
                  <a:srgbClr val="FF0000"/>
                </a:solidFill>
              </a:rPr>
              <a:t> </a:t>
            </a:r>
            <a:r>
              <a:rPr lang="en-IN" sz="2000" b="1" dirty="0">
                <a:solidFill>
                  <a:srgbClr val="0070C0"/>
                </a:solidFill>
              </a:rPr>
              <a:t>Graphic focused</a:t>
            </a:r>
          </a:p>
          <a:p>
            <a:pPr marL="0" indent="0">
              <a:buNone/>
            </a:pPr>
            <a:endParaRPr lang="en-IN" sz="2000" dirty="0"/>
          </a:p>
          <a:p>
            <a:pPr marL="0" indent="0">
              <a:buNone/>
            </a:pPr>
            <a:r>
              <a:rPr lang="en-IN" sz="2000" dirty="0"/>
              <a:t>			There are three series :-</a:t>
            </a:r>
          </a:p>
          <a:p>
            <a:pPr marL="0" indent="0">
              <a:buNone/>
            </a:pPr>
            <a:r>
              <a:rPr lang="en-IN" sz="2000" dirty="0"/>
              <a:t>				1. F Series – F1 </a:t>
            </a:r>
          </a:p>
          <a:p>
            <a:pPr marL="0" indent="0">
              <a:buNone/>
            </a:pPr>
            <a:r>
              <a:rPr lang="en-IN" sz="2000" dirty="0"/>
              <a:t>				2. P Series -  P2  &amp;  P3</a:t>
            </a:r>
          </a:p>
          <a:p>
            <a:pPr marL="0" indent="0">
              <a:buNone/>
            </a:pPr>
            <a:r>
              <a:rPr lang="en-IN" sz="2000" dirty="0"/>
              <a:t>				3. G Series – G2 &amp; G3 instances</a:t>
            </a:r>
          </a:p>
          <a:p>
            <a:pPr marL="0" indent="0">
              <a:buNone/>
            </a:pPr>
            <a:endParaRPr lang="en-IN" sz="2000" dirty="0"/>
          </a:p>
          <a:p>
            <a:pPr marL="0" indent="0">
              <a:buNone/>
            </a:pPr>
            <a:r>
              <a:rPr lang="en-IN" sz="2000" i="1" dirty="0">
                <a:solidFill>
                  <a:srgbClr val="FFFF00"/>
                </a:solidFill>
              </a:rPr>
              <a:t>Note: Instances are available in four sizes i.e. Nano, Small, Medium, Large</a:t>
            </a:r>
          </a:p>
          <a:p>
            <a:pPr marL="0" indent="0">
              <a:spcBef>
                <a:spcPts val="0"/>
              </a:spcBef>
              <a:buNone/>
            </a:pP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35341622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1766" y="141031"/>
            <a:ext cx="9882846" cy="549082"/>
          </a:xfrm>
        </p:spPr>
        <p:txBody>
          <a:bodyPr>
            <a:normAutofit/>
          </a:bodyPr>
          <a:lstStyle/>
          <a:p>
            <a:r>
              <a:rPr lang="en-IN" sz="2800" dirty="0"/>
              <a:t>Purchasing Option for EC2 Instances :-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8053" y="690113"/>
            <a:ext cx="11502886" cy="6029864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There are 6 purchasing option</a:t>
            </a:r>
          </a:p>
          <a:p>
            <a:pPr>
              <a:buAutoNum type="arabicPeriod"/>
            </a:pPr>
            <a:r>
              <a:rPr lang="en-IN" dirty="0"/>
              <a:t>On Demand – Suitable for testing &amp; development of apps with irregular workloads</a:t>
            </a:r>
          </a:p>
          <a:p>
            <a:pPr>
              <a:buAutoNum type="arabicPeriod"/>
            </a:pPr>
            <a:r>
              <a:rPr lang="en-IN" dirty="0"/>
              <a:t>Dedicated Instances </a:t>
            </a:r>
          </a:p>
          <a:p>
            <a:pPr>
              <a:buAutoNum type="arabicPeriod"/>
            </a:pPr>
            <a:r>
              <a:rPr lang="en-IN" dirty="0"/>
              <a:t>Dedicated Host</a:t>
            </a:r>
          </a:p>
          <a:p>
            <a:pPr>
              <a:buAutoNum type="arabicPeriod"/>
            </a:pPr>
            <a:r>
              <a:rPr lang="en-IN" dirty="0"/>
              <a:t>Spot Instances</a:t>
            </a:r>
          </a:p>
          <a:p>
            <a:pPr>
              <a:buAutoNum type="arabicPeriod"/>
            </a:pPr>
            <a:r>
              <a:rPr lang="en-IN" dirty="0"/>
              <a:t>Schedule Instances</a:t>
            </a:r>
          </a:p>
          <a:p>
            <a:pPr>
              <a:buAutoNum type="arabicPeriod"/>
            </a:pPr>
            <a:r>
              <a:rPr lang="en-IN" dirty="0"/>
              <a:t>Reserved Instances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u="sng" dirty="0">
                <a:solidFill>
                  <a:srgbClr val="00B0F0"/>
                </a:solidFill>
              </a:rPr>
              <a:t>Note : </a:t>
            </a:r>
          </a:p>
          <a:p>
            <a:pPr marL="0" indent="0">
              <a:buNone/>
            </a:pPr>
            <a:r>
              <a:rPr lang="en-IN" dirty="0"/>
              <a:t>There are three ways to pay for EC2 instances i.e. On Demand,Reserverd Instances &amp; Spot Instances.</a:t>
            </a:r>
          </a:p>
          <a:p>
            <a:pPr marL="0" indent="0">
              <a:buNone/>
            </a:pPr>
            <a:r>
              <a:rPr lang="en-IN" dirty="0"/>
              <a:t>! Pricing for Dedicated Instances(On Sever) &amp; Dedicated Host (Whole Server) is according to On Demand.</a:t>
            </a:r>
          </a:p>
          <a:p>
            <a:pPr marL="0" indent="0">
              <a:buNone/>
            </a:pPr>
            <a:r>
              <a:rPr lang="en-IN" dirty="0"/>
              <a:t>! Pricing for Schedule Instances is according to Reserved Instances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810963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2589" y="132405"/>
            <a:ext cx="10202023" cy="669852"/>
          </a:xfrm>
        </p:spPr>
        <p:txBody>
          <a:bodyPr>
            <a:normAutofit/>
          </a:bodyPr>
          <a:lstStyle/>
          <a:p>
            <a:r>
              <a:rPr lang="en-IN" sz="2800" b="1" dirty="0">
                <a:solidFill>
                  <a:schemeClr val="accent1"/>
                </a:solidFill>
              </a:rPr>
              <a:t>        </a:t>
            </a:r>
            <a:r>
              <a:rPr lang="en-IN" sz="2800" b="1" u="sng" dirty="0">
                <a:solidFill>
                  <a:schemeClr val="accent1"/>
                </a:solidFill>
              </a:rPr>
              <a:t>EC2 Access</a:t>
            </a:r>
            <a:r>
              <a:rPr lang="en-IN" sz="2800" b="1" dirty="0">
                <a:solidFill>
                  <a:schemeClr val="accent1"/>
                </a:solidFill>
              </a:rPr>
              <a:t>	                           </a:t>
            </a:r>
            <a:r>
              <a:rPr lang="en-IN" sz="2800" b="1" u="sng" dirty="0">
                <a:solidFill>
                  <a:schemeClr val="accent1"/>
                </a:solidFill>
              </a:rPr>
              <a:t>EC2 Status Check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39659459"/>
              </p:ext>
            </p:extLst>
          </p:nvPr>
        </p:nvGraphicFramePr>
        <p:xfrm>
          <a:off x="741871" y="802256"/>
          <a:ext cx="10762742" cy="571931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813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8137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719313">
                <a:tc>
                  <a:txBody>
                    <a:bodyPr/>
                    <a:lstStyle/>
                    <a:p>
                      <a:pPr marL="342900" indent="-342900">
                        <a:buAutoNum type="arabicPeriod"/>
                      </a:pPr>
                      <a:r>
                        <a:rPr lang="en-IN" sz="2000" dirty="0"/>
                        <a:t>To access instance,</a:t>
                      </a:r>
                      <a:r>
                        <a:rPr lang="en-IN" sz="2000" baseline="0" dirty="0"/>
                        <a:t> you need a key &amp; key pair name.</a:t>
                      </a:r>
                    </a:p>
                    <a:p>
                      <a:pPr marL="0" indent="0">
                        <a:buNone/>
                      </a:pPr>
                      <a:endParaRPr lang="en-IN" sz="2000" baseline="0" dirty="0"/>
                    </a:p>
                    <a:p>
                      <a:pPr marL="0" indent="0">
                        <a:buNone/>
                      </a:pPr>
                      <a:r>
                        <a:rPr lang="en-IN" sz="2000" baseline="0" dirty="0"/>
                        <a:t>2. You can download the private key only     once.</a:t>
                      </a:r>
                    </a:p>
                    <a:p>
                      <a:pPr marL="0" indent="0">
                        <a:buNone/>
                      </a:pPr>
                      <a:endParaRPr lang="en-IN" sz="2000" baseline="0" dirty="0"/>
                    </a:p>
                    <a:p>
                      <a:pPr marL="0" indent="0">
                        <a:buNone/>
                      </a:pPr>
                      <a:r>
                        <a:rPr lang="en-IN" sz="2000" baseline="0" dirty="0"/>
                        <a:t>3. The public key is saved by AWS to match it to the key pair name &amp; private key when you try to login into EC2 instances.</a:t>
                      </a:r>
                    </a:p>
                    <a:p>
                      <a:pPr marL="0" indent="0">
                        <a:buNone/>
                      </a:pPr>
                      <a:endParaRPr lang="en-IN" sz="2000" baseline="0" dirty="0"/>
                    </a:p>
                    <a:p>
                      <a:pPr marL="0" indent="0">
                        <a:buNone/>
                      </a:pPr>
                      <a:r>
                        <a:rPr lang="en-IN" sz="2000" baseline="0" dirty="0"/>
                        <a:t>4. Without key pair you can not access a instance via RDP or SSH.</a:t>
                      </a:r>
                    </a:p>
                    <a:p>
                      <a:pPr marL="0" indent="0">
                        <a:buNone/>
                      </a:pPr>
                      <a:endParaRPr lang="en-IN" sz="2000" baseline="0" dirty="0"/>
                    </a:p>
                    <a:p>
                      <a:pPr marL="0" indent="0">
                        <a:buNone/>
                      </a:pPr>
                      <a:r>
                        <a:rPr lang="en-IN" sz="2000" baseline="0" dirty="0"/>
                        <a:t>5. There is 20 EC2 instances limit per account but can be increased on request.</a:t>
                      </a:r>
                    </a:p>
                    <a:p>
                      <a:pPr marL="0" indent="0">
                        <a:buNone/>
                      </a:pP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indent="-342900">
                        <a:buAutoNum type="arabicPeriod"/>
                      </a:pPr>
                      <a:r>
                        <a:rPr lang="en-IN" sz="2000" dirty="0"/>
                        <a:t>By default,</a:t>
                      </a:r>
                      <a:r>
                        <a:rPr lang="en-IN" sz="2000" baseline="0" dirty="0"/>
                        <a:t> AWS EC2 service perform automated status check every 1 minute.</a:t>
                      </a:r>
                    </a:p>
                    <a:p>
                      <a:pPr marL="342900" indent="-342900">
                        <a:buAutoNum type="arabicPeriod"/>
                      </a:pPr>
                      <a:r>
                        <a:rPr lang="en-IN" sz="2000" baseline="0" dirty="0"/>
                        <a:t>This is done on every running EC2 instances to identify any H/W or S/W issues.</a:t>
                      </a:r>
                    </a:p>
                    <a:p>
                      <a:pPr marL="342900" indent="-342900">
                        <a:buAutoNum type="arabicPeriod"/>
                      </a:pPr>
                      <a:r>
                        <a:rPr lang="en-IN" sz="2000" baseline="0" dirty="0"/>
                        <a:t>Status check is inbuilt into EC2 instances.</a:t>
                      </a:r>
                    </a:p>
                    <a:p>
                      <a:pPr marL="342900" indent="-342900">
                        <a:buAutoNum type="arabicPeriod"/>
                      </a:pPr>
                      <a:r>
                        <a:rPr lang="en-IN" sz="2000" baseline="0" dirty="0"/>
                        <a:t>It can not be configured,deleted or disabled.</a:t>
                      </a:r>
                    </a:p>
                    <a:p>
                      <a:pPr marL="342900" indent="-342900">
                        <a:buAutoNum type="arabicPeriod"/>
                      </a:pPr>
                      <a:r>
                        <a:rPr lang="en-IN" sz="2000" baseline="0" dirty="0"/>
                        <a:t>EC2 services can send its metric data to AWS </a:t>
                      </a:r>
                      <a:r>
                        <a:rPr lang="en-IN" sz="2000" u="sng" baseline="0" dirty="0"/>
                        <a:t>Cloudwatch</a:t>
                      </a:r>
                      <a:r>
                        <a:rPr lang="en-IN" sz="2000" baseline="0" dirty="0"/>
                        <a:t> every 5 minute.</a:t>
                      </a:r>
                    </a:p>
                    <a:p>
                      <a:pPr marL="342900" indent="-342900">
                        <a:buAutoNum type="arabicPeriod"/>
                      </a:pPr>
                      <a:r>
                        <a:rPr lang="en-IN" sz="2000" baseline="0" dirty="0"/>
                        <a:t>If you enable detailed monitoring,it is chargeable and send metric every 1 minute.</a:t>
                      </a:r>
                    </a:p>
                    <a:p>
                      <a:pPr marL="342900" indent="-342900">
                        <a:buAutoNum type="arabicPeriod"/>
                      </a:pPr>
                      <a:r>
                        <a:rPr lang="en-IN" sz="2000" baseline="0" dirty="0"/>
                        <a:t>You are not charged for EC2 instances if stopped however attached EBS incur charge. </a:t>
                      </a:r>
                      <a:endParaRPr lang="en-IN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282749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6211" y="422695"/>
            <a:ext cx="10978401" cy="490268"/>
          </a:xfrm>
        </p:spPr>
        <p:txBody>
          <a:bodyPr>
            <a:normAutofit/>
          </a:bodyPr>
          <a:lstStyle/>
          <a:p>
            <a:r>
              <a:rPr lang="en-IN" sz="1800" b="1" u="sng" dirty="0">
                <a:solidFill>
                  <a:schemeClr val="accent1"/>
                </a:solidFill>
                <a:latin typeface="Arial Black" panose="020B0A04020102020204" pitchFamily="34" charset="0"/>
              </a:rPr>
              <a:t>When you stop an EBS Backed EC2 instance</a:t>
            </a:r>
            <a:r>
              <a:rPr lang="en-IN" sz="1800" b="1" dirty="0">
                <a:solidFill>
                  <a:schemeClr val="accent1"/>
                </a:solidFill>
                <a:latin typeface="Arial Black" panose="020B0A04020102020204" pitchFamily="34" charset="0"/>
              </a:rPr>
              <a:t>                  </a:t>
            </a:r>
            <a:r>
              <a:rPr lang="en-IN" sz="1800" b="1" u="sng" dirty="0">
                <a:solidFill>
                  <a:schemeClr val="accent1"/>
                </a:solidFill>
                <a:latin typeface="Arial Black" panose="020B0A04020102020204" pitchFamily="34" charset="0"/>
              </a:rPr>
              <a:t>EC2 Termination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18959443"/>
              </p:ext>
            </p:extLst>
          </p:nvPr>
        </p:nvGraphicFramePr>
        <p:xfrm>
          <a:off x="750498" y="912963"/>
          <a:ext cx="10754114" cy="536304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770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770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363041">
                <a:tc>
                  <a:txBody>
                    <a:bodyPr/>
                    <a:lstStyle/>
                    <a:p>
                      <a:r>
                        <a:rPr lang="en-IN" dirty="0"/>
                        <a:t>1.Instance perform shutdown</a:t>
                      </a:r>
                    </a:p>
                    <a:p>
                      <a:endParaRPr lang="en-IN" dirty="0"/>
                    </a:p>
                    <a:p>
                      <a:r>
                        <a:rPr lang="en-IN" dirty="0"/>
                        <a:t>2.State changes from running to stopping</a:t>
                      </a:r>
                    </a:p>
                    <a:p>
                      <a:endParaRPr lang="en-IN" dirty="0"/>
                    </a:p>
                    <a:p>
                      <a:r>
                        <a:rPr lang="en-IN" dirty="0"/>
                        <a:t>3.EBS volume remain attached to instance</a:t>
                      </a:r>
                    </a:p>
                    <a:p>
                      <a:endParaRPr lang="en-IN" dirty="0"/>
                    </a:p>
                    <a:p>
                      <a:r>
                        <a:rPr lang="en-IN" dirty="0"/>
                        <a:t>4.Any data cached in RAM or instance store volume is lost</a:t>
                      </a:r>
                    </a:p>
                    <a:p>
                      <a:endParaRPr lang="en-IN" dirty="0"/>
                    </a:p>
                    <a:p>
                      <a:r>
                        <a:rPr lang="en-IN" dirty="0"/>
                        <a:t>5.Instance retain its private IPv4 or any IPv6 address</a:t>
                      </a:r>
                    </a:p>
                    <a:p>
                      <a:endParaRPr lang="en-IN" dirty="0"/>
                    </a:p>
                    <a:p>
                      <a:r>
                        <a:rPr lang="en-IN" dirty="0"/>
                        <a:t>6.Instance release its public IPv4 address back to AWS pool</a:t>
                      </a:r>
                    </a:p>
                    <a:p>
                      <a:endParaRPr lang="en-IN" dirty="0"/>
                    </a:p>
                    <a:p>
                      <a:r>
                        <a:rPr lang="en-IN" dirty="0"/>
                        <a:t>7.Instance retain its elastin IP address</a:t>
                      </a:r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1.State</a:t>
                      </a:r>
                      <a:r>
                        <a:rPr lang="en-IN" baseline="0" dirty="0"/>
                        <a:t> : running – shutting down – Terminated</a:t>
                      </a:r>
                    </a:p>
                    <a:p>
                      <a:endParaRPr lang="en-IN" baseline="0" dirty="0"/>
                    </a:p>
                    <a:p>
                      <a:r>
                        <a:rPr lang="en-IN" baseline="0" dirty="0"/>
                        <a:t>2.You are not charged during shutting down &amp; terminated state.</a:t>
                      </a:r>
                    </a:p>
                    <a:p>
                      <a:endParaRPr lang="en-IN" baseline="0" dirty="0"/>
                    </a:p>
                    <a:p>
                      <a:r>
                        <a:rPr lang="en-IN" baseline="0" dirty="0"/>
                        <a:t>3.EBS root volume is deleted automatically but not additional attached volume</a:t>
                      </a:r>
                    </a:p>
                    <a:p>
                      <a:endParaRPr lang="en-IN" baseline="0" dirty="0"/>
                    </a:p>
                    <a:p>
                      <a:r>
                        <a:rPr lang="en-IN" baseline="0" dirty="0"/>
                        <a:t>4.Enable EC2 “Termination Protection against” accidental termination.</a:t>
                      </a:r>
                    </a:p>
                    <a:p>
                      <a:endParaRPr lang="en-IN" baseline="0" dirty="0"/>
                    </a:p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466697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2037" y="624110"/>
            <a:ext cx="10512575" cy="618094"/>
          </a:xfrm>
        </p:spPr>
        <p:txBody>
          <a:bodyPr>
            <a:normAutofit/>
          </a:bodyPr>
          <a:lstStyle/>
          <a:p>
            <a:r>
              <a:rPr lang="en-IN" sz="2800" b="1" dirty="0">
                <a:solidFill>
                  <a:schemeClr val="accent1"/>
                </a:solidFill>
              </a:rPr>
              <a:t>          EC2 Metadata                             Instance User Data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71864091"/>
              </p:ext>
            </p:extLst>
          </p:nvPr>
        </p:nvGraphicFramePr>
        <p:xfrm>
          <a:off x="992037" y="1242204"/>
          <a:ext cx="10512576" cy="53570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62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562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357004">
                <a:tc>
                  <a:txBody>
                    <a:bodyPr/>
                    <a:lstStyle/>
                    <a:p>
                      <a:r>
                        <a:rPr lang="en-IN" dirty="0"/>
                        <a:t>1.This is instance data</a:t>
                      </a:r>
                      <a:r>
                        <a:rPr lang="en-IN" baseline="0" dirty="0"/>
                        <a:t> that you can use to configure or manage the instance.</a:t>
                      </a:r>
                    </a:p>
                    <a:p>
                      <a:endParaRPr lang="en-IN" baseline="0" dirty="0"/>
                    </a:p>
                    <a:p>
                      <a:r>
                        <a:rPr lang="en-IN" baseline="0" dirty="0"/>
                        <a:t>  Ex. IPv4 / IPv6 address,DNS hostname,AMI-ID,Instance-ID,Instance Type,Local Hostname,Public Key,Security Group</a:t>
                      </a:r>
                    </a:p>
                    <a:p>
                      <a:endParaRPr lang="en-IN" baseline="0" dirty="0"/>
                    </a:p>
                    <a:p>
                      <a:r>
                        <a:rPr lang="en-IN" baseline="0" dirty="0"/>
                        <a:t>2.Metadata can be only viewed only from instance itself.</a:t>
                      </a:r>
                    </a:p>
                    <a:p>
                      <a:endParaRPr lang="en-IN" baseline="0" dirty="0"/>
                    </a:p>
                    <a:p>
                      <a:r>
                        <a:rPr lang="en-IN" baseline="0" dirty="0"/>
                        <a:t>3.Metadata is not encrypted </a:t>
                      </a:r>
                    </a:p>
                    <a:p>
                      <a:endParaRPr lang="en-IN" baseline="0" dirty="0"/>
                    </a:p>
                    <a:p>
                      <a:endParaRPr lang="en-IN" baseline="0" dirty="0"/>
                    </a:p>
                    <a:p>
                      <a:r>
                        <a:rPr lang="en-IN" baseline="0" dirty="0"/>
                        <a:t>To view instance metadata</a:t>
                      </a:r>
                    </a:p>
                    <a:p>
                      <a:r>
                        <a:rPr lang="en-IN" baseline="0" dirty="0"/>
                        <a:t>http://169.254.169.254/latest/metadata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1.Data supplied by the user at instance launch in the form of script</a:t>
                      </a:r>
                      <a:r>
                        <a:rPr lang="en-IN" baseline="0" dirty="0"/>
                        <a:t> to be executed during the instance boot.</a:t>
                      </a:r>
                    </a:p>
                    <a:p>
                      <a:endParaRPr lang="en-IN" baseline="0" dirty="0"/>
                    </a:p>
                    <a:p>
                      <a:r>
                        <a:rPr lang="en-IN" baseline="0" dirty="0"/>
                        <a:t>2.User data is limited to 16 KB</a:t>
                      </a:r>
                    </a:p>
                    <a:p>
                      <a:endParaRPr lang="en-IN" baseline="0" dirty="0"/>
                    </a:p>
                    <a:p>
                      <a:r>
                        <a:rPr lang="en-IN" baseline="0" dirty="0"/>
                        <a:t>3.You can change user data by stopping EC2 </a:t>
                      </a:r>
                    </a:p>
                    <a:p>
                      <a:endParaRPr lang="en-IN" baseline="0" dirty="0"/>
                    </a:p>
                    <a:p>
                      <a:r>
                        <a:rPr lang="en-IN" baseline="0" dirty="0"/>
                        <a:t>4.User data is not encrypted</a:t>
                      </a:r>
                    </a:p>
                    <a:p>
                      <a:r>
                        <a:rPr lang="en-IN" baseline="0" dirty="0"/>
                        <a:t>------------------------------------------------------------</a:t>
                      </a:r>
                    </a:p>
                    <a:p>
                      <a:endParaRPr lang="en-IN" baseline="0" dirty="0"/>
                    </a:p>
                    <a:p>
                      <a:r>
                        <a:rPr lang="en-IN" baseline="0" dirty="0"/>
                        <a:t>EC2 bare metal instances</a:t>
                      </a:r>
                    </a:p>
                    <a:p>
                      <a:r>
                        <a:rPr lang="en-IN" baseline="0" dirty="0"/>
                        <a:t>        1.Non virtualized Environment</a:t>
                      </a:r>
                    </a:p>
                    <a:p>
                      <a:r>
                        <a:rPr lang="en-IN" baseline="0" dirty="0"/>
                        <a:t>        2.OS run directly  on hardware</a:t>
                      </a:r>
                    </a:p>
                    <a:p>
                      <a:r>
                        <a:rPr lang="en-IN" baseline="0" dirty="0"/>
                        <a:t>        3.Suitable for licensing restricted apps</a:t>
                      </a:r>
                    </a:p>
                    <a:p>
                      <a:endParaRPr lang="en-IN" baseline="0" dirty="0"/>
                    </a:p>
                    <a:p>
                      <a:r>
                        <a:rPr lang="en-IN" baseline="0" dirty="0"/>
                        <a:t>Ex. I3.metal,i5.metal,r5.metal,Z1d.metal,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356279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9510" y="1443619"/>
            <a:ext cx="10745487" cy="678479"/>
          </a:xfrm>
        </p:spPr>
        <p:txBody>
          <a:bodyPr>
            <a:normAutofit/>
          </a:bodyPr>
          <a:lstStyle/>
          <a:p>
            <a:r>
              <a:rPr lang="en-IN" sz="2800" b="1" dirty="0">
                <a:solidFill>
                  <a:schemeClr val="accent1"/>
                </a:solidFill>
              </a:rPr>
              <a:t>    </a:t>
            </a:r>
            <a:r>
              <a:rPr lang="en-IN" sz="2800" b="1" u="sng" dirty="0">
                <a:solidFill>
                  <a:schemeClr val="accent1"/>
                </a:solidFill>
              </a:rPr>
              <a:t>Elastic Block Storage</a:t>
            </a:r>
            <a:r>
              <a:rPr lang="en-IN" sz="2800" b="1" dirty="0">
                <a:solidFill>
                  <a:schemeClr val="accent1"/>
                </a:solidFill>
              </a:rPr>
              <a:t>                      </a:t>
            </a:r>
            <a:r>
              <a:rPr lang="en-IN" sz="2800" b="1" u="sng" dirty="0">
                <a:solidFill>
                  <a:schemeClr val="accent1"/>
                </a:solidFill>
              </a:rPr>
              <a:t>Instance Storage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23300015"/>
              </p:ext>
            </p:extLst>
          </p:nvPr>
        </p:nvGraphicFramePr>
        <p:xfrm>
          <a:off x="819510" y="2122098"/>
          <a:ext cx="10745788" cy="36834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728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728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83479">
                <a:tc>
                  <a:txBody>
                    <a:bodyPr/>
                    <a:lstStyle/>
                    <a:p>
                      <a:r>
                        <a:rPr lang="en-IN" dirty="0"/>
                        <a:t>1.Most common replicate A-Z</a:t>
                      </a:r>
                    </a:p>
                    <a:p>
                      <a:endParaRPr lang="en-IN" dirty="0"/>
                    </a:p>
                    <a:p>
                      <a:r>
                        <a:rPr lang="en-IN" dirty="0"/>
                        <a:t>2.EBS volumes attached at launch,are deleted when instance is terminated.</a:t>
                      </a:r>
                    </a:p>
                    <a:p>
                      <a:endParaRPr lang="en-IN" dirty="0"/>
                    </a:p>
                    <a:p>
                      <a:r>
                        <a:rPr lang="en-IN" dirty="0"/>
                        <a:t>3.EBS volume attached to a running instance are not deleted when instance is terminated</a:t>
                      </a:r>
                    </a:p>
                    <a:p>
                      <a:endParaRPr lang="en-IN" dirty="0"/>
                    </a:p>
                    <a:p>
                      <a:r>
                        <a:rPr lang="en-IN" dirty="0"/>
                        <a:t>4.Network</a:t>
                      </a:r>
                      <a:r>
                        <a:rPr lang="en-IN" baseline="0" dirty="0"/>
                        <a:t> Attached Storage (NAS)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1.Physically attached to the host server</a:t>
                      </a:r>
                    </a:p>
                    <a:p>
                      <a:endParaRPr lang="en-IN" dirty="0"/>
                    </a:p>
                    <a:p>
                      <a:r>
                        <a:rPr lang="en-IN" dirty="0"/>
                        <a:t>2.Data not lost when OS is rebooted</a:t>
                      </a:r>
                    </a:p>
                    <a:p>
                      <a:endParaRPr lang="en-IN" dirty="0"/>
                    </a:p>
                    <a:p>
                      <a:r>
                        <a:rPr lang="en-IN" dirty="0"/>
                        <a:t>3.Data</a:t>
                      </a:r>
                      <a:r>
                        <a:rPr lang="en-IN" baseline="0" dirty="0"/>
                        <a:t> lost when</a:t>
                      </a:r>
                    </a:p>
                    <a:p>
                      <a:r>
                        <a:rPr lang="en-IN" baseline="0" dirty="0"/>
                        <a:t>         - Underlying drive fail</a:t>
                      </a:r>
                    </a:p>
                    <a:p>
                      <a:r>
                        <a:rPr lang="en-IN" baseline="0" dirty="0"/>
                        <a:t>         - Instance is stopped or terminated</a:t>
                      </a:r>
                    </a:p>
                    <a:p>
                      <a:endParaRPr lang="en-IN" baseline="0" dirty="0"/>
                    </a:p>
                    <a:p>
                      <a:r>
                        <a:rPr lang="en-IN" baseline="0" dirty="0"/>
                        <a:t>4.You can not attach or detach to another instance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034243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3246" y="94891"/>
            <a:ext cx="10909389" cy="543464"/>
          </a:xfrm>
        </p:spPr>
        <p:txBody>
          <a:bodyPr>
            <a:noAutofit/>
          </a:bodyPr>
          <a:lstStyle/>
          <a:p>
            <a:pPr algn="ctr"/>
            <a:br>
              <a:rPr lang="en-GB" sz="2000" dirty="0"/>
            </a:br>
            <a:r>
              <a:rPr lang="en-GB" sz="2800" b="1" u="sng" dirty="0"/>
              <a:t>LAB</a:t>
            </a:r>
            <a:br>
              <a:rPr lang="en-GB" sz="2000" dirty="0"/>
            </a:br>
            <a:br>
              <a:rPr lang="en-GB" sz="2000" dirty="0"/>
            </a:br>
            <a:br>
              <a:rPr lang="en-GB" sz="2000" dirty="0"/>
            </a:br>
            <a:br>
              <a:rPr lang="en-IN" sz="2000" dirty="0"/>
            </a:br>
            <a:br>
              <a:rPr lang="en-IN" sz="2000" dirty="0"/>
            </a:br>
            <a:endParaRPr lang="en-IN" sz="2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3246" y="331304"/>
            <a:ext cx="10831751" cy="5931473"/>
          </a:xfrm>
        </p:spPr>
        <p:txBody>
          <a:bodyPr>
            <a:noAutofit/>
          </a:bodyPr>
          <a:lstStyle/>
          <a:p>
            <a:pPr marL="0" indent="0">
              <a:buNone/>
            </a:pPr>
            <a:endParaRPr lang="en-IN" sz="2000" dirty="0"/>
          </a:p>
          <a:p>
            <a:pPr marL="0" indent="0">
              <a:buNone/>
            </a:pPr>
            <a:r>
              <a:rPr lang="en-IN" sz="2000" dirty="0"/>
              <a:t>Lab 1 : Launch Windows EC2 instance</a:t>
            </a:r>
          </a:p>
          <a:p>
            <a:pPr marL="0" indent="0">
              <a:buNone/>
            </a:pPr>
            <a:r>
              <a:rPr lang="en-IN" sz="2000" dirty="0"/>
              <a:t>Lab 2 : Launch Linux EC2 instance</a:t>
            </a:r>
          </a:p>
          <a:p>
            <a:pPr marL="0" indent="0">
              <a:buNone/>
            </a:pPr>
            <a:r>
              <a:rPr lang="en-IN" sz="2000" dirty="0"/>
              <a:t>		Now, Check connectivity between both machine using private IP address</a:t>
            </a:r>
            <a:br>
              <a:rPr lang="en-IN" sz="2000" dirty="0"/>
            </a:br>
            <a:br>
              <a:rPr lang="en-IN" sz="2000" dirty="0"/>
            </a:br>
            <a:r>
              <a:rPr lang="en-GB" sz="2000" dirty="0"/>
              <a:t>Lab 3 : How to configure Web Server on Windows machine</a:t>
            </a:r>
            <a:endParaRPr lang="en-IN" sz="2000" dirty="0"/>
          </a:p>
          <a:p>
            <a:pPr marL="0" indent="0">
              <a:buNone/>
            </a:pPr>
            <a:r>
              <a:rPr lang="en-IN" sz="2000" dirty="0"/>
              <a:t>Lab 4 : </a:t>
            </a:r>
            <a:r>
              <a:rPr lang="en-GB" sz="2000" dirty="0"/>
              <a:t>How to configure Web Server on Linux machine</a:t>
            </a:r>
          </a:p>
          <a:p>
            <a:pPr marL="0" indent="0">
              <a:buNone/>
            </a:pPr>
            <a:r>
              <a:rPr lang="en-GB" sz="2000" dirty="0"/>
              <a:t>		ec2-user</a:t>
            </a:r>
          </a:p>
          <a:p>
            <a:pPr marL="0" indent="0">
              <a:buNone/>
            </a:pPr>
            <a:r>
              <a:rPr lang="en-GB" sz="2000" dirty="0"/>
              <a:t>		sudo su</a:t>
            </a:r>
          </a:p>
          <a:p>
            <a:pPr marL="0" indent="0">
              <a:buNone/>
            </a:pPr>
            <a:r>
              <a:rPr lang="en-GB" sz="2000" dirty="0"/>
              <a:t>		dnf install httpd</a:t>
            </a:r>
          </a:p>
          <a:p>
            <a:pPr marL="0" indent="0">
              <a:buNone/>
            </a:pPr>
            <a:r>
              <a:rPr lang="en-GB" sz="2000" dirty="0"/>
              <a:t>		systemctl enable/disable httpd.service</a:t>
            </a:r>
          </a:p>
          <a:p>
            <a:pPr marL="0" indent="0">
              <a:buNone/>
            </a:pPr>
            <a:r>
              <a:rPr lang="en-GB" sz="2000" dirty="0"/>
              <a:t>		systemctl start/stop httpd.service</a:t>
            </a:r>
          </a:p>
          <a:p>
            <a:pPr marL="0" indent="0">
              <a:buNone/>
            </a:pPr>
            <a:r>
              <a:rPr lang="en-GB" sz="2000" dirty="0"/>
              <a:t>		httpd –v</a:t>
            </a:r>
          </a:p>
          <a:p>
            <a:pPr marL="0" indent="0">
              <a:buNone/>
            </a:pPr>
            <a:r>
              <a:rPr lang="en-GB" sz="2000" dirty="0"/>
              <a:t>		</a:t>
            </a:r>
            <a:r>
              <a:rPr lang="en-US" sz="2000" dirty="0"/>
              <a:t>echo "Hello World" &gt; /var/www/html/index.html</a:t>
            </a:r>
            <a:endParaRPr lang="en-IN" sz="2000" dirty="0"/>
          </a:p>
          <a:p>
            <a:pPr marL="0" indent="0">
              <a:buNone/>
            </a:pPr>
            <a:endParaRPr lang="en-IN" sz="2000" dirty="0"/>
          </a:p>
          <a:p>
            <a:pPr marL="0" indent="0">
              <a:buNone/>
            </a:pPr>
            <a:endParaRPr lang="en-IN" sz="2000" dirty="0"/>
          </a:p>
          <a:p>
            <a:pPr marL="0" indent="0">
              <a:buNone/>
            </a:pPr>
            <a:endParaRPr lang="en-IN" sz="2000" dirty="0"/>
          </a:p>
          <a:p>
            <a:pPr marL="0" indent="0">
              <a:buNone/>
            </a:pPr>
            <a:endParaRPr lang="en-IN" sz="2000" dirty="0"/>
          </a:p>
          <a:p>
            <a:pPr marL="0" indent="0">
              <a:buNone/>
            </a:pPr>
            <a:br>
              <a:rPr lang="en-IN" sz="2000" dirty="0"/>
            </a:br>
            <a:br>
              <a:rPr lang="en-IN" sz="2000" dirty="0"/>
            </a:br>
            <a:r>
              <a:rPr lang="en-IN" sz="2000" dirty="0"/>
              <a:t>      </a:t>
            </a:r>
          </a:p>
        </p:txBody>
      </p:sp>
    </p:spTree>
    <p:extLst>
      <p:ext uri="{BB962C8B-B14F-4D97-AF65-F5344CB8AC3E}">
        <p14:creationId xmlns:p14="http://schemas.microsoft.com/office/powerpoint/2010/main" val="10638226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901D97-A8D0-AC3E-01D3-E6D6E71CA4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3995F9-4980-4B51-0E11-D8162F2D12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1305" y="331305"/>
            <a:ext cx="11502886" cy="6321286"/>
          </a:xfrm>
        </p:spPr>
        <p:txBody>
          <a:bodyPr/>
          <a:lstStyle/>
          <a:p>
            <a:pPr marL="0" indent="0">
              <a:buNone/>
            </a:pPr>
            <a:r>
              <a:rPr lang="en-IN" sz="1800" dirty="0"/>
              <a:t>Lab 5 : </a:t>
            </a:r>
            <a:r>
              <a:rPr lang="en-GB" sz="1800" dirty="0"/>
              <a:t>How to attach/detach extra volume in windows machine</a:t>
            </a:r>
          </a:p>
          <a:p>
            <a:pPr marL="0" indent="0">
              <a:buNone/>
            </a:pPr>
            <a:r>
              <a:rPr lang="en-IN" sz="1800" dirty="0"/>
              <a:t>Lab 6 : </a:t>
            </a:r>
            <a:r>
              <a:rPr lang="en-GB" sz="1800" dirty="0"/>
              <a:t>How to </a:t>
            </a:r>
            <a:r>
              <a:rPr lang="en-GB" dirty="0"/>
              <a:t>take back up and restore both </a:t>
            </a:r>
            <a:r>
              <a:rPr lang="en-GB" sz="1800" dirty="0"/>
              <a:t>volume (C drive &amp; Extra attached) in windows machine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US" dirty="0"/>
              <a:t>Check All Volume :</a:t>
            </a:r>
          </a:p>
          <a:p>
            <a:pPr marL="0" indent="0">
              <a:buNone/>
            </a:pPr>
            <a:r>
              <a:rPr lang="en-US" dirty="0"/>
              <a:t>Launch EC2 – Open Server Manager – Click File and Storage – Select Disk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Attach Extra Volume in Window Machine:</a:t>
            </a:r>
          </a:p>
          <a:p>
            <a:pPr marL="0" indent="0">
              <a:buNone/>
            </a:pPr>
            <a:r>
              <a:rPr lang="en-US" dirty="0"/>
              <a:t>Go to Volume – Select EC2 – Create Volume – Select Volume Type – Define Size – Add Tag – Create Volume</a:t>
            </a:r>
          </a:p>
          <a:p>
            <a:pPr marL="0" indent="0">
              <a:buNone/>
            </a:pPr>
            <a:r>
              <a:rPr lang="en-US" dirty="0"/>
              <a:t>Go to Server - File and Storage – Select Disk – Right Click on Volume and Select Bring Online</a:t>
            </a:r>
          </a:p>
          <a:p>
            <a:pPr marL="0" indent="0">
              <a:buNone/>
            </a:pPr>
            <a:r>
              <a:rPr lang="en-US" dirty="0"/>
              <a:t>Then Create a New Volume &amp; Go to My Computer</a:t>
            </a:r>
          </a:p>
          <a:p>
            <a:pPr marL="0" indent="0">
              <a:buNone/>
            </a:pPr>
            <a:endParaRPr lang="en-GB" sz="1800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82814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7A403C-5FFF-2E57-8639-4C2BE5E4D0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D8EF61-F459-8EE3-05A9-56BC1A9F70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5530" y="265043"/>
            <a:ext cx="11860696" cy="638754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Lab 7 : How to attach and detach Extra Volume in Linux Machine:</a:t>
            </a:r>
          </a:p>
          <a:p>
            <a:pPr marL="0" indent="0">
              <a:buNone/>
            </a:pPr>
            <a:r>
              <a:rPr lang="en-GB" sz="1800" dirty="0"/>
              <a:t>Lab 8 : How to </a:t>
            </a:r>
            <a:r>
              <a:rPr lang="en-GB" dirty="0"/>
              <a:t>take back up and restore both </a:t>
            </a:r>
            <a:r>
              <a:rPr lang="en-GB" sz="1800" dirty="0"/>
              <a:t>volume (C drive &amp; Extra attached) in Linux machine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Create volume &amp; Attach to machine</a:t>
            </a:r>
          </a:p>
          <a:p>
            <a:pPr marL="0" indent="0">
              <a:buNone/>
            </a:pPr>
            <a:r>
              <a:rPr lang="en-US" dirty="0"/>
              <a:t>	df –h -----------Check mounted disk</a:t>
            </a:r>
          </a:p>
          <a:p>
            <a:pPr marL="0" indent="0">
              <a:buNone/>
            </a:pPr>
            <a:r>
              <a:rPr lang="en-US" dirty="0"/>
              <a:t>	lsblk ---------------Check all disk</a:t>
            </a:r>
          </a:p>
          <a:p>
            <a:pPr marL="0" indent="0">
              <a:buNone/>
            </a:pPr>
            <a:r>
              <a:rPr lang="en-US" dirty="0"/>
              <a:t>	fdisk /dev/xvdf --------- Create partition</a:t>
            </a:r>
          </a:p>
          <a:p>
            <a:pPr marL="0" indent="0">
              <a:buNone/>
            </a:pPr>
            <a:r>
              <a:rPr lang="en-US" dirty="0"/>
              <a:t>		Write m, then n, then p, then 1, then w</a:t>
            </a:r>
          </a:p>
          <a:p>
            <a:pPr marL="0" indent="0">
              <a:buNone/>
            </a:pPr>
            <a:r>
              <a:rPr lang="en-US" dirty="0"/>
              <a:t>	lsblk</a:t>
            </a:r>
          </a:p>
          <a:p>
            <a:pPr marL="0" indent="0">
              <a:buNone/>
            </a:pPr>
            <a:r>
              <a:rPr lang="en-US" dirty="0"/>
              <a:t>	mkfs.ext4 /dev/xvdf1 ------------- Format disk</a:t>
            </a:r>
          </a:p>
          <a:p>
            <a:pPr marL="0" indent="0">
              <a:buNone/>
            </a:pPr>
            <a:r>
              <a:rPr lang="en-US" dirty="0"/>
              <a:t>	mkdir linux</a:t>
            </a:r>
          </a:p>
          <a:p>
            <a:pPr marL="0" indent="0">
              <a:buNone/>
            </a:pPr>
            <a:r>
              <a:rPr lang="en-US" dirty="0"/>
              <a:t>	mount /dev/xvdf1 linux -------- Mount disk</a:t>
            </a:r>
          </a:p>
          <a:p>
            <a:pPr marL="0" indent="0">
              <a:buNone/>
            </a:pPr>
            <a:r>
              <a:rPr lang="en-US" dirty="0"/>
              <a:t>	df –h ------- Now Check</a:t>
            </a:r>
          </a:p>
          <a:p>
            <a:pPr marL="0" indent="0">
              <a:buNone/>
            </a:pPr>
            <a:r>
              <a:rPr lang="en-US" dirty="0"/>
              <a:t>	cd linux 		&amp; 	touch file1 file2 file3	 	ls</a:t>
            </a:r>
          </a:p>
          <a:p>
            <a:pPr marL="0" indent="0">
              <a:buNone/>
            </a:pPr>
            <a:r>
              <a:rPr lang="en-US" dirty="0"/>
              <a:t>Now take backup of attached volume </a:t>
            </a:r>
          </a:p>
          <a:p>
            <a:pPr marL="0" indent="0">
              <a:buNone/>
            </a:pPr>
            <a:r>
              <a:rPr lang="en-US" dirty="0"/>
              <a:t>	umount /root/linux ---- unmount volume before detaching volume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28635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3248B6-72D4-131F-0218-243636EE85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 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BE25D5-E717-D1B4-A77D-8241420E39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8655" y="180109"/>
            <a:ext cx="11582400" cy="645621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Now go to volume, firstly detach &amp; then delete,   Stop machine &amp; start</a:t>
            </a:r>
          </a:p>
          <a:p>
            <a:pPr marL="0" indent="0">
              <a:buNone/>
            </a:pPr>
            <a:r>
              <a:rPr lang="en-US" dirty="0"/>
              <a:t>Now create volume from snapshot, attach to machine &amp; mount again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Mount permanently</a:t>
            </a:r>
          </a:p>
          <a:p>
            <a:pPr marL="0" indent="0">
              <a:buNone/>
            </a:pPr>
            <a:r>
              <a:rPr lang="en-US" dirty="0"/>
              <a:t>	vi /etc/fstab</a:t>
            </a:r>
          </a:p>
          <a:p>
            <a:pPr marL="0" indent="0">
              <a:buNone/>
            </a:pPr>
            <a:r>
              <a:rPr lang="en-US" dirty="0"/>
              <a:t>	/etc/fstab	/root/linux	ext4		defaults	0 0</a:t>
            </a:r>
          </a:p>
          <a:p>
            <a:pPr marL="0" indent="0">
              <a:buNone/>
            </a:pPr>
            <a:r>
              <a:rPr lang="en-US" dirty="0"/>
              <a:t>	:wq!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For Linux</a:t>
            </a:r>
          </a:p>
          <a:p>
            <a:pPr>
              <a:buFontTx/>
              <a:buChar char="-"/>
            </a:pPr>
            <a:r>
              <a:rPr lang="en-US" dirty="0"/>
              <a:t>Remove entry from fstab and save</a:t>
            </a:r>
          </a:p>
          <a:p>
            <a:pPr>
              <a:buFontTx/>
              <a:buChar char="-"/>
            </a:pPr>
            <a:r>
              <a:rPr lang="en-US" dirty="0"/>
              <a:t>Stop machine &amp; start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OS Drive Backup (For both Windows &amp; Linux)</a:t>
            </a:r>
          </a:p>
          <a:p>
            <a:pPr>
              <a:buFontTx/>
              <a:buChar char="-"/>
            </a:pPr>
            <a:r>
              <a:rPr lang="en-US" dirty="0"/>
              <a:t>Firstly stop EC2, then detach &amp; delete volume, then start VM</a:t>
            </a:r>
          </a:p>
          <a:p>
            <a:pPr>
              <a:buFontTx/>
              <a:buChar char="-"/>
            </a:pPr>
            <a:r>
              <a:rPr lang="en-US" dirty="0"/>
              <a:t>It start with error, copy the path and paste when attaching</a:t>
            </a:r>
          </a:p>
          <a:p>
            <a:pPr>
              <a:buFontTx/>
              <a:buChar char="-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2823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A6A868-DD13-506F-1CBD-C0DF73926E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D641B9-B2C4-6687-F43B-EE11F9BB3C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179443"/>
            <a:ext cx="8596668" cy="4861919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How to create custom AMI from EC2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How to launch an EC2 from custom AMI in same region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How to launch an EC2 from custom AMI in any different region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How to share AMI with another account in AWS</a:t>
            </a:r>
          </a:p>
        </p:txBody>
      </p:sp>
    </p:spTree>
    <p:extLst>
      <p:ext uri="{BB962C8B-B14F-4D97-AF65-F5344CB8AC3E}">
        <p14:creationId xmlns:p14="http://schemas.microsoft.com/office/powerpoint/2010/main" val="418748749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8C59B386-999D-4CB6-B907-9F3997C027C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2503</TotalTime>
  <Words>1565</Words>
  <Application>Microsoft Office PowerPoint</Application>
  <PresentationFormat>Widescreen</PresentationFormat>
  <Paragraphs>203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Arial Black</vt:lpstr>
      <vt:lpstr>Trebuchet MS</vt:lpstr>
      <vt:lpstr>Wingdings 3</vt:lpstr>
      <vt:lpstr>Facet</vt:lpstr>
      <vt:lpstr>EC2 – Elastic Compute Cloud</vt:lpstr>
      <vt:lpstr>Types of EC2 instances :-  1. General Purpose Instances : Balanced CPU, RAM &amp; Memory     Three series    1. A series – A1    2. M series – M4, M5, M5a, M5ad, M5d    3. T Series – T3, T3a, T2 for free account   2. Compute Optimized Instance : More CPU     There are  only one series i.e.    C - It consist of C4, C5, C5n   3. Memory Optimized Instances : Better RAM    Three series    1. R series : R4, R5, R5a, R5ad, R5d    2. X series : X1, X1e    3. Z series : Z1d </vt:lpstr>
      <vt:lpstr>   </vt:lpstr>
      <vt:lpstr>Purchasing Option for EC2 Instances :-</vt:lpstr>
      <vt:lpstr>        EC2 Access                            EC2 Status Check</vt:lpstr>
      <vt:lpstr>When you stop an EBS Backed EC2 instance                  EC2 Termination</vt:lpstr>
      <vt:lpstr>          EC2 Metadata                             Instance User Data</vt:lpstr>
      <vt:lpstr>    Elastic Block Storage                      Instance Storage</vt:lpstr>
      <vt:lpstr> LAB     </vt:lpstr>
      <vt:lpstr>  </vt:lpstr>
      <vt:lpstr>  </vt:lpstr>
      <vt:lpstr>   </vt:lpstr>
      <vt:lpstr>  </vt:lpstr>
    </vt:vector>
  </TitlesOfParts>
  <Company>HP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Prerequisites to Learn Cloud Computing AWS</dc:title>
  <dc:creator>Pawan Kumar</dc:creator>
  <cp:lastModifiedBy>TB</cp:lastModifiedBy>
  <cp:revision>159</cp:revision>
  <dcterms:created xsi:type="dcterms:W3CDTF">2019-07-09T07:20:24Z</dcterms:created>
  <dcterms:modified xsi:type="dcterms:W3CDTF">2022-09-17T07:49:18Z</dcterms:modified>
</cp:coreProperties>
</file>