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7" r:id="rId2"/>
    <p:sldId id="276" r:id="rId3"/>
    <p:sldId id="259" r:id="rId4"/>
    <p:sldId id="260" r:id="rId5"/>
    <p:sldId id="262" r:id="rId6"/>
    <p:sldId id="263" r:id="rId7"/>
    <p:sldId id="277" r:id="rId8"/>
    <p:sldId id="278" r:id="rId9"/>
    <p:sldId id="279" r:id="rId10"/>
    <p:sldId id="280" r:id="rId11"/>
    <p:sldId id="281" r:id="rId12"/>
    <p:sldId id="272" r:id="rId13"/>
    <p:sldId id="282" r:id="rId14"/>
    <p:sldId id="283" r:id="rId15"/>
    <p:sldId id="268" r:id="rId16"/>
    <p:sldId id="269" r:id="rId17"/>
    <p:sldId id="285" r:id="rId18"/>
    <p:sldId id="264" r:id="rId19"/>
    <p:sldId id="284" r:id="rId20"/>
    <p:sldId id="270" r:id="rId21"/>
    <p:sldId id="265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623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59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01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5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510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9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13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525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541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562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138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2432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213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667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719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792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15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4EEC6B2-B778-4B22-AA30-81F90969D773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6792E-6177-430D-8662-8528266C9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00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166" y="380628"/>
            <a:ext cx="10515600" cy="1090364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IN" sz="3200" b="1" u="sng" dirty="0">
                <a:solidFill>
                  <a:srgbClr val="FFC000"/>
                </a:solidFill>
                <a:latin typeface="Arial Black" panose="020B0A04020102020204" pitchFamily="34" charset="0"/>
              </a:rPr>
              <a:t>CloudComputing</a:t>
            </a:r>
            <a:br>
              <a:rPr lang="en-IN" sz="3200" b="1" u="sng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br>
              <a:rPr lang="en-IN" dirty="0"/>
            </a:br>
            <a:endParaRPr lang="en-IN" sz="2400" b="1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0399"/>
            <a:ext cx="10515600" cy="46155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/>
              <a:t>What is Cloud Computing ?</a:t>
            </a:r>
          </a:p>
          <a:p>
            <a:pPr marL="0" indent="0">
              <a:buNone/>
            </a:pPr>
            <a:r>
              <a:rPr lang="en-IN" sz="2400" dirty="0"/>
              <a:t>It is a model where all IT resources and services are stored over the internet and provided on demand &amp; at scale in a multi-tenant environment.</a:t>
            </a:r>
          </a:p>
          <a:p>
            <a:pPr marL="0" indent="0">
              <a:buNone/>
            </a:pPr>
            <a:r>
              <a:rPr lang="en-IN" sz="2400" b="1" u="sng" dirty="0"/>
              <a:t>On Demand</a:t>
            </a:r>
            <a:r>
              <a:rPr lang="en-IN" sz="2400" b="1" dirty="0"/>
              <a:t>- </a:t>
            </a:r>
            <a:r>
              <a:rPr lang="en-IN" sz="2400" dirty="0"/>
              <a:t>Resources can be provided immediately when needed, 					  released when no longer required and billed for only when used.</a:t>
            </a:r>
          </a:p>
          <a:p>
            <a:pPr marL="0" indent="0">
              <a:buNone/>
            </a:pPr>
            <a:r>
              <a:rPr lang="en-IN" sz="2400" b="1" u="sng" dirty="0"/>
              <a:t>At Scale</a:t>
            </a:r>
            <a:r>
              <a:rPr lang="en-IN" sz="2400" b="1" dirty="0"/>
              <a:t>- </a:t>
            </a:r>
            <a:r>
              <a:rPr lang="en-IN" sz="2400" dirty="0"/>
              <a:t>Service provides resource availability to meet whatever demands 		     are made.</a:t>
            </a:r>
          </a:p>
          <a:p>
            <a:pPr marL="0" indent="0">
              <a:buNone/>
            </a:pPr>
            <a:r>
              <a:rPr lang="en-IN" sz="2400" b="1" u="sng" dirty="0"/>
              <a:t>Multi Tenant</a:t>
            </a:r>
            <a:r>
              <a:rPr lang="en-IN" sz="2400" b="1" dirty="0"/>
              <a:t>- </a:t>
            </a:r>
            <a:r>
              <a:rPr lang="en-IN" sz="2400" dirty="0"/>
              <a:t>Resources are provided to many customers from a single 				            implementation.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</a:rPr>
              <a:t>In other word we can say :</a:t>
            </a:r>
            <a:endParaRPr lang="en-US" sz="1800" b="1" i="0" u="none" strike="noStrike" baseline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i="0" u="none" strike="noStrike" baseline="0" dirty="0">
                <a:solidFill>
                  <a:srgbClr val="FFFF00"/>
                </a:solidFill>
                <a:latin typeface="Times New Roman" panose="02020603050405020304" pitchFamily="18" charset="0"/>
              </a:rPr>
              <a:t>It is the use of remote servers on the internet to store, manage and process data rather than a local server or personal computer. </a:t>
            </a:r>
            <a:endParaRPr lang="en-IN" sz="2400" dirty="0">
              <a:solidFill>
                <a:srgbClr val="FFFF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343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39E2-8074-46CF-2765-47256DAC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8545-E8F2-0A9B-CEC0-2D0427918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035" y="238539"/>
            <a:ext cx="11728173" cy="6387547"/>
          </a:xfrm>
        </p:spPr>
        <p:txBody>
          <a:bodyPr/>
          <a:lstStyle/>
          <a:p>
            <a:pPr marL="0" indent="0">
              <a:buNone/>
            </a:pPr>
            <a:r>
              <a:rPr lang="en-IN" sz="2800" b="1" dirty="0">
                <a:solidFill>
                  <a:srgbClr val="FFC000"/>
                </a:solidFill>
              </a:rPr>
              <a:t>Characteristics of Cloud :-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1. On demand self service</a:t>
            </a:r>
          </a:p>
          <a:p>
            <a:pPr marL="0" indent="0">
              <a:buNone/>
            </a:pPr>
            <a:r>
              <a:rPr lang="en-IN" b="1" dirty="0"/>
              <a:t>	- Can build server, network &amp; storage as needed without interacting with service provider 	   or System Administrator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2. Broad network access</a:t>
            </a:r>
          </a:p>
          <a:p>
            <a:pPr marL="0" indent="0">
              <a:buNone/>
            </a:pPr>
            <a:r>
              <a:rPr lang="en-IN" b="1" dirty="0"/>
              <a:t>	- Resources can be accessed globally through internet from anywhere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3. Scalability</a:t>
            </a:r>
          </a:p>
          <a:p>
            <a:pPr marL="0" indent="0">
              <a:buNone/>
            </a:pPr>
            <a:r>
              <a:rPr lang="en-IN" b="1" dirty="0"/>
              <a:t>	- Resources can be automatically increased &amp; decreased as well as required.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4. Resource pooling</a:t>
            </a:r>
          </a:p>
          <a:p>
            <a:pPr marL="0" indent="0">
              <a:buNone/>
            </a:pPr>
            <a:r>
              <a:rPr lang="en-IN" b="1" dirty="0"/>
              <a:t>	- Provide resource to multiple customers from through same physical resource by securely 	   separating the resources at logical level.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5. Measured services</a:t>
            </a:r>
          </a:p>
          <a:p>
            <a:pPr marL="0" indent="0">
              <a:buNone/>
            </a:pPr>
            <a:r>
              <a:rPr lang="en-IN" b="1" dirty="0"/>
              <a:t>	- Resources are billed as per usage i.e. pay as you go</a:t>
            </a:r>
          </a:p>
        </p:txBody>
      </p:sp>
    </p:spTree>
    <p:extLst>
      <p:ext uri="{BB962C8B-B14F-4D97-AF65-F5344CB8AC3E}">
        <p14:creationId xmlns:p14="http://schemas.microsoft.com/office/powerpoint/2010/main" val="181253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50" y="120770"/>
            <a:ext cx="10515600" cy="819509"/>
          </a:xfrm>
        </p:spPr>
        <p:txBody>
          <a:bodyPr>
            <a:normAutofit fontScale="90000"/>
          </a:bodyPr>
          <a:lstStyle/>
          <a:p>
            <a:r>
              <a:rPr lang="en-IN" sz="2000" b="1" u="sng" dirty="0">
                <a:solidFill>
                  <a:srgbClr val="FFC000"/>
                </a:solidFill>
                <a:latin typeface="Arial Black" panose="020B0A04020102020204" pitchFamily="34" charset="0"/>
              </a:rPr>
              <a:t>Cloud Service Models</a:t>
            </a:r>
            <a:br>
              <a:rPr lang="en-IN" sz="2000" dirty="0"/>
            </a:br>
            <a:r>
              <a:rPr lang="en-IN" sz="2000" b="1" dirty="0"/>
              <a:t>There are three types of service models in cloud − IaaS, PaaS, and SaaS</a:t>
            </a:r>
            <a:r>
              <a:rPr lang="en-IN" sz="2000" dirty="0"/>
              <a:t> :-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550" y="940280"/>
            <a:ext cx="10515600" cy="5771071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2000" b="1" u="sng" dirty="0">
                <a:solidFill>
                  <a:srgbClr val="0070C0"/>
                </a:solidFill>
              </a:rPr>
              <a:t>1.IaaS(Infrastructure as a Service)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/>
              <a:t>&gt;</a:t>
            </a:r>
            <a:r>
              <a:rPr lang="en-IN" sz="2000" dirty="0"/>
              <a:t>It provides users to process, storage, and network connectivity on demand.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000" b="1" dirty="0"/>
              <a:t>&gt;</a:t>
            </a:r>
            <a:r>
              <a:rPr lang="en-GB" sz="2000" dirty="0"/>
              <a:t>This service provides the infrastructure like Servers, Operating Systems, Virtual Machines, Networks, and Storage on rent basis.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b="1" dirty="0"/>
              <a:t>&gt;</a:t>
            </a:r>
            <a:r>
              <a:rPr lang="en-GB" sz="1800" dirty="0"/>
              <a:t>When you have the software and the platform ready but you want the hardware to run then you use </a:t>
            </a:r>
            <a:r>
              <a:rPr lang="en-GB" sz="1800" b="1" dirty="0"/>
              <a:t>IaaS</a:t>
            </a:r>
            <a:r>
              <a:rPr lang="en-GB" sz="18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IN" sz="2000" b="1" u="sng" dirty="0">
                <a:solidFill>
                  <a:srgbClr val="0070C0"/>
                </a:solidFill>
              </a:rPr>
              <a:t>2.</a:t>
            </a:r>
            <a:r>
              <a:rPr lang="en-IN" sz="2000" u="sng" dirty="0">
                <a:solidFill>
                  <a:srgbClr val="0070C0"/>
                </a:solidFill>
              </a:rPr>
              <a:t> </a:t>
            </a:r>
            <a:r>
              <a:rPr lang="en-IN" sz="2000" b="1" u="sng" dirty="0">
                <a:solidFill>
                  <a:srgbClr val="0070C0"/>
                </a:solidFill>
              </a:rPr>
              <a:t>PaaS</a:t>
            </a:r>
            <a:r>
              <a:rPr lang="en-IN" sz="2000" u="sng" dirty="0">
                <a:solidFill>
                  <a:srgbClr val="0070C0"/>
                </a:solidFill>
              </a:rPr>
              <a:t>(</a:t>
            </a:r>
            <a:r>
              <a:rPr lang="en-IN" sz="2000" b="1" u="sng" dirty="0">
                <a:solidFill>
                  <a:srgbClr val="0070C0"/>
                </a:solidFill>
              </a:rPr>
              <a:t>Platform as a Service</a:t>
            </a:r>
            <a:r>
              <a:rPr lang="en-IN" sz="2000" u="sng" dirty="0">
                <a:solidFill>
                  <a:srgbClr val="0070C0"/>
                </a:solidFill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000" b="1" dirty="0"/>
              <a:t>&gt;</a:t>
            </a:r>
            <a:r>
              <a:rPr lang="en-GB" sz="2000" dirty="0"/>
              <a:t>A PaaS vendor provides hardware and software tools over the internet, and people use these tools to develop applications.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000" b="1" dirty="0"/>
              <a:t>&gt;</a:t>
            </a:r>
            <a:r>
              <a:rPr lang="en-GB" sz="2000" dirty="0"/>
              <a:t>Primarily used by developers who are building software or applications.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000" b="1" dirty="0"/>
              <a:t>&gt;</a:t>
            </a:r>
            <a:r>
              <a:rPr lang="en-GB" sz="2000" dirty="0"/>
              <a:t>It’s kind of like the difference between hiring a venue to put on a show vs. building a venue to put on a show.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b="1" dirty="0"/>
              <a:t>&gt;</a:t>
            </a:r>
            <a:r>
              <a:rPr lang="en-GB" sz="1800" dirty="0"/>
              <a:t>When you have a software developed by you, but you want to deploy and run on a publicly available platform then you use </a:t>
            </a:r>
            <a:r>
              <a:rPr lang="en-GB" sz="1800" b="1" dirty="0"/>
              <a:t>PaaS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IN" sz="2000" b="1" u="sng" dirty="0">
                <a:solidFill>
                  <a:srgbClr val="0070C0"/>
                </a:solidFill>
              </a:rPr>
              <a:t>3.SaaS(Software as a Service)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b="1" dirty="0"/>
              <a:t>&gt;</a:t>
            </a:r>
            <a:r>
              <a:rPr lang="en-IN" sz="2000" dirty="0"/>
              <a:t>The third-party providers provide end-user applications to their customers with some administrative capability at the application level, such as the ability to create and manage their users.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000" b="1" dirty="0"/>
              <a:t>&gt;</a:t>
            </a:r>
            <a:r>
              <a:rPr lang="en-GB" sz="2000" dirty="0"/>
              <a:t>It make software available to users over the internet, usually for a monthly subscription fee.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b="1" dirty="0"/>
              <a:t>&gt;</a:t>
            </a:r>
            <a:r>
              <a:rPr lang="en-GB" sz="1800" dirty="0"/>
              <a:t>When you are a simple client who wants to make use of a software but you have nothing in hand then you use </a:t>
            </a:r>
            <a:r>
              <a:rPr lang="en-GB" sz="1800" b="1" dirty="0"/>
              <a:t>SaaS</a:t>
            </a:r>
            <a:r>
              <a:rPr lang="en-GB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8023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932" y="451389"/>
            <a:ext cx="10515600" cy="471637"/>
          </a:xfrm>
        </p:spPr>
        <p:txBody>
          <a:bodyPr>
            <a:normAutofit fontScale="90000"/>
          </a:bodyPr>
          <a:lstStyle/>
          <a:p>
            <a:endParaRPr lang="en-IN" sz="3200" b="1" u="sng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102" y="181155"/>
            <a:ext cx="11119449" cy="650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69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9624"/>
          </a:xfrm>
        </p:spPr>
        <p:txBody>
          <a:bodyPr>
            <a:normAutofit fontScale="90000"/>
          </a:bodyPr>
          <a:lstStyle/>
          <a:p>
            <a:r>
              <a:rPr lang="en-IN" sz="3600" b="1" u="sng" dirty="0">
                <a:solidFill>
                  <a:srgbClr val="FF0000"/>
                </a:solidFill>
              </a:rPr>
              <a:t>Types of Clouds:-</a:t>
            </a:r>
            <a:br>
              <a:rPr lang="en-IN" sz="3600" b="1" u="sng" dirty="0">
                <a:solidFill>
                  <a:srgbClr val="FF0000"/>
                </a:solidFill>
              </a:rPr>
            </a:br>
            <a:r>
              <a:rPr lang="en-IN" sz="2400" b="1" dirty="0"/>
              <a:t>There are three types of cloud − Public, Private, and Hybrid cloud.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298" y="1000665"/>
            <a:ext cx="10515600" cy="57451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200" b="1" u="sng" dirty="0"/>
              <a:t>Public Cloud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200" b="1" dirty="0"/>
              <a:t>&gt;</a:t>
            </a:r>
            <a:r>
              <a:rPr lang="en-IN" sz="2200" dirty="0"/>
              <a:t>In public cloud, the third-party service providers make resources and services available to their customers via Internet.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200" b="1" dirty="0"/>
              <a:t>&gt;</a:t>
            </a:r>
            <a:r>
              <a:rPr lang="en-GB" sz="2200" dirty="0"/>
              <a:t> A publicly accessible cloud infrastructure that allows you to store cloud resources.</a:t>
            </a:r>
            <a:endParaRPr lang="en-IN" sz="2200" dirty="0"/>
          </a:p>
          <a:p>
            <a:pPr marL="0" indent="0">
              <a:spcBef>
                <a:spcPts val="0"/>
              </a:spcBef>
              <a:buNone/>
            </a:pPr>
            <a:r>
              <a:rPr lang="en-IN" sz="2200" b="1" dirty="0"/>
              <a:t>&gt;</a:t>
            </a:r>
            <a:r>
              <a:rPr lang="en-IN" sz="2200" dirty="0"/>
              <a:t>Customer’s data and related security is with the service providers’ owned infrastructure.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200" b="1" dirty="0"/>
              <a:t>&gt;</a:t>
            </a:r>
            <a:r>
              <a:rPr lang="en-GB" sz="2200" dirty="0"/>
              <a:t>It is like renting an infrastructure for a specific period of time.</a:t>
            </a:r>
          </a:p>
          <a:p>
            <a:pPr marL="0" indent="0">
              <a:spcBef>
                <a:spcPts val="0"/>
              </a:spcBef>
              <a:buNone/>
            </a:pPr>
            <a:endParaRPr lang="en-GB" sz="2200" dirty="0"/>
          </a:p>
          <a:p>
            <a:pPr marL="0" indent="0">
              <a:spcBef>
                <a:spcPts val="0"/>
              </a:spcBef>
              <a:buNone/>
            </a:pPr>
            <a:r>
              <a:rPr lang="en-IN" sz="2200" b="1" u="sng" dirty="0"/>
              <a:t>Private Cloud or Enterprise Cloud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200" b="1" dirty="0"/>
              <a:t>&gt;</a:t>
            </a:r>
            <a:r>
              <a:rPr lang="en-IN" sz="2200" dirty="0"/>
              <a:t>It is almost similar to the public cloud, but the data and services are managed by the organization or by the third party only for the customer’s organization.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200" b="1" dirty="0"/>
              <a:t>&gt;</a:t>
            </a:r>
            <a:r>
              <a:rPr lang="en-IN" sz="2200" dirty="0"/>
              <a:t>Cannot be </a:t>
            </a:r>
            <a:r>
              <a:rPr lang="en-GB" sz="2200" dirty="0"/>
              <a:t>accessed publicly.</a:t>
            </a:r>
            <a:endParaRPr lang="en-IN" sz="2200" dirty="0"/>
          </a:p>
          <a:p>
            <a:pPr marL="0" indent="0">
              <a:spcBef>
                <a:spcPts val="0"/>
              </a:spcBef>
              <a:buNone/>
            </a:pPr>
            <a:r>
              <a:rPr lang="en-IN" sz="2200" b="1" dirty="0"/>
              <a:t>&gt;</a:t>
            </a:r>
            <a:r>
              <a:rPr lang="en-GB" sz="2200" dirty="0"/>
              <a:t>In other words, it refers to an organization’s own private data canter </a:t>
            </a:r>
          </a:p>
          <a:p>
            <a:pPr marL="0" indent="0">
              <a:spcBef>
                <a:spcPts val="0"/>
              </a:spcBef>
              <a:buNone/>
            </a:pPr>
            <a:endParaRPr lang="en-GB" sz="2200" dirty="0"/>
          </a:p>
          <a:p>
            <a:pPr marL="0" indent="0">
              <a:spcBef>
                <a:spcPts val="0"/>
              </a:spcBef>
              <a:buNone/>
            </a:pPr>
            <a:r>
              <a:rPr lang="en-IN" sz="2200" b="1" u="sng" dirty="0"/>
              <a:t>Hybrid Cloud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200" b="1" dirty="0"/>
              <a:t>&gt;</a:t>
            </a:r>
            <a:r>
              <a:rPr lang="en-IN" sz="2200" dirty="0"/>
              <a:t>A hybrid cloud is the combination of both private and public cloud.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200" b="1" dirty="0"/>
              <a:t>&gt;</a:t>
            </a:r>
            <a:r>
              <a:rPr lang="en-IN" sz="2200" dirty="0"/>
              <a:t>The decision to run on private or public cloud usually depends on various parameters like sensitivity of data and applications, industry certifications and required standards, regulations, etc.</a:t>
            </a:r>
            <a:endParaRPr lang="en-IN" sz="2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773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947" y="759125"/>
            <a:ext cx="10515600" cy="534837"/>
          </a:xfrm>
        </p:spPr>
        <p:txBody>
          <a:bodyPr>
            <a:normAutofit/>
          </a:bodyPr>
          <a:lstStyle/>
          <a:p>
            <a:r>
              <a:rPr lang="en-IN" sz="2400" dirty="0"/>
              <a:t>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649" y="1608827"/>
            <a:ext cx="10515600" cy="50680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3D423-027E-7780-21CC-B4672333A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46" y="759125"/>
            <a:ext cx="10515599" cy="5917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70BE58-8DEB-DCE8-F126-AA2A94E4D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192" y="181155"/>
            <a:ext cx="3140766" cy="57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640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5A87-7834-ECCE-256D-8E34998F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2D923-F5AA-990B-E62A-2F6C2D830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9" y="251791"/>
            <a:ext cx="11714922" cy="6347792"/>
          </a:xfrm>
          <a:ln w="28575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332BB4-52AB-85AA-3093-E32092E5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96" y="510898"/>
            <a:ext cx="10972800" cy="587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21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D452-48F3-2E5B-FF7F-FCE4CA916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AF4F-2583-2366-5414-8F55BB85C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5" y="145774"/>
            <a:ext cx="11648661" cy="6506817"/>
          </a:xfrm>
          <a:ln w="28575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58B38-FECB-B753-E742-1ED247C4C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1" y="452718"/>
            <a:ext cx="11343861" cy="604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1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D452-48F3-2E5B-FF7F-FCE4CA916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AF4F-2583-2366-5414-8F55BB85C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2" y="249382"/>
            <a:ext cx="11679382" cy="6345381"/>
          </a:xfrm>
          <a:ln w="28575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1ADCD-9568-23BA-5079-29B58D9E0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17" y="636103"/>
            <a:ext cx="10787270" cy="571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08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D452-48F3-2E5B-FF7F-FCE4CA916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AF4F-2583-2366-5414-8F55BB85C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5" y="265043"/>
            <a:ext cx="11661913" cy="6347792"/>
          </a:xfrm>
          <a:ln w="28575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6ABC0-BA9A-4A46-D2C2-840BE5262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0087"/>
            <a:ext cx="10613333" cy="562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87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9264D-EE0E-0534-D4E3-4FA9F86E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F1A7C-DF53-EF64-3843-E9E9AB7FE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43" y="225287"/>
            <a:ext cx="11675166" cy="6374296"/>
          </a:xfrm>
          <a:ln w="28575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00"/>
                </a:solidFill>
                <a:latin typeface="Bahnschrift Condensed" panose="020B0502040204020203" pitchFamily="34" charset="0"/>
              </a:rPr>
              <a:t>AWS Certification  - Started in 2013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4C5DFC-AEFE-0D22-0334-BBB620F50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77" y="652075"/>
            <a:ext cx="10807146" cy="584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63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7151" y="598231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rgbClr val="FFC000"/>
                </a:solidFill>
                <a:latin typeface="Arial Black" panose="020B0A04020102020204" pitchFamily="34" charset="0"/>
              </a:rPr>
              <a:t>amazon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26876"/>
            <a:ext cx="10590212" cy="4994694"/>
          </a:xfrm>
        </p:spPr>
      </p:pic>
    </p:spTree>
    <p:extLst>
      <p:ext uri="{BB962C8B-B14F-4D97-AF65-F5344CB8AC3E}">
        <p14:creationId xmlns:p14="http://schemas.microsoft.com/office/powerpoint/2010/main" val="300455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D452-48F3-2E5B-FF7F-FCE4CA916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AF4F-2583-2366-5414-8F55BB85C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65042"/>
            <a:ext cx="11555896" cy="6321287"/>
          </a:xfrm>
          <a:ln w="28575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Bahnschrift Condensed" panose="020B0502040204020203" pitchFamily="34" charset="0"/>
              </a:rPr>
              <a:t>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447B3-4C0F-9171-0183-2D21F4473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2719"/>
            <a:ext cx="10515601" cy="59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12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D452-48F3-2E5B-FF7F-FCE4CA916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AF4F-2583-2366-5414-8F55BB85C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04" y="365125"/>
            <a:ext cx="11569148" cy="6127750"/>
          </a:xfrm>
          <a:ln w="28575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7AE4FB-31CF-CCED-EB05-05720F940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02366"/>
            <a:ext cx="10515599" cy="547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2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4872-231B-0F68-225A-320AB9BE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D0DE5-0281-9A03-0FE4-C84562D54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A77A3-1E99-F061-587F-B4CE3AFF9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65125"/>
            <a:ext cx="10953750" cy="6127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2F78A6-E0DA-FE87-566B-14C24D6C9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10" y="3893820"/>
            <a:ext cx="243459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07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CDF5-2699-7E67-F3DB-162329B49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EA89E-9445-7157-F9FD-606E28700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1FDFE-E9DE-9563-9F09-E9424CB4E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365126"/>
            <a:ext cx="10641329" cy="6241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703128-1954-45EC-5C58-89F29F111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602" y="3214687"/>
            <a:ext cx="2307908" cy="5343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5F4207-4CBE-315C-5625-A18C35FE0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672" y="3214687"/>
            <a:ext cx="2227898" cy="61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07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2E24-7D6D-D4C8-EF09-FC7A61BC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56318-17E0-716E-7BE7-D064A30A4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DA60AB-B6B2-C24C-5BA1-9B5703A1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365125"/>
            <a:ext cx="10690859" cy="6127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01F430-CDE1-886D-E1C7-1EED87741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370" y="1314450"/>
            <a:ext cx="4537710" cy="4263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287741-69E1-0173-4294-E595ACC05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262" y="3406138"/>
            <a:ext cx="2970848" cy="69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79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0" y="185299"/>
            <a:ext cx="9404723" cy="746354"/>
          </a:xfrm>
        </p:spPr>
        <p:txBody>
          <a:bodyPr/>
          <a:lstStyle/>
          <a:p>
            <a:pPr algn="ctr"/>
            <a:r>
              <a:rPr lang="en-IN" sz="3200" b="1" u="sng" dirty="0">
                <a:solidFill>
                  <a:srgbClr val="FFFF00"/>
                </a:solidFill>
              </a:rPr>
              <a:t>AWS Global Architecture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294" y="1030375"/>
            <a:ext cx="10861527" cy="562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38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04D19-C556-2616-FF61-2BC9F95E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113" y="163314"/>
            <a:ext cx="9952383" cy="435178"/>
          </a:xfrm>
        </p:spPr>
        <p:txBody>
          <a:bodyPr/>
          <a:lstStyle/>
          <a:p>
            <a:r>
              <a:rPr lang="en-US" sz="2000" b="1" dirty="0"/>
              <a:t>Total Regions = 26 (Announced Plan = 8), Total AZs = 84 (Announced Plan = 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8309-6408-A900-A968-B0797443D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F2745-5257-9596-4DB8-95C449580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81" y="839369"/>
            <a:ext cx="11025808" cy="5565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839A70-2D62-D120-8CDB-BF883DD46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81" y="6405282"/>
            <a:ext cx="2342389" cy="386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4F50A8-2135-8E0D-ED4D-E12C48B91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469" y="6406037"/>
            <a:ext cx="8683419" cy="3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99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10766636" cy="2186965"/>
          </a:xfrm>
        </p:spPr>
        <p:txBody>
          <a:bodyPr/>
          <a:lstStyle/>
          <a:p>
            <a:r>
              <a:rPr lang="en-IN" sz="2800" b="1" u="sng" dirty="0"/>
              <a:t>Region :-</a:t>
            </a:r>
            <a:r>
              <a:rPr lang="en-IN" sz="2800" b="1" dirty="0"/>
              <a:t> </a:t>
            </a:r>
            <a:br>
              <a:rPr lang="en-IN" sz="2800" dirty="0"/>
            </a:br>
            <a:r>
              <a:rPr lang="en-IN" sz="2800" dirty="0"/>
              <a:t>- </a:t>
            </a:r>
            <a:r>
              <a:rPr lang="en-GB" sz="2000" dirty="0"/>
              <a:t>An AWS Region is a geographical location with a collection of availability zones 	mapped to physical data centers in that region.</a:t>
            </a:r>
            <a:br>
              <a:rPr lang="en-GB" sz="2000" dirty="0"/>
            </a:br>
            <a:r>
              <a:rPr lang="en-GB" sz="2000" dirty="0"/>
              <a:t>- Every region is physically isolated from and independent of every other region in 	terms of location, power, water supply, etc.</a:t>
            </a:r>
            <a:br>
              <a:rPr lang="en-GB" sz="2000" dirty="0"/>
            </a:br>
            <a:r>
              <a:rPr lang="en-GB" sz="2000" dirty="0"/>
              <a:t>- The largest AWS region, us-east-1, has five zones.</a:t>
            </a:r>
            <a:endParaRPr lang="en-IN" sz="20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3260785"/>
            <a:ext cx="10766635" cy="33520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b="1" u="sng" dirty="0"/>
              <a:t>Availability Zone :-</a:t>
            </a:r>
          </a:p>
          <a:p>
            <a:pPr>
              <a:buFontTx/>
              <a:buChar char="-"/>
            </a:pPr>
            <a:r>
              <a:rPr lang="en-GB" sz="2400" dirty="0"/>
              <a:t>An availability zone is a logical data center in a region available for use by any AWS customer. </a:t>
            </a:r>
          </a:p>
          <a:p>
            <a:pPr>
              <a:buFontTx/>
              <a:buChar char="-"/>
            </a:pPr>
            <a:r>
              <a:rPr lang="en-GB" sz="2400" dirty="0"/>
              <a:t>Each zone in a region has redundant and separate power, networking and connectivity to reduce the likelihood of two zones failing simultaneously.</a:t>
            </a:r>
          </a:p>
          <a:p>
            <a:pPr>
              <a:buFontTx/>
              <a:buChar char="-"/>
            </a:pPr>
            <a:endParaRPr lang="en-GB" sz="2400" dirty="0"/>
          </a:p>
          <a:p>
            <a:pPr marL="0" indent="0">
              <a:buNone/>
            </a:pPr>
            <a:r>
              <a:rPr lang="en-GB" sz="2400" b="1" i="1" dirty="0">
                <a:solidFill>
                  <a:srgbClr val="FFFF00"/>
                </a:solidFill>
              </a:rPr>
              <a:t>NOTE :</a:t>
            </a:r>
          </a:p>
          <a:p>
            <a:pPr marL="0" indent="0">
              <a:buNone/>
            </a:pPr>
            <a:r>
              <a:rPr lang="en-GB" sz="2400" b="1" i="1" dirty="0">
                <a:solidFill>
                  <a:srgbClr val="FFFF00"/>
                </a:solidFill>
              </a:rPr>
              <a:t>1 Region = Multiple AZs (Minimum 3)</a:t>
            </a:r>
          </a:p>
          <a:p>
            <a:pPr marL="0" indent="0">
              <a:buNone/>
            </a:pPr>
            <a:r>
              <a:rPr lang="en-GB" sz="2400" b="1" i="1" dirty="0">
                <a:solidFill>
                  <a:srgbClr val="FFFF00"/>
                </a:solidFill>
              </a:rPr>
              <a:t>1 AZ = Cluster of DC</a:t>
            </a:r>
          </a:p>
        </p:txBody>
      </p:sp>
    </p:spTree>
    <p:extLst>
      <p:ext uri="{BB962C8B-B14F-4D97-AF65-F5344CB8AC3E}">
        <p14:creationId xmlns:p14="http://schemas.microsoft.com/office/powerpoint/2010/main" val="3877892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930" y="754641"/>
            <a:ext cx="10740757" cy="2014437"/>
          </a:xfrm>
        </p:spPr>
        <p:txBody>
          <a:bodyPr/>
          <a:lstStyle/>
          <a:p>
            <a:r>
              <a:rPr lang="en-IN" sz="2400" b="1" u="sng" dirty="0"/>
              <a:t>AWS Management Console:-</a:t>
            </a:r>
            <a:br>
              <a:rPr lang="en-IN" sz="2400" b="1" u="sng" dirty="0"/>
            </a:br>
            <a:br>
              <a:rPr lang="en-IN" sz="2000" dirty="0"/>
            </a:br>
            <a:r>
              <a:rPr lang="en-IN" sz="2000" dirty="0"/>
              <a:t>- </a:t>
            </a:r>
            <a:r>
              <a:rPr lang="en-GB" sz="2000" dirty="0"/>
              <a:t>The </a:t>
            </a:r>
            <a:r>
              <a:rPr lang="en-GB" sz="2000" b="1" dirty="0"/>
              <a:t>AWS Management Console</a:t>
            </a:r>
            <a:r>
              <a:rPr lang="en-GB" sz="2000" dirty="0"/>
              <a:t> is a browser-based GUI for Amazon Web Services  	(</a:t>
            </a:r>
            <a:r>
              <a:rPr lang="en-GB" sz="2000" b="1" dirty="0"/>
              <a:t>AWS</a:t>
            </a:r>
            <a:r>
              <a:rPr lang="en-GB" sz="2000" dirty="0"/>
              <a:t>). </a:t>
            </a:r>
            <a:br>
              <a:rPr lang="en-GB" sz="2000" dirty="0"/>
            </a:br>
            <a:r>
              <a:rPr lang="en-GB" sz="2000" dirty="0"/>
              <a:t>- Through the </a:t>
            </a:r>
            <a:r>
              <a:rPr lang="en-GB" sz="2000" b="1" dirty="0"/>
              <a:t>console</a:t>
            </a:r>
            <a:r>
              <a:rPr lang="en-GB" sz="2000" dirty="0"/>
              <a:t>, a customer can </a:t>
            </a:r>
            <a:r>
              <a:rPr lang="en-GB" sz="2000" b="1" dirty="0"/>
              <a:t>manage</a:t>
            </a:r>
            <a:r>
              <a:rPr lang="en-GB" sz="2000" dirty="0"/>
              <a:t> their cloud computing, cloud storage 	and other resources running on the Amazon Web Services infrastructure.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003" y="3735069"/>
            <a:ext cx="10628612" cy="1604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/>
              <a:t>Setting Up AWS Account :-</a:t>
            </a:r>
          </a:p>
          <a:p>
            <a:pPr marL="0" indent="0">
              <a:buNone/>
            </a:pPr>
            <a:endParaRPr lang="en-IN" sz="2400" b="1" u="sng" dirty="0"/>
          </a:p>
          <a:p>
            <a:pPr marL="0" indent="0">
              <a:buNone/>
            </a:pPr>
            <a:r>
              <a:rPr lang="en-IN" sz="2400" dirty="0"/>
              <a:t>- Visit </a:t>
            </a:r>
            <a:r>
              <a:rPr lang="en-IN" sz="2400" u="sng" dirty="0"/>
              <a:t>aws.amazon.com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46345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77638"/>
            <a:ext cx="12115800" cy="66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898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1577</TotalTime>
  <Words>950</Words>
  <Application>Microsoft Office PowerPoint</Application>
  <PresentationFormat>Widescreen</PresentationFormat>
  <Paragraphs>93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Bahnschrift</vt:lpstr>
      <vt:lpstr>Bahnschrift Condensed</vt:lpstr>
      <vt:lpstr>Century Gothic</vt:lpstr>
      <vt:lpstr>Times New Roman</vt:lpstr>
      <vt:lpstr>Wingdings 3</vt:lpstr>
      <vt:lpstr>Ion</vt:lpstr>
      <vt:lpstr> CloudComputing  </vt:lpstr>
      <vt:lpstr>  </vt:lpstr>
      <vt:lpstr>Cloud Service Models There are three types of service models in cloud − IaaS, PaaS, and SaaS :- </vt:lpstr>
      <vt:lpstr>PowerPoint Presentation</vt:lpstr>
      <vt:lpstr>Types of Clouds:- There are three types of cloud − Public, Private, and Hybrid cloud. </vt:lpstr>
      <vt:lpstr>   </vt:lpstr>
      <vt:lpstr>  </vt:lpstr>
      <vt:lpstr>  </vt:lpstr>
      <vt:lpstr>  </vt:lpstr>
      <vt:lpstr>  </vt:lpstr>
      <vt:lpstr>  </vt:lpstr>
      <vt:lpstr>amazon</vt:lpstr>
      <vt:lpstr>  </vt:lpstr>
      <vt:lpstr>  </vt:lpstr>
      <vt:lpstr>   </vt:lpstr>
      <vt:lpstr>  </vt:lpstr>
      <vt:lpstr>      </vt:lpstr>
      <vt:lpstr>AWS Global Architecture</vt:lpstr>
      <vt:lpstr>Total Regions = 26 (Announced Plan = 8), Total AZs = 84 (Announced Plan = 24)</vt:lpstr>
      <vt:lpstr>Region :-  - An AWS Region is a geographical location with a collection of availability zones  mapped to physical data centers in that region. - Every region is physically isolated from and independent of every other region in  terms of location, power, water supply, etc. - The largest AWS region, us-east-1, has five zones.</vt:lpstr>
      <vt:lpstr>AWS Management Console:-  - The AWS Management Console is a browser-based GUI for Amazon Web Services   (AWS).  - Through the console, a customer can manage their cloud computing, cloud storage  and other resources running on the Amazon Web Services infrastructure.</vt:lpstr>
      <vt:lpstr>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CloudComputing  In 2006, Amazon Web Services (AWS) started to offer IT services to the market in the form of web services, which is nowadays known as cloud computing.</dc:title>
  <dc:creator>Pawan Kumar</dc:creator>
  <cp:lastModifiedBy>TB</cp:lastModifiedBy>
  <cp:revision>45</cp:revision>
  <dcterms:created xsi:type="dcterms:W3CDTF">2019-09-02T15:41:44Z</dcterms:created>
  <dcterms:modified xsi:type="dcterms:W3CDTF">2022-09-16T12:19:40Z</dcterms:modified>
</cp:coreProperties>
</file>